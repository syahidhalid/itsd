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1B_FA25764D.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10F_2C8300A6.xml" ContentType="application/vnd.ms-powerpoint.comments+xml"/>
  <Override PartName="/ppt/comments/modernComment_110_37CC3C0A.xml" ContentType="application/vnd.ms-powerpoint.comments+xml"/>
  <Override PartName="/ppt/comments/modernComment_111_21A8B7AC.xml" ContentType="application/vnd.ms-powerpoint.comments+xml"/>
  <Override PartName="/ppt/comments/modernComment_112_6F58E2FA.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5" r:id="rId2"/>
    <p:sldId id="267" r:id="rId3"/>
    <p:sldId id="282" r:id="rId4"/>
    <p:sldId id="283" r:id="rId5"/>
    <p:sldId id="270" r:id="rId6"/>
    <p:sldId id="271" r:id="rId7"/>
    <p:sldId id="272" r:id="rId8"/>
    <p:sldId id="273" r:id="rId9"/>
    <p:sldId id="274" r:id="rId10"/>
    <p:sldId id="275" r:id="rId11"/>
    <p:sldId id="276" r:id="rId12"/>
    <p:sldId id="277" r:id="rId13"/>
    <p:sldId id="278" r:id="rId14"/>
    <p:sldId id="279" r:id="rId15"/>
    <p:sldId id="28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180CC9-9731-8AB0-FBF3-8D7B086DF3D6}" name="Zunawanis Mustafa" initials="ZM" userId="S::zunawanis@smebank.com.my::c1e2fb81-58a3-4695-bef7-275b838fe0a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modernComment_10F_2C8300A6.xml><?xml version="1.0" encoding="utf-8"?>
<p188:cmLst xmlns:a="http://schemas.openxmlformats.org/drawingml/2006/main" xmlns:r="http://schemas.openxmlformats.org/officeDocument/2006/relationships" xmlns:p188="http://schemas.microsoft.com/office/powerpoint/2018/8/main">
  <p188:cm id="{2C166374-A78A-45A6-A41D-E2776DFAD9FF}" authorId="{F1180CC9-9731-8AB0-FBF3-8D7B086DF3D6}" created="2026-08-19T08:30:22.171">
    <ac:txMkLst xmlns:ac="http://schemas.microsoft.com/office/drawing/2013/main/command">
      <pc:docMk xmlns:pc="http://schemas.microsoft.com/office/powerpoint/2013/main/command"/>
      <pc:sldMk xmlns:pc="http://schemas.microsoft.com/office/powerpoint/2013/main/command" cId="746782886" sldId="271"/>
      <ac:graphicFrameMk id="3" creationId="{0956995D-A4EA-5C05-F232-EE0401DDA126}"/>
      <ac:tblMk/>
      <ac:tcMk rowId="3298192927" colId="1359647876"/>
      <ac:txMk cp="232" len="18">
        <ac:context len="251" hash="849625365"/>
      </ac:txMk>
    </ac:txMkLst>
    <p188:pos x="2209986" y="5745360"/>
    <p188:replyLst>
      <p188:reply id="{206F3130-77F4-4F9E-9178-ED1DE9AE51AD}" authorId="{F1180CC9-9731-8AB0-FBF3-8D7B086DF3D6}" created="2026-08-27T08:11:42.149">
        <p188:txBody>
          <a:bodyPr/>
          <a:lstStyle/>
          <a:p>
            <a:r>
              <a:rPr lang="en-MY"/>
              <a:t>What if have multiple owners? How to calculate?</a:t>
            </a:r>
          </a:p>
        </p188:txBody>
      </p188:reply>
    </p188:replyLst>
    <p188:txBody>
      <a:bodyPr/>
      <a:lstStyle/>
      <a:p>
        <a:r>
          <a:rPr lang="en-MY"/>
          <a:t>Based on DOB? </a:t>
        </a:r>
      </a:p>
    </p188:txBody>
  </p188:cm>
  <p188:cm id="{763E3A18-2562-4F0A-9C30-78504241FEC4}" authorId="{F1180CC9-9731-8AB0-FBF3-8D7B086DF3D6}" created="2026-08-20T03:16:28.881">
    <ac:txMkLst xmlns:ac="http://schemas.microsoft.com/office/drawing/2013/main/command">
      <pc:docMk xmlns:pc="http://schemas.microsoft.com/office/powerpoint/2013/main/command"/>
      <pc:sldMk xmlns:pc="http://schemas.microsoft.com/office/powerpoint/2013/main/command" cId="746782886" sldId="271"/>
      <ac:graphicFrameMk id="3" creationId="{0956995D-A4EA-5C05-F232-EE0401DDA126}"/>
      <ac:tblMk/>
      <ac:tcMk rowId="3298192927" colId="1359647876"/>
      <ac:txMk cp="175" len="19">
        <ac:context len="251" hash="849625365"/>
      </ac:txMk>
    </ac:txMkLst>
    <p188:pos x="2245673" y="4687313"/>
    <p188:txBody>
      <a:bodyPr/>
      <a:lstStyle/>
      <a:p>
        <a:r>
          <a:rPr lang="en-MY"/>
          <a:t>Organization chart?</a:t>
        </a:r>
      </a:p>
    </p188:txBody>
  </p188:cm>
</p188:cmLst>
</file>

<file path=ppt/comments/modernComment_11B_FA25764D.xml><?xml version="1.0" encoding="utf-8"?>
<p188:cmLst xmlns:a="http://schemas.openxmlformats.org/drawingml/2006/main" xmlns:r="http://schemas.openxmlformats.org/officeDocument/2006/relationships" xmlns:p188="http://schemas.microsoft.com/office/powerpoint/2018/8/main">
  <p188:cm id="{8ECD7174-09F0-42C4-A480-37F71889E17A}" authorId="{F1180CC9-9731-8AB0-FBF3-8D7B086DF3D6}" created="2026-08-19T07:46:15.227">
    <ac:txMkLst xmlns:ac="http://schemas.microsoft.com/office/drawing/2013/main/command">
      <pc:docMk xmlns:pc="http://schemas.microsoft.com/office/powerpoint/2013/main/command"/>
      <pc:sldMk xmlns:pc="http://schemas.microsoft.com/office/powerpoint/2013/main/command" cId="4196759117" sldId="283"/>
      <ac:graphicFrameMk id="5" creationId="{F34AB366-7E75-332F-A73D-138676DA4C87}"/>
      <ac:tblMk/>
      <ac:tcMk rowId="3991949623" colId="4195886926"/>
      <ac:txMk cp="0" len="18">
        <ac:context len="19" hash="3136023937"/>
      </ac:txMk>
    </ac:txMkLst>
    <p188:pos x="1505539" y="550525"/>
    <p188:replyLst>
      <p188:reply id="{49A1ABFB-57AF-4D07-A1C3-61059DC7DDA4}" authorId="{F1180CC9-9731-8AB0-FBF3-8D7B086DF3D6}" created="2026-09-02T07:04:13.711">
        <p188:txBody>
          <a:bodyPr/>
          <a:lstStyle/>
          <a:p>
            <a:r>
              <a:rPr lang="en-MY"/>
              <a:t>Refer to ELSA</a:t>
            </a:r>
          </a:p>
        </p188:txBody>
      </p188:reply>
    </p188:replyLst>
    <p188:txBody>
      <a:bodyPr/>
      <a:lstStyle/>
      <a:p>
        <a:r>
          <a:rPr lang="en-MY"/>
          <a:t>Measurement/Business rules?</a:t>
        </a:r>
      </a:p>
    </p188:txBody>
  </p188:cm>
  <p188:cm id="{412F7737-C486-4077-8885-2229B67D1BBE}" authorId="{F1180CC9-9731-8AB0-FBF3-8D7B086DF3D6}" created="2026-08-19T07:47:18.130">
    <ac:txMkLst xmlns:ac="http://schemas.microsoft.com/office/drawing/2013/main/command">
      <pc:docMk xmlns:pc="http://schemas.microsoft.com/office/powerpoint/2013/main/command"/>
      <pc:sldMk xmlns:pc="http://schemas.microsoft.com/office/powerpoint/2013/main/command" cId="4196759117" sldId="283"/>
      <ac:graphicFrameMk id="5" creationId="{F34AB366-7E75-332F-A73D-138676DA4C87}"/>
      <ac:tblMk/>
      <ac:tcMk rowId="4235187006" colId="4195886926"/>
      <ac:txMk cp="0" len="16">
        <ac:context len="17" hash="3547325162"/>
      </ac:txMk>
    </ac:txMkLst>
    <p188:pos x="1260442" y="1134987"/>
    <p188:txBody>
      <a:bodyPr/>
      <a:lstStyle/>
      <a:p>
        <a:r>
          <a:rPr lang="en-MY"/>
          <a:t>Data source?</a:t>
        </a:r>
      </a:p>
    </p188:txBody>
  </p188:cm>
  <p188:cm id="{9E9C0E52-AD32-4C06-BDE9-5A8008570F9D}" authorId="{F1180CC9-9731-8AB0-FBF3-8D7B086DF3D6}" created="2026-08-19T07:47:30.213">
    <ac:txMkLst xmlns:ac="http://schemas.microsoft.com/office/drawing/2013/main/command">
      <pc:docMk xmlns:pc="http://schemas.microsoft.com/office/powerpoint/2013/main/command"/>
      <pc:sldMk xmlns:pc="http://schemas.microsoft.com/office/powerpoint/2013/main/command" cId="4196759117" sldId="283"/>
      <ac:graphicFrameMk id="5" creationId="{F34AB366-7E75-332F-A73D-138676DA4C87}"/>
      <ac:tblMk/>
      <ac:tcMk rowId="1156005924" colId="4195886926"/>
      <ac:txMk cp="0" len="13">
        <ac:context len="14" hash="3343855018"/>
      </ac:txMk>
    </ac:txMkLst>
    <p188:pos x="1345284" y="1417791"/>
    <p188:txBody>
      <a:bodyPr/>
      <a:lstStyle/>
      <a:p>
        <a:r>
          <a:rPr lang="en-MY"/>
          <a:t>Data source?</a:t>
        </a:r>
      </a:p>
    </p188:txBody>
  </p188:cm>
  <p188:cm id="{2A76720A-F939-4868-9025-5A4F2EC368A1}" authorId="{F1180CC9-9731-8AB0-FBF3-8D7B086DF3D6}" created="2026-08-19T07:47:51.187">
    <ac:txMkLst xmlns:ac="http://schemas.microsoft.com/office/drawing/2013/main/command">
      <pc:docMk xmlns:pc="http://schemas.microsoft.com/office/powerpoint/2013/main/command"/>
      <pc:sldMk xmlns:pc="http://schemas.microsoft.com/office/powerpoint/2013/main/command" cId="4196759117" sldId="283"/>
      <ac:graphicFrameMk id="5" creationId="{F34AB366-7E75-332F-A73D-138676DA4C87}"/>
      <ac:tblMk/>
      <ac:tcMk rowId="3869105204" colId="4195886926"/>
      <ac:txMk cp="0" len="14">
        <ac:context len="15" hash="1750942944"/>
      </ac:txMk>
    </ac:txMkLst>
    <p188:pos x="1486686" y="1710022"/>
    <p188:replyLst>
      <p188:reply id="{3269D3A2-1E39-4073-94D9-50BA2BAB6D54}" authorId="{F1180CC9-9731-8AB0-FBF3-8D7B086DF3D6}" created="2026-09-02T07:08:27.413">
        <p188:txBody>
          <a:bodyPr/>
          <a:lstStyle/>
          <a:p>
            <a:r>
              <a:rPr lang="en-MY"/>
              <a:t>Based on Training by EPC</a:t>
            </a:r>
          </a:p>
        </p188:txBody>
      </p188:reply>
    </p188:replyLst>
    <p188:txBody>
      <a:bodyPr/>
      <a:lstStyle/>
      <a:p>
        <a:r>
          <a:rPr lang="en-MY"/>
          <a:t>Formula? Business Rules?</a:t>
        </a:r>
      </a:p>
    </p188:txBody>
  </p188:cm>
</p188:cmLst>
</file>

<file path=ppt/comments/modernComment_110_37CC3C0A.xml><?xml version="1.0" encoding="utf-8"?>
<p188:cmLst xmlns:a="http://schemas.openxmlformats.org/drawingml/2006/main" xmlns:r="http://schemas.openxmlformats.org/officeDocument/2006/relationships" xmlns:p188="http://schemas.microsoft.com/office/powerpoint/2018/8/main">
  <p188:cm id="{F92AA2E9-BD11-41F9-900C-C54D7F152BF8}" authorId="{F1180CC9-9731-8AB0-FBF3-8D7B086DF3D6}" created="2026-08-20T03:17:31.844">
    <ac:txMkLst xmlns:ac="http://schemas.microsoft.com/office/drawing/2013/main/command">
      <pc:docMk xmlns:pc="http://schemas.microsoft.com/office/powerpoint/2013/main/command"/>
      <pc:sldMk xmlns:pc="http://schemas.microsoft.com/office/powerpoint/2013/main/command" cId="936131594" sldId="272"/>
      <ac:graphicFrameMk id="3" creationId="{5233CB04-8A1A-F133-48CC-57C3DA3B1103}"/>
      <ac:tblMk/>
      <ac:tcMk rowId="3298192927" colId="1359647876"/>
      <ac:txMk cp="209" len="13">
        <ac:context len="291" hash="4111951644"/>
      </ac:txMk>
    </ac:txMkLst>
    <p188:pos x="1736626" y="4725020"/>
    <p188:txBody>
      <a:bodyPr/>
      <a:lstStyle/>
      <a:p>
        <a:r>
          <a:rPr lang="en-MY"/>
          <a:t>Need formula</a:t>
        </a:r>
      </a:p>
    </p188:txBody>
  </p188:cm>
  <p188:cm id="{8000AC12-594F-436F-9FF7-4B549EAB42C3}" authorId="{F1180CC9-9731-8AB0-FBF3-8D7B086DF3D6}" created="2026-08-20T03:20:08.550">
    <ac:txMkLst xmlns:ac="http://schemas.microsoft.com/office/drawing/2013/main/command">
      <pc:docMk xmlns:pc="http://schemas.microsoft.com/office/powerpoint/2013/main/command"/>
      <pc:sldMk xmlns:pc="http://schemas.microsoft.com/office/powerpoint/2013/main/command" cId="936131594" sldId="272"/>
      <ac:graphicFrameMk id="3" creationId="{5233CB04-8A1A-F133-48CC-57C3DA3B1103}"/>
      <ac:tblMk/>
      <ac:tcMk rowId="3298192927" colId="1177088218"/>
      <ac:txMk cp="0" len="23">
        <ac:context len="128" hash="2832393543"/>
      </ac:txMk>
    </ac:txMkLst>
    <p188:pos x="8062011" y="916592"/>
    <p188:txBody>
      <a:bodyPr/>
      <a:lstStyle/>
      <a:p>
        <a:r>
          <a:rPr lang="en-MY"/>
          <a:t>Need further info on this</a:t>
        </a:r>
      </a:p>
    </p188:txBody>
  </p188:cm>
</p188:cmLst>
</file>

<file path=ppt/comments/modernComment_111_21A8B7AC.xml><?xml version="1.0" encoding="utf-8"?>
<p188:cmLst xmlns:a="http://schemas.openxmlformats.org/drawingml/2006/main" xmlns:r="http://schemas.openxmlformats.org/officeDocument/2006/relationships" xmlns:p188="http://schemas.microsoft.com/office/powerpoint/2018/8/main">
  <p188:cm id="{4000817D-D44D-4FF8-BC37-F8EEAC927D22}" authorId="{F1180CC9-9731-8AB0-FBF3-8D7B086DF3D6}" created="2026-08-20T03:22:15.899">
    <ac:txMkLst xmlns:ac="http://schemas.microsoft.com/office/drawing/2013/main/command">
      <pc:docMk xmlns:pc="http://schemas.microsoft.com/office/powerpoint/2013/main/command"/>
      <pc:sldMk xmlns:pc="http://schemas.microsoft.com/office/powerpoint/2013/main/command" cId="564705196" sldId="273"/>
      <ac:graphicFrameMk id="3" creationId="{2C1DEA3C-B478-712C-303A-F4D730DB34F2}"/>
      <ac:tblMk/>
      <ac:tcMk rowId="3298192927" colId="1359647876"/>
      <ac:txMk cp="219" len="21">
        <ac:context len="241" hash="1798950884"/>
      </ac:txMk>
    </ac:txMkLst>
    <p188:pos x="2405929" y="5753956"/>
    <p188:txBody>
      <a:bodyPr/>
      <a:lstStyle/>
      <a:p>
        <a:r>
          <a:rPr lang="en-MY"/>
          <a:t>Need Formula, or use Prediction?</a:t>
        </a:r>
      </a:p>
    </p188:txBody>
  </p188:cm>
  <p188:cm id="{19B00688-7726-4E3B-AE86-AD4B18BD6670}" authorId="{F1180CC9-9731-8AB0-FBF3-8D7B086DF3D6}" created="2026-08-27T09:01:24.623">
    <ac:txMkLst xmlns:ac="http://schemas.microsoft.com/office/drawing/2013/main/command">
      <pc:docMk xmlns:pc="http://schemas.microsoft.com/office/powerpoint/2013/main/command"/>
      <pc:sldMk xmlns:pc="http://schemas.microsoft.com/office/powerpoint/2013/main/command" cId="564705196" sldId="273"/>
      <ac:graphicFrameMk id="3" creationId="{2C1DEA3C-B478-712C-303A-F4D730DB34F2}"/>
      <ac:tblMk/>
      <ac:tcMk rowId="3298192927" colId="1359647876"/>
      <ac:txMk cp="41" len="6">
        <ac:context len="241" hash="1798950884"/>
      </ac:txMk>
    </ac:txMkLst>
    <p188:pos x="1164958" y="2009383"/>
    <p188:txBody>
      <a:bodyPr/>
      <a:lstStyle/>
      <a:p>
        <a:r>
          <a:rPr lang="en-MY"/>
          <a:t>Formula?</a:t>
        </a:r>
      </a:p>
    </p188:txBody>
  </p188:cm>
  <p188:cm id="{FDCD662B-CB40-4A37-B0A3-B4DAD46A5442}" authorId="{F1180CC9-9731-8AB0-FBF3-8D7B086DF3D6}" created="2026-08-27T09:02:40.590">
    <ac:txMkLst xmlns:ac="http://schemas.microsoft.com/office/drawing/2013/main/command">
      <pc:docMk xmlns:pc="http://schemas.microsoft.com/office/powerpoint/2013/main/command"/>
      <pc:sldMk xmlns:pc="http://schemas.microsoft.com/office/powerpoint/2013/main/command" cId="564705196" sldId="273"/>
      <ac:graphicFrameMk id="3" creationId="{2C1DEA3C-B478-712C-303A-F4D730DB34F2}"/>
      <ac:tblMk/>
      <ac:tcMk rowId="3298192927" colId="1359647876"/>
      <ac:txMk cp="41" len="6">
        <ac:context len="241" hash="1798950884"/>
      </ac:txMk>
    </ac:txMkLst>
    <p188:pos x="1164958" y="2009383"/>
    <p188:txBody>
      <a:bodyPr/>
      <a:lstStyle/>
      <a:p>
        <a:r>
          <a:rPr lang="en-MY"/>
          <a:t>Data source?</a:t>
        </a:r>
      </a:p>
    </p188:txBody>
  </p188:cm>
  <p188:cm id="{4F940DB6-1DE7-4C23-A62F-9F499EDB19CA}" authorId="{F1180CC9-9731-8AB0-FBF3-8D7B086DF3D6}" created="2026-08-27T09:03:08.058">
    <ac:txMkLst xmlns:ac="http://schemas.microsoft.com/office/drawing/2013/main/command">
      <pc:docMk xmlns:pc="http://schemas.microsoft.com/office/powerpoint/2013/main/command"/>
      <pc:sldMk xmlns:pc="http://schemas.microsoft.com/office/powerpoint/2013/main/command" cId="564705196" sldId="273"/>
      <ac:graphicFrameMk id="3" creationId="{2C1DEA3C-B478-712C-303A-F4D730DB34F2}"/>
      <ac:tblMk/>
      <ac:tcMk rowId="3298192927" colId="1359647876"/>
      <ac:txMk cp="160" len="15">
        <ac:context len="241" hash="1798950884"/>
      </ac:txMk>
    </ac:txMkLst>
    <p188:pos x="2003158" y="4752583"/>
    <p188:txBody>
      <a:bodyPr/>
      <a:lstStyle/>
      <a:p>
        <a:r>
          <a:rPr lang="en-MY"/>
          <a:t>From ELSA?</a:t>
        </a:r>
      </a:p>
    </p188:txBody>
  </p188:cm>
</p188:cmLst>
</file>

<file path=ppt/comments/modernComment_112_6F58E2FA.xml><?xml version="1.0" encoding="utf-8"?>
<p188:cmLst xmlns:a="http://schemas.openxmlformats.org/drawingml/2006/main" xmlns:r="http://schemas.openxmlformats.org/officeDocument/2006/relationships" xmlns:p188="http://schemas.microsoft.com/office/powerpoint/2018/8/main">
  <p188:cm id="{70D90A00-DBDE-43AF-8656-09428F981F49}" authorId="{F1180CC9-9731-8AB0-FBF3-8D7B086DF3D6}" created="2026-08-27T09:03:46.285">
    <ac:txMkLst xmlns:ac="http://schemas.microsoft.com/office/drawing/2013/main/command">
      <pc:docMk xmlns:pc="http://schemas.microsoft.com/office/powerpoint/2013/main/command"/>
      <pc:sldMk xmlns:pc="http://schemas.microsoft.com/office/powerpoint/2013/main/command" cId="1868096250" sldId="274"/>
      <ac:graphicFrameMk id="3" creationId="{9353D6F9-2BDD-443A-E209-3672004AB094}"/>
      <ac:tblMk/>
      <ac:tcMk rowId="4051033446" colId="1359647876"/>
      <ac:txMk cp="9" len="20">
        <ac:context len="97" hash="3994383568"/>
      </ac:txMk>
    </ac:txMkLst>
    <p188:pos x="3037300" y="256783"/>
    <p188:txBody>
      <a:bodyPr/>
      <a:lstStyle/>
      <a:p>
        <a:r>
          <a:rPr lang="en-MY"/>
          <a:t>Need sample data to understand requirements</a:t>
        </a:r>
      </a:p>
    </p188:txBody>
  </p188:cm>
</p188:cmLst>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A2B3C6-D2C6-4878-A565-130F1A6285A2}" type="doc">
      <dgm:prSet loTypeId="urn:microsoft.com/office/officeart/2005/8/layout/process1" loCatId="process" qsTypeId="urn:microsoft.com/office/officeart/2005/8/quickstyle/simple1" qsCatId="simple" csTypeId="urn:microsoft.com/office/officeart/2005/8/colors/accent1_4" csCatId="accent1" phldr="1"/>
      <dgm:spPr/>
      <dgm:t>
        <a:bodyPr/>
        <a:lstStyle/>
        <a:p>
          <a:endParaRPr lang="en-MY"/>
        </a:p>
      </dgm:t>
    </dgm:pt>
    <dgm:pt modelId="{A91514D8-C90B-465F-8066-F638E5A785DB}">
      <dgm:prSet phldrT="[Text]" phldr="0" custT="1"/>
      <dgm:spPr/>
      <dgm:t>
        <a:bodyPr/>
        <a:lstStyle/>
        <a:p>
          <a:r>
            <a:rPr lang="en-US" sz="1300" b="1" dirty="0">
              <a:latin typeface="Arial" panose="020B0604020202020204" pitchFamily="34" charset="0"/>
              <a:cs typeface="Arial" panose="020B0604020202020204" pitchFamily="34" charset="0"/>
            </a:rPr>
            <a:t>SME Data</a:t>
          </a:r>
          <a:endParaRPr lang="en-MY" sz="1300" b="1" dirty="0">
            <a:latin typeface="Arial" panose="020B0604020202020204" pitchFamily="34" charset="0"/>
            <a:cs typeface="Arial" panose="020B0604020202020204" pitchFamily="34" charset="0"/>
          </a:endParaRPr>
        </a:p>
      </dgm:t>
    </dgm:pt>
    <dgm:pt modelId="{00FEBB01-17FB-4A70-8401-23D6A35A5A63}" type="parTrans" cxnId="{8A25D1C5-D5B0-4E4D-8D2E-40F283DAF3E8}">
      <dgm:prSet/>
      <dgm:spPr/>
      <dgm:t>
        <a:bodyPr/>
        <a:lstStyle/>
        <a:p>
          <a:endParaRPr lang="en-MY" sz="1300" b="1">
            <a:latin typeface="Arial" panose="020B0604020202020204" pitchFamily="34" charset="0"/>
            <a:cs typeface="Arial" panose="020B0604020202020204" pitchFamily="34" charset="0"/>
          </a:endParaRPr>
        </a:p>
      </dgm:t>
    </dgm:pt>
    <dgm:pt modelId="{FAB0569C-4431-4C6A-B9B9-9137A9A9581A}" type="sibTrans" cxnId="{8A25D1C5-D5B0-4E4D-8D2E-40F283DAF3E8}">
      <dgm:prSet custT="1"/>
      <dgm:spPr/>
      <dgm:t>
        <a:bodyPr/>
        <a:lstStyle/>
        <a:p>
          <a:endParaRPr lang="en-MY" sz="1300" b="1">
            <a:latin typeface="Arial" panose="020B0604020202020204" pitchFamily="34" charset="0"/>
            <a:cs typeface="Arial" panose="020B0604020202020204" pitchFamily="34" charset="0"/>
          </a:endParaRPr>
        </a:p>
      </dgm:t>
    </dgm:pt>
    <dgm:pt modelId="{E390FB56-7377-42B9-A789-70A4A67D365B}">
      <dgm:prSet phldrT="[Text]" phldr="0" custT="1"/>
      <dgm:spPr/>
      <dgm:t>
        <a:bodyPr/>
        <a:lstStyle/>
        <a:p>
          <a:r>
            <a:rPr lang="en-US" sz="1300" b="1" dirty="0">
              <a:latin typeface="Arial" panose="020B0604020202020204" pitchFamily="34" charset="0"/>
              <a:cs typeface="Arial" panose="020B0604020202020204" pitchFamily="34" charset="0"/>
            </a:rPr>
            <a:t>Development Analytics</a:t>
          </a:r>
          <a:endParaRPr lang="en-MY" sz="1300" b="1" dirty="0">
            <a:latin typeface="Arial" panose="020B0604020202020204" pitchFamily="34" charset="0"/>
            <a:cs typeface="Arial" panose="020B0604020202020204" pitchFamily="34" charset="0"/>
          </a:endParaRPr>
        </a:p>
      </dgm:t>
    </dgm:pt>
    <dgm:pt modelId="{C2305F42-7827-4014-B539-AD44108630E5}" type="parTrans" cxnId="{A34757D3-703B-424D-9F06-F6A76F4B5D99}">
      <dgm:prSet/>
      <dgm:spPr/>
      <dgm:t>
        <a:bodyPr/>
        <a:lstStyle/>
        <a:p>
          <a:endParaRPr lang="en-MY" sz="1300" b="1">
            <a:latin typeface="Arial" panose="020B0604020202020204" pitchFamily="34" charset="0"/>
            <a:cs typeface="Arial" panose="020B0604020202020204" pitchFamily="34" charset="0"/>
          </a:endParaRPr>
        </a:p>
      </dgm:t>
    </dgm:pt>
    <dgm:pt modelId="{49A6AC44-0D77-4BEA-889E-29FE3BFB9C68}" type="sibTrans" cxnId="{A34757D3-703B-424D-9F06-F6A76F4B5D99}">
      <dgm:prSet custT="1"/>
      <dgm:spPr/>
      <dgm:t>
        <a:bodyPr/>
        <a:lstStyle/>
        <a:p>
          <a:endParaRPr lang="en-MY" sz="1300" b="1">
            <a:latin typeface="Arial" panose="020B0604020202020204" pitchFamily="34" charset="0"/>
            <a:cs typeface="Arial" panose="020B0604020202020204" pitchFamily="34" charset="0"/>
          </a:endParaRPr>
        </a:p>
      </dgm:t>
    </dgm:pt>
    <dgm:pt modelId="{F76A36FE-D999-4729-8CE7-FECCE35B361C}">
      <dgm:prSet phldrT="[Text]" phldr="0" custT="1"/>
      <dgm:spPr/>
      <dgm:t>
        <a:bodyPr/>
        <a:lstStyle/>
        <a:p>
          <a:r>
            <a:rPr lang="en-US" sz="1300" b="1" dirty="0">
              <a:latin typeface="Arial" panose="020B0604020202020204" pitchFamily="34" charset="0"/>
              <a:cs typeface="Arial" panose="020B0604020202020204" pitchFamily="34" charset="0"/>
            </a:rPr>
            <a:t>Development Insights</a:t>
          </a:r>
          <a:endParaRPr lang="en-MY" sz="1300" b="1" dirty="0">
            <a:latin typeface="Arial" panose="020B0604020202020204" pitchFamily="34" charset="0"/>
            <a:cs typeface="Arial" panose="020B0604020202020204" pitchFamily="34" charset="0"/>
          </a:endParaRPr>
        </a:p>
      </dgm:t>
    </dgm:pt>
    <dgm:pt modelId="{66224B01-0448-4294-B0D3-0BF881F61F6A}" type="parTrans" cxnId="{1AE835AE-660D-44E6-8E21-CEB0CA0CE591}">
      <dgm:prSet/>
      <dgm:spPr/>
      <dgm:t>
        <a:bodyPr/>
        <a:lstStyle/>
        <a:p>
          <a:endParaRPr lang="en-MY" sz="1300" b="1">
            <a:latin typeface="Arial" panose="020B0604020202020204" pitchFamily="34" charset="0"/>
            <a:cs typeface="Arial" panose="020B0604020202020204" pitchFamily="34" charset="0"/>
          </a:endParaRPr>
        </a:p>
      </dgm:t>
    </dgm:pt>
    <dgm:pt modelId="{4C669FF5-35C9-4484-ABF8-ABF16A8517EA}" type="sibTrans" cxnId="{1AE835AE-660D-44E6-8E21-CEB0CA0CE591}">
      <dgm:prSet custT="1"/>
      <dgm:spPr/>
      <dgm:t>
        <a:bodyPr/>
        <a:lstStyle/>
        <a:p>
          <a:endParaRPr lang="en-MY" sz="1300" b="1">
            <a:latin typeface="Arial" panose="020B0604020202020204" pitchFamily="34" charset="0"/>
            <a:cs typeface="Arial" panose="020B0604020202020204" pitchFamily="34" charset="0"/>
          </a:endParaRPr>
        </a:p>
      </dgm:t>
    </dgm:pt>
    <dgm:pt modelId="{2F03B290-BDBC-4BAF-9A85-1E8FEF584D73}">
      <dgm:prSet phldrT="[Text]" phldr="0" custT="1"/>
      <dgm:spPr/>
      <dgm:t>
        <a:bodyPr/>
        <a:lstStyle/>
        <a:p>
          <a:r>
            <a:rPr lang="en-US" sz="1300" b="1" dirty="0">
              <a:latin typeface="Arial" panose="020B0604020202020204" pitchFamily="34" charset="0"/>
              <a:cs typeface="Arial" panose="020B0604020202020204" pitchFamily="34" charset="0"/>
            </a:rPr>
            <a:t>Management Decision</a:t>
          </a:r>
          <a:endParaRPr lang="en-MY" sz="1300" b="1" dirty="0">
            <a:latin typeface="Arial" panose="020B0604020202020204" pitchFamily="34" charset="0"/>
            <a:cs typeface="Arial" panose="020B0604020202020204" pitchFamily="34" charset="0"/>
          </a:endParaRPr>
        </a:p>
      </dgm:t>
    </dgm:pt>
    <dgm:pt modelId="{99E101DA-1733-4D9F-8459-B377A3A5E648}" type="parTrans" cxnId="{F42813A2-9EA1-4131-A64E-CEDD032C5557}">
      <dgm:prSet/>
      <dgm:spPr/>
      <dgm:t>
        <a:bodyPr/>
        <a:lstStyle/>
        <a:p>
          <a:endParaRPr lang="en-MY" sz="1300" b="1">
            <a:latin typeface="Arial" panose="020B0604020202020204" pitchFamily="34" charset="0"/>
            <a:cs typeface="Arial" panose="020B0604020202020204" pitchFamily="34" charset="0"/>
          </a:endParaRPr>
        </a:p>
      </dgm:t>
    </dgm:pt>
    <dgm:pt modelId="{D4A63730-A9C4-4FFF-B1D3-111DDD954ECF}" type="sibTrans" cxnId="{F42813A2-9EA1-4131-A64E-CEDD032C5557}">
      <dgm:prSet custT="1"/>
      <dgm:spPr/>
      <dgm:t>
        <a:bodyPr/>
        <a:lstStyle/>
        <a:p>
          <a:endParaRPr lang="en-MY" sz="1300" b="1">
            <a:latin typeface="Arial" panose="020B0604020202020204" pitchFamily="34" charset="0"/>
            <a:cs typeface="Arial" panose="020B0604020202020204" pitchFamily="34" charset="0"/>
          </a:endParaRPr>
        </a:p>
      </dgm:t>
    </dgm:pt>
    <dgm:pt modelId="{71AD1B42-321B-4856-B183-D70AAE0AB52E}">
      <dgm:prSet phldrT="[Text]" phldr="0" custT="1"/>
      <dgm:spPr/>
      <dgm:t>
        <a:bodyPr/>
        <a:lstStyle/>
        <a:p>
          <a:r>
            <a:rPr lang="en-US" sz="1300" b="1" dirty="0">
              <a:latin typeface="Arial" panose="020B0604020202020204" pitchFamily="34" charset="0"/>
              <a:cs typeface="Arial" panose="020B0604020202020204" pitchFamily="34" charset="0"/>
            </a:rPr>
            <a:t>Targeted Intervention</a:t>
          </a:r>
          <a:endParaRPr lang="en-MY" sz="1300" b="1" dirty="0">
            <a:latin typeface="Arial" panose="020B0604020202020204" pitchFamily="34" charset="0"/>
            <a:cs typeface="Arial" panose="020B0604020202020204" pitchFamily="34" charset="0"/>
          </a:endParaRPr>
        </a:p>
      </dgm:t>
    </dgm:pt>
    <dgm:pt modelId="{9408079D-F8DC-401D-A95F-64D10E1A6D99}" type="parTrans" cxnId="{B778DD9C-25EC-4A5E-B82E-9D20545953F0}">
      <dgm:prSet/>
      <dgm:spPr/>
      <dgm:t>
        <a:bodyPr/>
        <a:lstStyle/>
        <a:p>
          <a:endParaRPr lang="en-MY" sz="1300" b="1">
            <a:latin typeface="Arial" panose="020B0604020202020204" pitchFamily="34" charset="0"/>
            <a:cs typeface="Arial" panose="020B0604020202020204" pitchFamily="34" charset="0"/>
          </a:endParaRPr>
        </a:p>
      </dgm:t>
    </dgm:pt>
    <dgm:pt modelId="{0F364DEF-E660-4B05-AB51-EC19706123CA}" type="sibTrans" cxnId="{B778DD9C-25EC-4A5E-B82E-9D20545953F0}">
      <dgm:prSet custT="1"/>
      <dgm:spPr/>
      <dgm:t>
        <a:bodyPr/>
        <a:lstStyle/>
        <a:p>
          <a:endParaRPr lang="en-MY" sz="1300" b="1">
            <a:latin typeface="Arial" panose="020B0604020202020204" pitchFamily="34" charset="0"/>
            <a:cs typeface="Arial" panose="020B0604020202020204" pitchFamily="34" charset="0"/>
          </a:endParaRPr>
        </a:p>
      </dgm:t>
    </dgm:pt>
    <dgm:pt modelId="{1F9B0A30-2FA2-4B37-9CB4-284C86A70BEA}">
      <dgm:prSet phldrT="[Text]" phldr="0" custT="1"/>
      <dgm:spPr/>
      <dgm:t>
        <a:bodyPr/>
        <a:lstStyle/>
        <a:p>
          <a:r>
            <a:rPr lang="en-US" sz="1300" b="1" dirty="0">
              <a:latin typeface="Arial" panose="020B0604020202020204" pitchFamily="34" charset="0"/>
              <a:cs typeface="Arial" panose="020B0604020202020204" pitchFamily="34" charset="0"/>
            </a:rPr>
            <a:t>SME Improvement</a:t>
          </a:r>
          <a:endParaRPr lang="en-MY" sz="1300" b="1" dirty="0">
            <a:latin typeface="Arial" panose="020B0604020202020204" pitchFamily="34" charset="0"/>
            <a:cs typeface="Arial" panose="020B0604020202020204" pitchFamily="34" charset="0"/>
          </a:endParaRPr>
        </a:p>
      </dgm:t>
    </dgm:pt>
    <dgm:pt modelId="{650BD168-6B77-4D52-B09A-8D8B03FC33FF}" type="parTrans" cxnId="{ED651EF7-99F3-45E3-B4EF-0D3828204F8B}">
      <dgm:prSet/>
      <dgm:spPr/>
      <dgm:t>
        <a:bodyPr/>
        <a:lstStyle/>
        <a:p>
          <a:endParaRPr lang="en-MY" sz="1300" b="1">
            <a:latin typeface="Arial" panose="020B0604020202020204" pitchFamily="34" charset="0"/>
            <a:cs typeface="Arial" panose="020B0604020202020204" pitchFamily="34" charset="0"/>
          </a:endParaRPr>
        </a:p>
      </dgm:t>
    </dgm:pt>
    <dgm:pt modelId="{2592D467-511F-40A9-9F37-C3B57EB4A006}" type="sibTrans" cxnId="{ED651EF7-99F3-45E3-B4EF-0D3828204F8B}">
      <dgm:prSet custT="1"/>
      <dgm:spPr/>
      <dgm:t>
        <a:bodyPr/>
        <a:lstStyle/>
        <a:p>
          <a:endParaRPr lang="en-MY" sz="1300" b="1">
            <a:latin typeface="Arial" panose="020B0604020202020204" pitchFamily="34" charset="0"/>
            <a:cs typeface="Arial" panose="020B0604020202020204" pitchFamily="34" charset="0"/>
          </a:endParaRPr>
        </a:p>
      </dgm:t>
    </dgm:pt>
    <dgm:pt modelId="{97D2A507-B441-4FFD-9241-766E239A80A8}">
      <dgm:prSet phldrT="[Text]" phldr="0" custT="1"/>
      <dgm:spPr/>
      <dgm:t>
        <a:bodyPr/>
        <a:lstStyle/>
        <a:p>
          <a:r>
            <a:rPr lang="en-US" sz="1300" b="1" dirty="0">
              <a:latin typeface="Arial" panose="020B0604020202020204" pitchFamily="34" charset="0"/>
              <a:cs typeface="Arial" panose="020B0604020202020204" pitchFamily="34" charset="0"/>
            </a:rPr>
            <a:t>New Development Data</a:t>
          </a:r>
          <a:endParaRPr lang="en-MY" sz="1300" b="1" dirty="0">
            <a:latin typeface="Arial" panose="020B0604020202020204" pitchFamily="34" charset="0"/>
            <a:cs typeface="Arial" panose="020B0604020202020204" pitchFamily="34" charset="0"/>
          </a:endParaRPr>
        </a:p>
      </dgm:t>
    </dgm:pt>
    <dgm:pt modelId="{9AF2748D-DDE4-4A16-A8B5-26DB75DA5138}" type="parTrans" cxnId="{3E11E4B8-B753-4B68-AD5B-C643A51E81B9}">
      <dgm:prSet/>
      <dgm:spPr/>
      <dgm:t>
        <a:bodyPr/>
        <a:lstStyle/>
        <a:p>
          <a:endParaRPr lang="en-MY" sz="1300" b="1">
            <a:latin typeface="Arial" panose="020B0604020202020204" pitchFamily="34" charset="0"/>
            <a:cs typeface="Arial" panose="020B0604020202020204" pitchFamily="34" charset="0"/>
          </a:endParaRPr>
        </a:p>
      </dgm:t>
    </dgm:pt>
    <dgm:pt modelId="{0AE0BDA1-514C-4AE2-9862-74EFE4AA0DC3}" type="sibTrans" cxnId="{3E11E4B8-B753-4B68-AD5B-C643A51E81B9}">
      <dgm:prSet/>
      <dgm:spPr/>
      <dgm:t>
        <a:bodyPr/>
        <a:lstStyle/>
        <a:p>
          <a:endParaRPr lang="en-MY" sz="1300" b="1">
            <a:latin typeface="Arial" panose="020B0604020202020204" pitchFamily="34" charset="0"/>
            <a:cs typeface="Arial" panose="020B0604020202020204" pitchFamily="34" charset="0"/>
          </a:endParaRPr>
        </a:p>
      </dgm:t>
    </dgm:pt>
    <dgm:pt modelId="{471E3FD8-FCCF-4C8D-9015-FB1475DD67D9}" type="pres">
      <dgm:prSet presAssocID="{9AA2B3C6-D2C6-4878-A565-130F1A6285A2}" presName="Name0" presStyleCnt="0">
        <dgm:presLayoutVars>
          <dgm:dir/>
          <dgm:resizeHandles val="exact"/>
        </dgm:presLayoutVars>
      </dgm:prSet>
      <dgm:spPr/>
    </dgm:pt>
    <dgm:pt modelId="{6DB57E73-9E47-482D-987B-E3A1C56454D3}" type="pres">
      <dgm:prSet presAssocID="{A91514D8-C90B-465F-8066-F638E5A785DB}" presName="node" presStyleLbl="node1" presStyleIdx="0" presStyleCnt="7">
        <dgm:presLayoutVars>
          <dgm:bulletEnabled val="1"/>
        </dgm:presLayoutVars>
      </dgm:prSet>
      <dgm:spPr/>
    </dgm:pt>
    <dgm:pt modelId="{71AFC82A-ADA1-45B2-868F-36BA958550C0}" type="pres">
      <dgm:prSet presAssocID="{FAB0569C-4431-4C6A-B9B9-9137A9A9581A}" presName="sibTrans" presStyleLbl="sibTrans2D1" presStyleIdx="0" presStyleCnt="6"/>
      <dgm:spPr/>
    </dgm:pt>
    <dgm:pt modelId="{8A05C0FB-CE42-41BE-B903-59061B324AC1}" type="pres">
      <dgm:prSet presAssocID="{FAB0569C-4431-4C6A-B9B9-9137A9A9581A}" presName="connectorText" presStyleLbl="sibTrans2D1" presStyleIdx="0" presStyleCnt="6"/>
      <dgm:spPr/>
    </dgm:pt>
    <dgm:pt modelId="{AFE49336-F01F-4118-81A5-C423D82F0F16}" type="pres">
      <dgm:prSet presAssocID="{E390FB56-7377-42B9-A789-70A4A67D365B}" presName="node" presStyleLbl="node1" presStyleIdx="1" presStyleCnt="7">
        <dgm:presLayoutVars>
          <dgm:bulletEnabled val="1"/>
        </dgm:presLayoutVars>
      </dgm:prSet>
      <dgm:spPr/>
    </dgm:pt>
    <dgm:pt modelId="{DAE57F8C-E643-44AD-9663-76ACC5D751F2}" type="pres">
      <dgm:prSet presAssocID="{49A6AC44-0D77-4BEA-889E-29FE3BFB9C68}" presName="sibTrans" presStyleLbl="sibTrans2D1" presStyleIdx="1" presStyleCnt="6"/>
      <dgm:spPr/>
    </dgm:pt>
    <dgm:pt modelId="{3481F99E-5B33-49A5-A10A-8C0DF755D0CC}" type="pres">
      <dgm:prSet presAssocID="{49A6AC44-0D77-4BEA-889E-29FE3BFB9C68}" presName="connectorText" presStyleLbl="sibTrans2D1" presStyleIdx="1" presStyleCnt="6"/>
      <dgm:spPr/>
    </dgm:pt>
    <dgm:pt modelId="{28C5FD12-C874-4A53-BDD1-EAD9AF595432}" type="pres">
      <dgm:prSet presAssocID="{F76A36FE-D999-4729-8CE7-FECCE35B361C}" presName="node" presStyleLbl="node1" presStyleIdx="2" presStyleCnt="7">
        <dgm:presLayoutVars>
          <dgm:bulletEnabled val="1"/>
        </dgm:presLayoutVars>
      </dgm:prSet>
      <dgm:spPr/>
    </dgm:pt>
    <dgm:pt modelId="{9DC37516-64D2-494B-A1C2-27CE7F59F7FA}" type="pres">
      <dgm:prSet presAssocID="{4C669FF5-35C9-4484-ABF8-ABF16A8517EA}" presName="sibTrans" presStyleLbl="sibTrans2D1" presStyleIdx="2" presStyleCnt="6"/>
      <dgm:spPr/>
    </dgm:pt>
    <dgm:pt modelId="{D5B956DB-8767-4699-9CDD-046AF960F07D}" type="pres">
      <dgm:prSet presAssocID="{4C669FF5-35C9-4484-ABF8-ABF16A8517EA}" presName="connectorText" presStyleLbl="sibTrans2D1" presStyleIdx="2" presStyleCnt="6"/>
      <dgm:spPr/>
    </dgm:pt>
    <dgm:pt modelId="{1D2B3AA0-808C-450E-A962-862E24C7CAD2}" type="pres">
      <dgm:prSet presAssocID="{2F03B290-BDBC-4BAF-9A85-1E8FEF584D73}" presName="node" presStyleLbl="node1" presStyleIdx="3" presStyleCnt="7">
        <dgm:presLayoutVars>
          <dgm:bulletEnabled val="1"/>
        </dgm:presLayoutVars>
      </dgm:prSet>
      <dgm:spPr/>
    </dgm:pt>
    <dgm:pt modelId="{0FF05CAF-BE40-4135-951D-4B2064E9E701}" type="pres">
      <dgm:prSet presAssocID="{D4A63730-A9C4-4FFF-B1D3-111DDD954ECF}" presName="sibTrans" presStyleLbl="sibTrans2D1" presStyleIdx="3" presStyleCnt="6"/>
      <dgm:spPr/>
    </dgm:pt>
    <dgm:pt modelId="{75104B34-0924-4C73-AEC5-A95A6F800F2B}" type="pres">
      <dgm:prSet presAssocID="{D4A63730-A9C4-4FFF-B1D3-111DDD954ECF}" presName="connectorText" presStyleLbl="sibTrans2D1" presStyleIdx="3" presStyleCnt="6"/>
      <dgm:spPr/>
    </dgm:pt>
    <dgm:pt modelId="{0ABAD203-A497-45FA-88B2-E6838860B9B7}" type="pres">
      <dgm:prSet presAssocID="{71AD1B42-321B-4856-B183-D70AAE0AB52E}" presName="node" presStyleLbl="node1" presStyleIdx="4" presStyleCnt="7">
        <dgm:presLayoutVars>
          <dgm:bulletEnabled val="1"/>
        </dgm:presLayoutVars>
      </dgm:prSet>
      <dgm:spPr/>
    </dgm:pt>
    <dgm:pt modelId="{1FC126C8-5081-4CEA-BCCF-814040945575}" type="pres">
      <dgm:prSet presAssocID="{0F364DEF-E660-4B05-AB51-EC19706123CA}" presName="sibTrans" presStyleLbl="sibTrans2D1" presStyleIdx="4" presStyleCnt="6"/>
      <dgm:spPr/>
    </dgm:pt>
    <dgm:pt modelId="{1CD55E65-9D53-4B49-A383-2BF9C8A02B87}" type="pres">
      <dgm:prSet presAssocID="{0F364DEF-E660-4B05-AB51-EC19706123CA}" presName="connectorText" presStyleLbl="sibTrans2D1" presStyleIdx="4" presStyleCnt="6"/>
      <dgm:spPr/>
    </dgm:pt>
    <dgm:pt modelId="{0F95BA9E-377A-40C4-B82A-F332ABE3CC39}" type="pres">
      <dgm:prSet presAssocID="{1F9B0A30-2FA2-4B37-9CB4-284C86A70BEA}" presName="node" presStyleLbl="node1" presStyleIdx="5" presStyleCnt="7">
        <dgm:presLayoutVars>
          <dgm:bulletEnabled val="1"/>
        </dgm:presLayoutVars>
      </dgm:prSet>
      <dgm:spPr/>
    </dgm:pt>
    <dgm:pt modelId="{449ED625-5DEA-42E9-B1C4-286BE49BACD4}" type="pres">
      <dgm:prSet presAssocID="{2592D467-511F-40A9-9F37-C3B57EB4A006}" presName="sibTrans" presStyleLbl="sibTrans2D1" presStyleIdx="5" presStyleCnt="6"/>
      <dgm:spPr/>
    </dgm:pt>
    <dgm:pt modelId="{72EC8527-5096-4CCD-BD99-03859169C9C6}" type="pres">
      <dgm:prSet presAssocID="{2592D467-511F-40A9-9F37-C3B57EB4A006}" presName="connectorText" presStyleLbl="sibTrans2D1" presStyleIdx="5" presStyleCnt="6"/>
      <dgm:spPr/>
    </dgm:pt>
    <dgm:pt modelId="{9F94C9EA-046F-4009-BDD6-BDBC152E9138}" type="pres">
      <dgm:prSet presAssocID="{97D2A507-B441-4FFD-9241-766E239A80A8}" presName="node" presStyleLbl="node1" presStyleIdx="6" presStyleCnt="7">
        <dgm:presLayoutVars>
          <dgm:bulletEnabled val="1"/>
        </dgm:presLayoutVars>
      </dgm:prSet>
      <dgm:spPr/>
    </dgm:pt>
  </dgm:ptLst>
  <dgm:cxnLst>
    <dgm:cxn modelId="{C6DDF20D-D0E6-4C93-8EE9-7F715976114F}" type="presOf" srcId="{0F364DEF-E660-4B05-AB51-EC19706123CA}" destId="{1CD55E65-9D53-4B49-A383-2BF9C8A02B87}" srcOrd="1" destOrd="0" presId="urn:microsoft.com/office/officeart/2005/8/layout/process1"/>
    <dgm:cxn modelId="{5F99351B-0DD8-49D9-8E65-9A73BD5A85ED}" type="presOf" srcId="{E390FB56-7377-42B9-A789-70A4A67D365B}" destId="{AFE49336-F01F-4118-81A5-C423D82F0F16}" srcOrd="0" destOrd="0" presId="urn:microsoft.com/office/officeart/2005/8/layout/process1"/>
    <dgm:cxn modelId="{9FD67E1F-265F-40AE-801A-2B3B53E69767}" type="presOf" srcId="{0F364DEF-E660-4B05-AB51-EC19706123CA}" destId="{1FC126C8-5081-4CEA-BCCF-814040945575}" srcOrd="0" destOrd="0" presId="urn:microsoft.com/office/officeart/2005/8/layout/process1"/>
    <dgm:cxn modelId="{7778B626-96B9-4D08-9553-886F878FD7A2}" type="presOf" srcId="{F76A36FE-D999-4729-8CE7-FECCE35B361C}" destId="{28C5FD12-C874-4A53-BDD1-EAD9AF595432}" srcOrd="0" destOrd="0" presId="urn:microsoft.com/office/officeart/2005/8/layout/process1"/>
    <dgm:cxn modelId="{D6582D2B-6C24-49E8-AB17-E21A222463D0}" type="presOf" srcId="{D4A63730-A9C4-4FFF-B1D3-111DDD954ECF}" destId="{75104B34-0924-4C73-AEC5-A95A6F800F2B}" srcOrd="1" destOrd="0" presId="urn:microsoft.com/office/officeart/2005/8/layout/process1"/>
    <dgm:cxn modelId="{85FDC537-E93D-44BA-8CC3-FC2D81A2E730}" type="presOf" srcId="{1F9B0A30-2FA2-4B37-9CB4-284C86A70BEA}" destId="{0F95BA9E-377A-40C4-B82A-F332ABE3CC39}" srcOrd="0" destOrd="0" presId="urn:microsoft.com/office/officeart/2005/8/layout/process1"/>
    <dgm:cxn modelId="{C15D4F38-7073-40A9-8E19-06AE886494E3}" type="presOf" srcId="{97D2A507-B441-4FFD-9241-766E239A80A8}" destId="{9F94C9EA-046F-4009-BDD6-BDBC152E9138}" srcOrd="0" destOrd="0" presId="urn:microsoft.com/office/officeart/2005/8/layout/process1"/>
    <dgm:cxn modelId="{33D7D25C-5C2B-4828-AE58-E6C1643BF3C0}" type="presOf" srcId="{2592D467-511F-40A9-9F37-C3B57EB4A006}" destId="{72EC8527-5096-4CCD-BD99-03859169C9C6}" srcOrd="1" destOrd="0" presId="urn:microsoft.com/office/officeart/2005/8/layout/process1"/>
    <dgm:cxn modelId="{514BE94B-8E3F-40EA-8657-895D7367D64B}" type="presOf" srcId="{9AA2B3C6-D2C6-4878-A565-130F1A6285A2}" destId="{471E3FD8-FCCF-4C8D-9015-FB1475DD67D9}" srcOrd="0" destOrd="0" presId="urn:microsoft.com/office/officeart/2005/8/layout/process1"/>
    <dgm:cxn modelId="{8A41FD54-9F03-4D0C-AD58-549E73A9298F}" type="presOf" srcId="{2592D467-511F-40A9-9F37-C3B57EB4A006}" destId="{449ED625-5DEA-42E9-B1C4-286BE49BACD4}" srcOrd="0" destOrd="0" presId="urn:microsoft.com/office/officeart/2005/8/layout/process1"/>
    <dgm:cxn modelId="{6EA4BC7C-C11B-4BB2-9D67-F7999ADDC8AA}" type="presOf" srcId="{FAB0569C-4431-4C6A-B9B9-9137A9A9581A}" destId="{71AFC82A-ADA1-45B2-868F-36BA958550C0}" srcOrd="0" destOrd="0" presId="urn:microsoft.com/office/officeart/2005/8/layout/process1"/>
    <dgm:cxn modelId="{2685D182-3CE4-4A7F-9367-326CB0DFBB4D}" type="presOf" srcId="{D4A63730-A9C4-4FFF-B1D3-111DDD954ECF}" destId="{0FF05CAF-BE40-4135-951D-4B2064E9E701}" srcOrd="0" destOrd="0" presId="urn:microsoft.com/office/officeart/2005/8/layout/process1"/>
    <dgm:cxn modelId="{9AE5BA87-8FEE-4A08-936F-9582FD4816ED}" type="presOf" srcId="{49A6AC44-0D77-4BEA-889E-29FE3BFB9C68}" destId="{DAE57F8C-E643-44AD-9663-76ACC5D751F2}" srcOrd="0" destOrd="0" presId="urn:microsoft.com/office/officeart/2005/8/layout/process1"/>
    <dgm:cxn modelId="{B778DD9C-25EC-4A5E-B82E-9D20545953F0}" srcId="{9AA2B3C6-D2C6-4878-A565-130F1A6285A2}" destId="{71AD1B42-321B-4856-B183-D70AAE0AB52E}" srcOrd="4" destOrd="0" parTransId="{9408079D-F8DC-401D-A95F-64D10E1A6D99}" sibTransId="{0F364DEF-E660-4B05-AB51-EC19706123CA}"/>
    <dgm:cxn modelId="{6D7EE49C-DE74-477B-9522-85BE494EBBC7}" type="presOf" srcId="{4C669FF5-35C9-4484-ABF8-ABF16A8517EA}" destId="{D5B956DB-8767-4699-9CDD-046AF960F07D}" srcOrd="1" destOrd="0" presId="urn:microsoft.com/office/officeart/2005/8/layout/process1"/>
    <dgm:cxn modelId="{F42813A2-9EA1-4131-A64E-CEDD032C5557}" srcId="{9AA2B3C6-D2C6-4878-A565-130F1A6285A2}" destId="{2F03B290-BDBC-4BAF-9A85-1E8FEF584D73}" srcOrd="3" destOrd="0" parTransId="{99E101DA-1733-4D9F-8459-B377A3A5E648}" sibTransId="{D4A63730-A9C4-4FFF-B1D3-111DDD954ECF}"/>
    <dgm:cxn modelId="{1AE835AE-660D-44E6-8E21-CEB0CA0CE591}" srcId="{9AA2B3C6-D2C6-4878-A565-130F1A6285A2}" destId="{F76A36FE-D999-4729-8CE7-FECCE35B361C}" srcOrd="2" destOrd="0" parTransId="{66224B01-0448-4294-B0D3-0BF881F61F6A}" sibTransId="{4C669FF5-35C9-4484-ABF8-ABF16A8517EA}"/>
    <dgm:cxn modelId="{3E11E4B8-B753-4B68-AD5B-C643A51E81B9}" srcId="{9AA2B3C6-D2C6-4878-A565-130F1A6285A2}" destId="{97D2A507-B441-4FFD-9241-766E239A80A8}" srcOrd="6" destOrd="0" parTransId="{9AF2748D-DDE4-4A16-A8B5-26DB75DA5138}" sibTransId="{0AE0BDA1-514C-4AE2-9862-74EFE4AA0DC3}"/>
    <dgm:cxn modelId="{8D4A40BB-8C82-4942-9474-ACFC9642DDFF}" type="presOf" srcId="{71AD1B42-321B-4856-B183-D70AAE0AB52E}" destId="{0ABAD203-A497-45FA-88B2-E6838860B9B7}" srcOrd="0" destOrd="0" presId="urn:microsoft.com/office/officeart/2005/8/layout/process1"/>
    <dgm:cxn modelId="{8A25D1C5-D5B0-4E4D-8D2E-40F283DAF3E8}" srcId="{9AA2B3C6-D2C6-4878-A565-130F1A6285A2}" destId="{A91514D8-C90B-465F-8066-F638E5A785DB}" srcOrd="0" destOrd="0" parTransId="{00FEBB01-17FB-4A70-8401-23D6A35A5A63}" sibTransId="{FAB0569C-4431-4C6A-B9B9-9137A9A9581A}"/>
    <dgm:cxn modelId="{1F9F96C7-6E99-411B-94B2-4D5D0B03F5CF}" type="presOf" srcId="{A91514D8-C90B-465F-8066-F638E5A785DB}" destId="{6DB57E73-9E47-482D-987B-E3A1C56454D3}" srcOrd="0" destOrd="0" presId="urn:microsoft.com/office/officeart/2005/8/layout/process1"/>
    <dgm:cxn modelId="{A34757D3-703B-424D-9F06-F6A76F4B5D99}" srcId="{9AA2B3C6-D2C6-4878-A565-130F1A6285A2}" destId="{E390FB56-7377-42B9-A789-70A4A67D365B}" srcOrd="1" destOrd="0" parTransId="{C2305F42-7827-4014-B539-AD44108630E5}" sibTransId="{49A6AC44-0D77-4BEA-889E-29FE3BFB9C68}"/>
    <dgm:cxn modelId="{66FBBCD7-1794-4BA7-BFD1-A91ADAA40551}" type="presOf" srcId="{2F03B290-BDBC-4BAF-9A85-1E8FEF584D73}" destId="{1D2B3AA0-808C-450E-A962-862E24C7CAD2}" srcOrd="0" destOrd="0" presId="urn:microsoft.com/office/officeart/2005/8/layout/process1"/>
    <dgm:cxn modelId="{8D1EA0DA-0F48-46EE-BF85-D1D4676A24CF}" type="presOf" srcId="{FAB0569C-4431-4C6A-B9B9-9137A9A9581A}" destId="{8A05C0FB-CE42-41BE-B903-59061B324AC1}" srcOrd="1" destOrd="0" presId="urn:microsoft.com/office/officeart/2005/8/layout/process1"/>
    <dgm:cxn modelId="{D7EA5EE3-D759-47C2-A2C5-A6E65C7BFC02}" type="presOf" srcId="{4C669FF5-35C9-4484-ABF8-ABF16A8517EA}" destId="{9DC37516-64D2-494B-A1C2-27CE7F59F7FA}" srcOrd="0" destOrd="0" presId="urn:microsoft.com/office/officeart/2005/8/layout/process1"/>
    <dgm:cxn modelId="{26FE89EE-F2DC-43BF-930A-EDE77C47DF90}" type="presOf" srcId="{49A6AC44-0D77-4BEA-889E-29FE3BFB9C68}" destId="{3481F99E-5B33-49A5-A10A-8C0DF755D0CC}" srcOrd="1" destOrd="0" presId="urn:microsoft.com/office/officeart/2005/8/layout/process1"/>
    <dgm:cxn modelId="{ED651EF7-99F3-45E3-B4EF-0D3828204F8B}" srcId="{9AA2B3C6-D2C6-4878-A565-130F1A6285A2}" destId="{1F9B0A30-2FA2-4B37-9CB4-284C86A70BEA}" srcOrd="5" destOrd="0" parTransId="{650BD168-6B77-4D52-B09A-8D8B03FC33FF}" sibTransId="{2592D467-511F-40A9-9F37-C3B57EB4A006}"/>
    <dgm:cxn modelId="{4C511AF1-5F42-4297-8F4D-41374577C0FE}" type="presParOf" srcId="{471E3FD8-FCCF-4C8D-9015-FB1475DD67D9}" destId="{6DB57E73-9E47-482D-987B-E3A1C56454D3}" srcOrd="0" destOrd="0" presId="urn:microsoft.com/office/officeart/2005/8/layout/process1"/>
    <dgm:cxn modelId="{4067E4DD-7B5A-4CDE-9238-CA33123789C8}" type="presParOf" srcId="{471E3FD8-FCCF-4C8D-9015-FB1475DD67D9}" destId="{71AFC82A-ADA1-45B2-868F-36BA958550C0}" srcOrd="1" destOrd="0" presId="urn:microsoft.com/office/officeart/2005/8/layout/process1"/>
    <dgm:cxn modelId="{0E4BF51D-4335-488A-AC41-E75FEF49F507}" type="presParOf" srcId="{71AFC82A-ADA1-45B2-868F-36BA958550C0}" destId="{8A05C0FB-CE42-41BE-B903-59061B324AC1}" srcOrd="0" destOrd="0" presId="urn:microsoft.com/office/officeart/2005/8/layout/process1"/>
    <dgm:cxn modelId="{CEB5C41D-9AF9-4E08-9A2C-75464FACC69F}" type="presParOf" srcId="{471E3FD8-FCCF-4C8D-9015-FB1475DD67D9}" destId="{AFE49336-F01F-4118-81A5-C423D82F0F16}" srcOrd="2" destOrd="0" presId="urn:microsoft.com/office/officeart/2005/8/layout/process1"/>
    <dgm:cxn modelId="{4EDC258C-317C-48EB-B5B2-D8ACBE94C365}" type="presParOf" srcId="{471E3FD8-FCCF-4C8D-9015-FB1475DD67D9}" destId="{DAE57F8C-E643-44AD-9663-76ACC5D751F2}" srcOrd="3" destOrd="0" presId="urn:microsoft.com/office/officeart/2005/8/layout/process1"/>
    <dgm:cxn modelId="{D6DE4F04-0B29-4C19-92C4-40461C62BECB}" type="presParOf" srcId="{DAE57F8C-E643-44AD-9663-76ACC5D751F2}" destId="{3481F99E-5B33-49A5-A10A-8C0DF755D0CC}" srcOrd="0" destOrd="0" presId="urn:microsoft.com/office/officeart/2005/8/layout/process1"/>
    <dgm:cxn modelId="{F9B40AE8-67EE-4EE1-894D-E179F3AD4144}" type="presParOf" srcId="{471E3FD8-FCCF-4C8D-9015-FB1475DD67D9}" destId="{28C5FD12-C874-4A53-BDD1-EAD9AF595432}" srcOrd="4" destOrd="0" presId="urn:microsoft.com/office/officeart/2005/8/layout/process1"/>
    <dgm:cxn modelId="{9A452185-1D8D-449C-ABD9-5BB8824BA560}" type="presParOf" srcId="{471E3FD8-FCCF-4C8D-9015-FB1475DD67D9}" destId="{9DC37516-64D2-494B-A1C2-27CE7F59F7FA}" srcOrd="5" destOrd="0" presId="urn:microsoft.com/office/officeart/2005/8/layout/process1"/>
    <dgm:cxn modelId="{5328D4DB-CB8D-443E-995A-DA31F89E392C}" type="presParOf" srcId="{9DC37516-64D2-494B-A1C2-27CE7F59F7FA}" destId="{D5B956DB-8767-4699-9CDD-046AF960F07D}" srcOrd="0" destOrd="0" presId="urn:microsoft.com/office/officeart/2005/8/layout/process1"/>
    <dgm:cxn modelId="{DF920FCC-E8A4-4B77-83E4-3B0D2595A12A}" type="presParOf" srcId="{471E3FD8-FCCF-4C8D-9015-FB1475DD67D9}" destId="{1D2B3AA0-808C-450E-A962-862E24C7CAD2}" srcOrd="6" destOrd="0" presId="urn:microsoft.com/office/officeart/2005/8/layout/process1"/>
    <dgm:cxn modelId="{0ED65F53-EC14-4016-9A64-4D8F402A6D26}" type="presParOf" srcId="{471E3FD8-FCCF-4C8D-9015-FB1475DD67D9}" destId="{0FF05CAF-BE40-4135-951D-4B2064E9E701}" srcOrd="7" destOrd="0" presId="urn:microsoft.com/office/officeart/2005/8/layout/process1"/>
    <dgm:cxn modelId="{0A1A5AA9-2AD2-4409-ABD7-0B195C209D38}" type="presParOf" srcId="{0FF05CAF-BE40-4135-951D-4B2064E9E701}" destId="{75104B34-0924-4C73-AEC5-A95A6F800F2B}" srcOrd="0" destOrd="0" presId="urn:microsoft.com/office/officeart/2005/8/layout/process1"/>
    <dgm:cxn modelId="{3BD31D63-4603-41AF-9F7F-8C7264CDED41}" type="presParOf" srcId="{471E3FD8-FCCF-4C8D-9015-FB1475DD67D9}" destId="{0ABAD203-A497-45FA-88B2-E6838860B9B7}" srcOrd="8" destOrd="0" presId="urn:microsoft.com/office/officeart/2005/8/layout/process1"/>
    <dgm:cxn modelId="{4D4361CC-8D15-4022-8057-BAF02CA49F0D}" type="presParOf" srcId="{471E3FD8-FCCF-4C8D-9015-FB1475DD67D9}" destId="{1FC126C8-5081-4CEA-BCCF-814040945575}" srcOrd="9" destOrd="0" presId="urn:microsoft.com/office/officeart/2005/8/layout/process1"/>
    <dgm:cxn modelId="{D826A371-9B7C-4839-B4A6-CD2A58394545}" type="presParOf" srcId="{1FC126C8-5081-4CEA-BCCF-814040945575}" destId="{1CD55E65-9D53-4B49-A383-2BF9C8A02B87}" srcOrd="0" destOrd="0" presId="urn:microsoft.com/office/officeart/2005/8/layout/process1"/>
    <dgm:cxn modelId="{63C19319-0D63-487B-BAEE-8665B9366699}" type="presParOf" srcId="{471E3FD8-FCCF-4C8D-9015-FB1475DD67D9}" destId="{0F95BA9E-377A-40C4-B82A-F332ABE3CC39}" srcOrd="10" destOrd="0" presId="urn:microsoft.com/office/officeart/2005/8/layout/process1"/>
    <dgm:cxn modelId="{EB8BE9CF-43EA-4CDE-9499-977DDF21D103}" type="presParOf" srcId="{471E3FD8-FCCF-4C8D-9015-FB1475DD67D9}" destId="{449ED625-5DEA-42E9-B1C4-286BE49BACD4}" srcOrd="11" destOrd="0" presId="urn:microsoft.com/office/officeart/2005/8/layout/process1"/>
    <dgm:cxn modelId="{506C0D3B-1FC8-4BB1-A966-8CE99C309261}" type="presParOf" srcId="{449ED625-5DEA-42E9-B1C4-286BE49BACD4}" destId="{72EC8527-5096-4CCD-BD99-03859169C9C6}" srcOrd="0" destOrd="0" presId="urn:microsoft.com/office/officeart/2005/8/layout/process1"/>
    <dgm:cxn modelId="{590607C9-7DFB-4041-871A-FD23CAD6771C}" type="presParOf" srcId="{471E3FD8-FCCF-4C8D-9015-FB1475DD67D9}" destId="{9F94C9EA-046F-4009-BDD6-BDBC152E9138}"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E626D4-5B64-4F0E-9257-C1E254E760CA}" type="doc">
      <dgm:prSet loTypeId="urn:microsoft.com/office/officeart/2011/layout/InterconnectedBlockProcess" loCatId="process" qsTypeId="urn:microsoft.com/office/officeart/2005/8/quickstyle/simple1" qsCatId="simple" csTypeId="urn:microsoft.com/office/officeart/2005/8/colors/accent1_4" csCatId="accent1" phldr="1"/>
      <dgm:spPr/>
      <dgm:t>
        <a:bodyPr/>
        <a:lstStyle/>
        <a:p>
          <a:endParaRPr lang="en-MY"/>
        </a:p>
      </dgm:t>
    </dgm:pt>
    <dgm:pt modelId="{408DE436-B014-414F-BC7A-5E8DCBABEE37}">
      <dgm:prSet phldrT="[Text]"/>
      <dgm:spPr/>
      <dgm:t>
        <a:bodyPr/>
        <a:lstStyle/>
        <a:p>
          <a:pPr>
            <a:buNone/>
          </a:pPr>
          <a:r>
            <a:rPr lang="en-MY" b="1" dirty="0">
              <a:latin typeface="Arial" panose="020B0604020202020204" pitchFamily="34" charset="0"/>
              <a:cs typeface="Arial" panose="020B0604020202020204" pitchFamily="34" charset="0"/>
            </a:rPr>
            <a:t>1. SME Development Intelligence</a:t>
          </a:r>
        </a:p>
      </dgm:t>
    </dgm:pt>
    <dgm:pt modelId="{5E9FF0C3-5A7B-420A-9FD6-DC535911C2A4}" type="parTrans" cxnId="{36FB428E-06E5-4302-B683-6EDE2E90B3DF}">
      <dgm:prSet/>
      <dgm:spPr/>
      <dgm:t>
        <a:bodyPr/>
        <a:lstStyle/>
        <a:p>
          <a:endParaRPr lang="en-MY">
            <a:latin typeface="Arial" panose="020B0604020202020204" pitchFamily="34" charset="0"/>
            <a:cs typeface="Arial" panose="020B0604020202020204" pitchFamily="34" charset="0"/>
          </a:endParaRPr>
        </a:p>
      </dgm:t>
    </dgm:pt>
    <dgm:pt modelId="{758A1D09-75E2-4AF7-9BA6-09F6D8F223FA}" type="sibTrans" cxnId="{36FB428E-06E5-4302-B683-6EDE2E90B3DF}">
      <dgm:prSet/>
      <dgm:spPr/>
      <dgm:t>
        <a:bodyPr/>
        <a:lstStyle/>
        <a:p>
          <a:endParaRPr lang="en-MY">
            <a:latin typeface="Arial" panose="020B0604020202020204" pitchFamily="34" charset="0"/>
            <a:cs typeface="Arial" panose="020B0604020202020204" pitchFamily="34" charset="0"/>
          </a:endParaRPr>
        </a:p>
      </dgm:t>
    </dgm:pt>
    <dgm:pt modelId="{1F5F6C83-B080-408B-98CF-3D71EB87E254}">
      <dgm:prSet phldrT="[Text]" custT="1"/>
      <dgm:spPr>
        <a:solidFill>
          <a:schemeClr val="bg2">
            <a:lumMod val="90000"/>
          </a:schemeClr>
        </a:solidFill>
      </dgm:spPr>
      <dgm:t>
        <a:bodyPr/>
        <a:lstStyle/>
        <a:p>
          <a:pPr algn="l">
            <a:buNone/>
          </a:pPr>
          <a:r>
            <a:rPr lang="en-MY" sz="1200" b="1" dirty="0">
              <a:latin typeface="Arial" panose="020B0604020202020204" pitchFamily="34" charset="0"/>
              <a:cs typeface="Arial" panose="020B0604020202020204" pitchFamily="34" charset="0"/>
            </a:rPr>
            <a:t>Track how SMEs progress throughout their development journey.</a:t>
          </a:r>
        </a:p>
      </dgm:t>
    </dgm:pt>
    <dgm:pt modelId="{BCDDC12B-4F97-4A40-9D5D-47434E7284D1}" type="parTrans" cxnId="{03979A5A-E6FF-4162-9C9B-C5011B824EFB}">
      <dgm:prSet/>
      <dgm:spPr/>
      <dgm:t>
        <a:bodyPr/>
        <a:lstStyle/>
        <a:p>
          <a:endParaRPr lang="en-MY">
            <a:latin typeface="Arial" panose="020B0604020202020204" pitchFamily="34" charset="0"/>
            <a:cs typeface="Arial" panose="020B0604020202020204" pitchFamily="34" charset="0"/>
          </a:endParaRPr>
        </a:p>
      </dgm:t>
    </dgm:pt>
    <dgm:pt modelId="{B61604F7-96D1-4DDC-AD00-F5528E3BBE06}" type="sibTrans" cxnId="{03979A5A-E6FF-4162-9C9B-C5011B824EFB}">
      <dgm:prSet/>
      <dgm:spPr/>
      <dgm:t>
        <a:bodyPr/>
        <a:lstStyle/>
        <a:p>
          <a:endParaRPr lang="en-MY">
            <a:latin typeface="Arial" panose="020B0604020202020204" pitchFamily="34" charset="0"/>
            <a:cs typeface="Arial" panose="020B0604020202020204" pitchFamily="34" charset="0"/>
          </a:endParaRPr>
        </a:p>
      </dgm:t>
    </dgm:pt>
    <dgm:pt modelId="{05CF7513-851C-4DE2-A110-3F702F59784F}">
      <dgm:prSet phldrT="[Text]"/>
      <dgm:spPr/>
      <dgm:t>
        <a:bodyPr/>
        <a:lstStyle/>
        <a:p>
          <a:pPr>
            <a:buNone/>
          </a:pPr>
          <a:r>
            <a:rPr lang="en-MY" b="1" dirty="0">
              <a:latin typeface="Arial" panose="020B0604020202020204" pitchFamily="34" charset="0"/>
              <a:cs typeface="Arial" panose="020B0604020202020204" pitchFamily="34" charset="0"/>
            </a:rPr>
            <a:t>2. Programme Performance Analytics</a:t>
          </a:r>
        </a:p>
      </dgm:t>
    </dgm:pt>
    <dgm:pt modelId="{30F04DE8-F2A3-4549-92AF-A94E3D74B83B}" type="parTrans" cxnId="{3CB2E23F-64ED-4656-A59A-34763EF7CAEF}">
      <dgm:prSet/>
      <dgm:spPr/>
      <dgm:t>
        <a:bodyPr/>
        <a:lstStyle/>
        <a:p>
          <a:endParaRPr lang="en-MY">
            <a:latin typeface="Arial" panose="020B0604020202020204" pitchFamily="34" charset="0"/>
            <a:cs typeface="Arial" panose="020B0604020202020204" pitchFamily="34" charset="0"/>
          </a:endParaRPr>
        </a:p>
      </dgm:t>
    </dgm:pt>
    <dgm:pt modelId="{0719E161-003A-471D-BEED-EEFA635D53BA}" type="sibTrans" cxnId="{3CB2E23F-64ED-4656-A59A-34763EF7CAEF}">
      <dgm:prSet/>
      <dgm:spPr/>
      <dgm:t>
        <a:bodyPr/>
        <a:lstStyle/>
        <a:p>
          <a:endParaRPr lang="en-MY">
            <a:latin typeface="Arial" panose="020B0604020202020204" pitchFamily="34" charset="0"/>
            <a:cs typeface="Arial" panose="020B0604020202020204" pitchFamily="34" charset="0"/>
          </a:endParaRPr>
        </a:p>
      </dgm:t>
    </dgm:pt>
    <dgm:pt modelId="{9171ED3B-628E-461E-9BE4-F43A2C051203}">
      <dgm:prSet phldrT="[Text]" custT="1"/>
      <dgm:spPr>
        <a:solidFill>
          <a:schemeClr val="bg2">
            <a:lumMod val="90000"/>
          </a:schemeClr>
        </a:solidFill>
      </dgm:spPr>
      <dgm:t>
        <a:bodyPr/>
        <a:lstStyle/>
        <a:p>
          <a:pPr algn="l">
            <a:buNone/>
          </a:pPr>
          <a:r>
            <a:rPr lang="en-MY" sz="1200" b="1" dirty="0">
              <a:latin typeface="Arial" panose="020B0604020202020204" pitchFamily="34" charset="0"/>
              <a:cs typeface="Arial" panose="020B0604020202020204" pitchFamily="34" charset="0"/>
            </a:rPr>
            <a:t>Evaluate the effectiveness of developmental programmes.</a:t>
          </a:r>
        </a:p>
      </dgm:t>
    </dgm:pt>
    <dgm:pt modelId="{FDA26804-D68B-4223-8325-C8A39D5DFE22}" type="parTrans" cxnId="{3F8CD7CD-D4EE-40B5-A8DE-D3C32B44AEE5}">
      <dgm:prSet/>
      <dgm:spPr/>
      <dgm:t>
        <a:bodyPr/>
        <a:lstStyle/>
        <a:p>
          <a:endParaRPr lang="en-MY">
            <a:latin typeface="Arial" panose="020B0604020202020204" pitchFamily="34" charset="0"/>
            <a:cs typeface="Arial" panose="020B0604020202020204" pitchFamily="34" charset="0"/>
          </a:endParaRPr>
        </a:p>
      </dgm:t>
    </dgm:pt>
    <dgm:pt modelId="{B5A0E1EC-6A59-424E-BFFA-5B12C8E98406}" type="sibTrans" cxnId="{3F8CD7CD-D4EE-40B5-A8DE-D3C32B44AEE5}">
      <dgm:prSet/>
      <dgm:spPr/>
      <dgm:t>
        <a:bodyPr/>
        <a:lstStyle/>
        <a:p>
          <a:endParaRPr lang="en-MY">
            <a:latin typeface="Arial" panose="020B0604020202020204" pitchFamily="34" charset="0"/>
            <a:cs typeface="Arial" panose="020B0604020202020204" pitchFamily="34" charset="0"/>
          </a:endParaRPr>
        </a:p>
      </dgm:t>
    </dgm:pt>
    <dgm:pt modelId="{D282FDCC-ABD9-4EFC-91FE-B2FE3244F48B}">
      <dgm:prSet phldrT="[Text]"/>
      <dgm:spPr/>
      <dgm:t>
        <a:bodyPr/>
        <a:lstStyle/>
        <a:p>
          <a:pPr>
            <a:buNone/>
          </a:pPr>
          <a:r>
            <a:rPr lang="en-MY" b="1" dirty="0">
              <a:latin typeface="Arial" panose="020B0604020202020204" pitchFamily="34" charset="0"/>
              <a:cs typeface="Arial" panose="020B0604020202020204" pitchFamily="34" charset="0"/>
            </a:rPr>
            <a:t>3. Ecosystem Intelligence</a:t>
          </a:r>
        </a:p>
      </dgm:t>
    </dgm:pt>
    <dgm:pt modelId="{4BC79922-1C3F-4B83-AD4E-6A0A016B98D0}" type="parTrans" cxnId="{CA89D887-51AD-43F9-8D7A-F10E23498F4D}">
      <dgm:prSet/>
      <dgm:spPr/>
      <dgm:t>
        <a:bodyPr/>
        <a:lstStyle/>
        <a:p>
          <a:endParaRPr lang="en-MY">
            <a:latin typeface="Arial" panose="020B0604020202020204" pitchFamily="34" charset="0"/>
            <a:cs typeface="Arial" panose="020B0604020202020204" pitchFamily="34" charset="0"/>
          </a:endParaRPr>
        </a:p>
      </dgm:t>
    </dgm:pt>
    <dgm:pt modelId="{5CB55402-D19B-4033-A62E-CA16740FCD84}" type="sibTrans" cxnId="{CA89D887-51AD-43F9-8D7A-F10E23498F4D}">
      <dgm:prSet/>
      <dgm:spPr/>
      <dgm:t>
        <a:bodyPr/>
        <a:lstStyle/>
        <a:p>
          <a:endParaRPr lang="en-MY">
            <a:latin typeface="Arial" panose="020B0604020202020204" pitchFamily="34" charset="0"/>
            <a:cs typeface="Arial" panose="020B0604020202020204" pitchFamily="34" charset="0"/>
          </a:endParaRPr>
        </a:p>
      </dgm:t>
    </dgm:pt>
    <dgm:pt modelId="{DF866EB0-789F-455B-9176-7EDE0AA3DB04}">
      <dgm:prSet phldrT="[Text]" custT="1"/>
      <dgm:spPr>
        <a:solidFill>
          <a:schemeClr val="bg2">
            <a:lumMod val="90000"/>
          </a:schemeClr>
        </a:solidFill>
      </dgm:spPr>
      <dgm:t>
        <a:bodyPr/>
        <a:lstStyle/>
        <a:p>
          <a:pPr algn="l">
            <a:buNone/>
          </a:pPr>
          <a:r>
            <a:rPr lang="en-MY" sz="1200" b="1" dirty="0">
              <a:latin typeface="Arial" panose="020B0604020202020204" pitchFamily="34" charset="0"/>
              <a:cs typeface="Arial" panose="020B0604020202020204" pitchFamily="34" charset="0"/>
            </a:rPr>
            <a:t>Support Industry Engagement with evidence-based insights.</a:t>
          </a:r>
        </a:p>
      </dgm:t>
    </dgm:pt>
    <dgm:pt modelId="{18E71C4F-90F2-49B0-A738-8F636492AF38}" type="parTrans" cxnId="{466211D1-B48C-49F1-A8F6-68C95108004A}">
      <dgm:prSet/>
      <dgm:spPr/>
      <dgm:t>
        <a:bodyPr/>
        <a:lstStyle/>
        <a:p>
          <a:endParaRPr lang="en-MY">
            <a:latin typeface="Arial" panose="020B0604020202020204" pitchFamily="34" charset="0"/>
            <a:cs typeface="Arial" panose="020B0604020202020204" pitchFamily="34" charset="0"/>
          </a:endParaRPr>
        </a:p>
      </dgm:t>
    </dgm:pt>
    <dgm:pt modelId="{317A35BF-9EFF-4090-B723-B32DB7EE0A85}" type="sibTrans" cxnId="{466211D1-B48C-49F1-A8F6-68C95108004A}">
      <dgm:prSet/>
      <dgm:spPr/>
      <dgm:t>
        <a:bodyPr/>
        <a:lstStyle/>
        <a:p>
          <a:endParaRPr lang="en-MY">
            <a:latin typeface="Arial" panose="020B0604020202020204" pitchFamily="34" charset="0"/>
            <a:cs typeface="Arial" panose="020B0604020202020204" pitchFamily="34" charset="0"/>
          </a:endParaRPr>
        </a:p>
      </dgm:t>
    </dgm:pt>
    <dgm:pt modelId="{715FC222-1D1B-43D0-AEA6-F07623553FCA}">
      <dgm:prSet custT="1"/>
      <dgm:spPr>
        <a:solidFill>
          <a:schemeClr val="bg2">
            <a:lumMod val="90000"/>
          </a:schemeClr>
        </a:solidFill>
      </dgm:spPr>
      <dgm:t>
        <a:bodyPr/>
        <a:lstStyle/>
        <a:p>
          <a:pPr algn="l">
            <a:buNone/>
          </a:pPr>
          <a:endParaRPr lang="en-MY" sz="1200" dirty="0">
            <a:latin typeface="Arial" panose="020B0604020202020204" pitchFamily="34" charset="0"/>
            <a:cs typeface="Arial" panose="020B0604020202020204" pitchFamily="34" charset="0"/>
          </a:endParaRPr>
        </a:p>
        <a:p>
          <a:pPr algn="l">
            <a:buNone/>
          </a:pPr>
          <a:r>
            <a:rPr lang="en-MY" sz="1200" dirty="0">
              <a:latin typeface="Arial" panose="020B0604020202020204" pitchFamily="34" charset="0"/>
              <a:cs typeface="Arial" panose="020B0604020202020204" pitchFamily="34" charset="0"/>
            </a:rPr>
            <a:t>Examples include:</a:t>
          </a:r>
        </a:p>
      </dgm:t>
    </dgm:pt>
    <dgm:pt modelId="{4EB875A9-A777-4570-B7B1-9006662A8ED6}" type="parTrans" cxnId="{1929F0C3-DAC0-42E2-A71B-83506AD9C6E1}">
      <dgm:prSet/>
      <dgm:spPr/>
      <dgm:t>
        <a:bodyPr/>
        <a:lstStyle/>
        <a:p>
          <a:endParaRPr lang="en-MY">
            <a:latin typeface="Arial" panose="020B0604020202020204" pitchFamily="34" charset="0"/>
            <a:cs typeface="Arial" panose="020B0604020202020204" pitchFamily="34" charset="0"/>
          </a:endParaRPr>
        </a:p>
      </dgm:t>
    </dgm:pt>
    <dgm:pt modelId="{9988BB4F-DE65-462E-B2F2-3D6293027CBC}" type="sibTrans" cxnId="{1929F0C3-DAC0-42E2-A71B-83506AD9C6E1}">
      <dgm:prSet/>
      <dgm:spPr/>
      <dgm:t>
        <a:bodyPr/>
        <a:lstStyle/>
        <a:p>
          <a:endParaRPr lang="en-MY">
            <a:latin typeface="Arial" panose="020B0604020202020204" pitchFamily="34" charset="0"/>
            <a:cs typeface="Arial" panose="020B0604020202020204" pitchFamily="34" charset="0"/>
          </a:endParaRPr>
        </a:p>
      </dgm:t>
    </dgm:pt>
    <dgm:pt modelId="{66E10248-0DD3-4027-B77A-F794ADB260E0}">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SME maturity assessment </a:t>
          </a:r>
        </a:p>
      </dgm:t>
    </dgm:pt>
    <dgm:pt modelId="{A71EB8EA-7148-4EC6-8161-E9D38E2851BD}" type="parTrans" cxnId="{B93A129B-6257-4E09-8A7C-A1CEAACBDCF3}">
      <dgm:prSet/>
      <dgm:spPr/>
      <dgm:t>
        <a:bodyPr/>
        <a:lstStyle/>
        <a:p>
          <a:endParaRPr lang="en-MY">
            <a:latin typeface="Arial" panose="020B0604020202020204" pitchFamily="34" charset="0"/>
            <a:cs typeface="Arial" panose="020B0604020202020204" pitchFamily="34" charset="0"/>
          </a:endParaRPr>
        </a:p>
      </dgm:t>
    </dgm:pt>
    <dgm:pt modelId="{CAB6F0DC-CF46-4EDC-B824-6F8C7155EA8B}" type="sibTrans" cxnId="{B93A129B-6257-4E09-8A7C-A1CEAACBDCF3}">
      <dgm:prSet/>
      <dgm:spPr/>
      <dgm:t>
        <a:bodyPr/>
        <a:lstStyle/>
        <a:p>
          <a:endParaRPr lang="en-MY">
            <a:latin typeface="Arial" panose="020B0604020202020204" pitchFamily="34" charset="0"/>
            <a:cs typeface="Arial" panose="020B0604020202020204" pitchFamily="34" charset="0"/>
          </a:endParaRPr>
        </a:p>
      </dgm:t>
    </dgm:pt>
    <dgm:pt modelId="{2CD94B5B-69AA-4D66-BB4C-A1EDC9E4457E}">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Growth stage profiling </a:t>
          </a:r>
        </a:p>
      </dgm:t>
    </dgm:pt>
    <dgm:pt modelId="{69031FE9-9F9B-4F3B-A1B4-78A810A2DCDE}" type="parTrans" cxnId="{0498E77A-1FCB-4A8D-A7BC-C00C5B3E34E3}">
      <dgm:prSet/>
      <dgm:spPr/>
      <dgm:t>
        <a:bodyPr/>
        <a:lstStyle/>
        <a:p>
          <a:endParaRPr lang="en-MY">
            <a:latin typeface="Arial" panose="020B0604020202020204" pitchFamily="34" charset="0"/>
            <a:cs typeface="Arial" panose="020B0604020202020204" pitchFamily="34" charset="0"/>
          </a:endParaRPr>
        </a:p>
      </dgm:t>
    </dgm:pt>
    <dgm:pt modelId="{BA2FF050-63A3-4430-88B9-28A905AA04FF}" type="sibTrans" cxnId="{0498E77A-1FCB-4A8D-A7BC-C00C5B3E34E3}">
      <dgm:prSet/>
      <dgm:spPr/>
      <dgm:t>
        <a:bodyPr/>
        <a:lstStyle/>
        <a:p>
          <a:endParaRPr lang="en-MY">
            <a:latin typeface="Arial" panose="020B0604020202020204" pitchFamily="34" charset="0"/>
            <a:cs typeface="Arial" panose="020B0604020202020204" pitchFamily="34" charset="0"/>
          </a:endParaRPr>
        </a:p>
      </dgm:t>
    </dgm:pt>
    <dgm:pt modelId="{AA2C1A54-39C0-4C41-BB42-EB92FA97866C}">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Readiness assessments </a:t>
          </a:r>
        </a:p>
      </dgm:t>
    </dgm:pt>
    <dgm:pt modelId="{9DFCA19D-89A2-44E8-98D3-0BA0EFC956C5}" type="parTrans" cxnId="{585B7392-A0BD-40ED-BCF3-EA4D43C1E5D1}">
      <dgm:prSet/>
      <dgm:spPr/>
      <dgm:t>
        <a:bodyPr/>
        <a:lstStyle/>
        <a:p>
          <a:endParaRPr lang="en-MY">
            <a:latin typeface="Arial" panose="020B0604020202020204" pitchFamily="34" charset="0"/>
            <a:cs typeface="Arial" panose="020B0604020202020204" pitchFamily="34" charset="0"/>
          </a:endParaRPr>
        </a:p>
      </dgm:t>
    </dgm:pt>
    <dgm:pt modelId="{6967C017-FD39-4A78-A60C-09AFAC4CF100}" type="sibTrans" cxnId="{585B7392-A0BD-40ED-BCF3-EA4D43C1E5D1}">
      <dgm:prSet/>
      <dgm:spPr/>
      <dgm:t>
        <a:bodyPr/>
        <a:lstStyle/>
        <a:p>
          <a:endParaRPr lang="en-MY">
            <a:latin typeface="Arial" panose="020B0604020202020204" pitchFamily="34" charset="0"/>
            <a:cs typeface="Arial" panose="020B0604020202020204" pitchFamily="34" charset="0"/>
          </a:endParaRPr>
        </a:p>
      </dgm:t>
    </dgm:pt>
    <dgm:pt modelId="{D8CB323E-0312-458A-9C84-338ADBEFA5E8}">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Business capability gaps </a:t>
          </a:r>
        </a:p>
      </dgm:t>
    </dgm:pt>
    <dgm:pt modelId="{DE833D2F-D704-4237-9FBA-7DB1BAEA345A}" type="parTrans" cxnId="{57616745-A441-48DF-BC33-4D20E3567CC2}">
      <dgm:prSet/>
      <dgm:spPr/>
      <dgm:t>
        <a:bodyPr/>
        <a:lstStyle/>
        <a:p>
          <a:endParaRPr lang="en-MY">
            <a:latin typeface="Arial" panose="020B0604020202020204" pitchFamily="34" charset="0"/>
            <a:cs typeface="Arial" panose="020B0604020202020204" pitchFamily="34" charset="0"/>
          </a:endParaRPr>
        </a:p>
      </dgm:t>
    </dgm:pt>
    <dgm:pt modelId="{82A1FD9F-4BCC-4E0E-BEFA-8AA840FD2E8E}" type="sibTrans" cxnId="{57616745-A441-48DF-BC33-4D20E3567CC2}">
      <dgm:prSet/>
      <dgm:spPr/>
      <dgm:t>
        <a:bodyPr/>
        <a:lstStyle/>
        <a:p>
          <a:endParaRPr lang="en-MY">
            <a:latin typeface="Arial" panose="020B0604020202020204" pitchFamily="34" charset="0"/>
            <a:cs typeface="Arial" panose="020B0604020202020204" pitchFamily="34" charset="0"/>
          </a:endParaRPr>
        </a:p>
      </dgm:t>
    </dgm:pt>
    <dgm:pt modelId="{33277BD3-2092-402B-B060-C1A446B67000}">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Graduation readiness </a:t>
          </a:r>
        </a:p>
      </dgm:t>
    </dgm:pt>
    <dgm:pt modelId="{A2FEAE0E-1340-4DAC-973D-A02BF4542C91}" type="parTrans" cxnId="{7A6F3E07-D7AC-49B1-8DAA-EF594E4DDCA0}">
      <dgm:prSet/>
      <dgm:spPr/>
      <dgm:t>
        <a:bodyPr/>
        <a:lstStyle/>
        <a:p>
          <a:endParaRPr lang="en-MY">
            <a:latin typeface="Arial" panose="020B0604020202020204" pitchFamily="34" charset="0"/>
            <a:cs typeface="Arial" panose="020B0604020202020204" pitchFamily="34" charset="0"/>
          </a:endParaRPr>
        </a:p>
      </dgm:t>
    </dgm:pt>
    <dgm:pt modelId="{DA43FD62-4538-4454-9C80-F3C73E8F582B}" type="sibTrans" cxnId="{7A6F3E07-D7AC-49B1-8DAA-EF594E4DDCA0}">
      <dgm:prSet/>
      <dgm:spPr/>
      <dgm:t>
        <a:bodyPr/>
        <a:lstStyle/>
        <a:p>
          <a:endParaRPr lang="en-MY">
            <a:latin typeface="Arial" panose="020B0604020202020204" pitchFamily="34" charset="0"/>
            <a:cs typeface="Arial" panose="020B0604020202020204" pitchFamily="34" charset="0"/>
          </a:endParaRPr>
        </a:p>
      </dgm:t>
    </dgm:pt>
    <dgm:pt modelId="{FDA5C0C4-BE66-40DD-98DA-283422A4549F}">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Export readiness </a:t>
          </a:r>
        </a:p>
      </dgm:t>
    </dgm:pt>
    <dgm:pt modelId="{63D7B3A7-1573-4357-BDC2-C2C2FEF0E655}" type="parTrans" cxnId="{AFA19459-2BCE-4D0E-9F2E-06C5E849A4D1}">
      <dgm:prSet/>
      <dgm:spPr/>
      <dgm:t>
        <a:bodyPr/>
        <a:lstStyle/>
        <a:p>
          <a:endParaRPr lang="en-MY">
            <a:latin typeface="Arial" panose="020B0604020202020204" pitchFamily="34" charset="0"/>
            <a:cs typeface="Arial" panose="020B0604020202020204" pitchFamily="34" charset="0"/>
          </a:endParaRPr>
        </a:p>
      </dgm:t>
    </dgm:pt>
    <dgm:pt modelId="{86079CF2-D52E-41FB-960A-6435BF8FA4EF}" type="sibTrans" cxnId="{AFA19459-2BCE-4D0E-9F2E-06C5E849A4D1}">
      <dgm:prSet/>
      <dgm:spPr/>
      <dgm:t>
        <a:bodyPr/>
        <a:lstStyle/>
        <a:p>
          <a:endParaRPr lang="en-MY">
            <a:latin typeface="Arial" panose="020B0604020202020204" pitchFamily="34" charset="0"/>
            <a:cs typeface="Arial" panose="020B0604020202020204" pitchFamily="34" charset="0"/>
          </a:endParaRPr>
        </a:p>
      </dgm:t>
    </dgm:pt>
    <dgm:pt modelId="{F1F4B5DE-B146-4E2C-8830-2680D4433A80}">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Digital readiness </a:t>
          </a:r>
        </a:p>
      </dgm:t>
    </dgm:pt>
    <dgm:pt modelId="{220689B1-C2E1-4855-BAD1-A2E55F73C12D}" type="parTrans" cxnId="{D1571BFB-A627-412E-8446-7EFC9EF0FC70}">
      <dgm:prSet/>
      <dgm:spPr/>
      <dgm:t>
        <a:bodyPr/>
        <a:lstStyle/>
        <a:p>
          <a:endParaRPr lang="en-MY">
            <a:latin typeface="Arial" panose="020B0604020202020204" pitchFamily="34" charset="0"/>
            <a:cs typeface="Arial" panose="020B0604020202020204" pitchFamily="34" charset="0"/>
          </a:endParaRPr>
        </a:p>
      </dgm:t>
    </dgm:pt>
    <dgm:pt modelId="{BDC84954-292B-43C1-AD68-C054F47AFEAD}" type="sibTrans" cxnId="{D1571BFB-A627-412E-8446-7EFC9EF0FC70}">
      <dgm:prSet/>
      <dgm:spPr/>
      <dgm:t>
        <a:bodyPr/>
        <a:lstStyle/>
        <a:p>
          <a:endParaRPr lang="en-MY">
            <a:latin typeface="Arial" panose="020B0604020202020204" pitchFamily="34" charset="0"/>
            <a:cs typeface="Arial" panose="020B0604020202020204" pitchFamily="34" charset="0"/>
          </a:endParaRPr>
        </a:p>
      </dgm:t>
    </dgm:pt>
    <dgm:pt modelId="{2D3D735F-36EE-44EB-BD73-83AB3D8B684B}">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ESG readiness</a:t>
          </a:r>
        </a:p>
      </dgm:t>
    </dgm:pt>
    <dgm:pt modelId="{DFBF577A-32EA-4E47-AB93-F215A7F9ED53}" type="parTrans" cxnId="{D41CD0F9-DE53-466A-8437-9A687A2FB71C}">
      <dgm:prSet/>
      <dgm:spPr/>
      <dgm:t>
        <a:bodyPr/>
        <a:lstStyle/>
        <a:p>
          <a:endParaRPr lang="en-MY">
            <a:latin typeface="Arial" panose="020B0604020202020204" pitchFamily="34" charset="0"/>
            <a:cs typeface="Arial" panose="020B0604020202020204" pitchFamily="34" charset="0"/>
          </a:endParaRPr>
        </a:p>
      </dgm:t>
    </dgm:pt>
    <dgm:pt modelId="{28C05BB2-4F47-48E0-A211-9BB81019C77A}" type="sibTrans" cxnId="{D41CD0F9-DE53-466A-8437-9A687A2FB71C}">
      <dgm:prSet/>
      <dgm:spPr/>
      <dgm:t>
        <a:bodyPr/>
        <a:lstStyle/>
        <a:p>
          <a:endParaRPr lang="en-MY">
            <a:latin typeface="Arial" panose="020B0604020202020204" pitchFamily="34" charset="0"/>
            <a:cs typeface="Arial" panose="020B0604020202020204" pitchFamily="34" charset="0"/>
          </a:endParaRPr>
        </a:p>
      </dgm:t>
    </dgm:pt>
    <dgm:pt modelId="{783D9899-6419-48EB-8D5D-5CBB775A7165}">
      <dgm:prSet custT="1"/>
      <dgm:spPr>
        <a:solidFill>
          <a:schemeClr val="bg2">
            <a:lumMod val="90000"/>
          </a:schemeClr>
        </a:solidFill>
      </dgm:spPr>
      <dgm:t>
        <a:bodyPr/>
        <a:lstStyle/>
        <a:p>
          <a:pPr algn="l">
            <a:buNone/>
          </a:pPr>
          <a:endParaRPr lang="en-MY" sz="1200" dirty="0">
            <a:latin typeface="Arial" panose="020B0604020202020204" pitchFamily="34" charset="0"/>
            <a:cs typeface="Arial" panose="020B0604020202020204" pitchFamily="34" charset="0"/>
          </a:endParaRPr>
        </a:p>
        <a:p>
          <a:pPr algn="l">
            <a:buNone/>
          </a:pPr>
          <a:r>
            <a:rPr lang="en-MY" sz="1200" dirty="0">
              <a:latin typeface="Arial" panose="020B0604020202020204" pitchFamily="34" charset="0"/>
              <a:cs typeface="Arial" panose="020B0604020202020204" pitchFamily="34" charset="0"/>
            </a:rPr>
            <a:t>Examples:</a:t>
          </a:r>
        </a:p>
      </dgm:t>
    </dgm:pt>
    <dgm:pt modelId="{3C88958B-E237-4962-B292-0E1D972C524C}" type="parTrans" cxnId="{FBCA9F3C-D1C9-4679-A7DE-B40F2428C7E7}">
      <dgm:prSet/>
      <dgm:spPr/>
      <dgm:t>
        <a:bodyPr/>
        <a:lstStyle/>
        <a:p>
          <a:endParaRPr lang="en-MY">
            <a:latin typeface="Arial" panose="020B0604020202020204" pitchFamily="34" charset="0"/>
            <a:cs typeface="Arial" panose="020B0604020202020204" pitchFamily="34" charset="0"/>
          </a:endParaRPr>
        </a:p>
      </dgm:t>
    </dgm:pt>
    <dgm:pt modelId="{943E698B-AC1D-4CAE-B501-EFEEB4C62AB0}" type="sibTrans" cxnId="{FBCA9F3C-D1C9-4679-A7DE-B40F2428C7E7}">
      <dgm:prSet/>
      <dgm:spPr/>
      <dgm:t>
        <a:bodyPr/>
        <a:lstStyle/>
        <a:p>
          <a:endParaRPr lang="en-MY">
            <a:latin typeface="Arial" panose="020B0604020202020204" pitchFamily="34" charset="0"/>
            <a:cs typeface="Arial" panose="020B0604020202020204" pitchFamily="34" charset="0"/>
          </a:endParaRPr>
        </a:p>
      </dgm:t>
    </dgm:pt>
    <dgm:pt modelId="{3CCCFBAC-6407-4B68-9356-EEBF1E3FFFAC}">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Which advisory programmes work best? </a:t>
          </a:r>
        </a:p>
      </dgm:t>
    </dgm:pt>
    <dgm:pt modelId="{CF24D897-0D41-4862-BC71-5080BB19FE26}" type="parTrans" cxnId="{FB4149C0-0145-4A33-93B3-BC85756ACA0A}">
      <dgm:prSet/>
      <dgm:spPr/>
      <dgm:t>
        <a:bodyPr/>
        <a:lstStyle/>
        <a:p>
          <a:endParaRPr lang="en-MY">
            <a:latin typeface="Arial" panose="020B0604020202020204" pitchFamily="34" charset="0"/>
            <a:cs typeface="Arial" panose="020B0604020202020204" pitchFamily="34" charset="0"/>
          </a:endParaRPr>
        </a:p>
      </dgm:t>
    </dgm:pt>
    <dgm:pt modelId="{1C693A27-5B5F-40D6-8FD1-C845EE00FDBA}" type="sibTrans" cxnId="{FB4149C0-0145-4A33-93B3-BC85756ACA0A}">
      <dgm:prSet/>
      <dgm:spPr/>
      <dgm:t>
        <a:bodyPr/>
        <a:lstStyle/>
        <a:p>
          <a:endParaRPr lang="en-MY">
            <a:latin typeface="Arial" panose="020B0604020202020204" pitchFamily="34" charset="0"/>
            <a:cs typeface="Arial" panose="020B0604020202020204" pitchFamily="34" charset="0"/>
          </a:endParaRPr>
        </a:p>
      </dgm:t>
    </dgm:pt>
    <dgm:pt modelId="{7E90B6EF-0B88-49B0-8244-1FAE9B621AED}">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Which coaching models deliver the strongest results? </a:t>
          </a:r>
        </a:p>
      </dgm:t>
    </dgm:pt>
    <dgm:pt modelId="{9339B9F3-EB60-4FA6-BEDB-17219250EE15}" type="parTrans" cxnId="{04DF6674-186E-499C-A333-A5A65119F26F}">
      <dgm:prSet/>
      <dgm:spPr/>
      <dgm:t>
        <a:bodyPr/>
        <a:lstStyle/>
        <a:p>
          <a:endParaRPr lang="en-MY">
            <a:latin typeface="Arial" panose="020B0604020202020204" pitchFamily="34" charset="0"/>
            <a:cs typeface="Arial" panose="020B0604020202020204" pitchFamily="34" charset="0"/>
          </a:endParaRPr>
        </a:p>
      </dgm:t>
    </dgm:pt>
    <dgm:pt modelId="{D0C1A2E8-5A36-4962-8DFE-22A96E28651D}" type="sibTrans" cxnId="{04DF6674-186E-499C-A333-A5A65119F26F}">
      <dgm:prSet/>
      <dgm:spPr/>
      <dgm:t>
        <a:bodyPr/>
        <a:lstStyle/>
        <a:p>
          <a:endParaRPr lang="en-MY">
            <a:latin typeface="Arial" panose="020B0604020202020204" pitchFamily="34" charset="0"/>
            <a:cs typeface="Arial" panose="020B0604020202020204" pitchFamily="34" charset="0"/>
          </a:endParaRPr>
        </a:p>
      </dgm:t>
    </dgm:pt>
    <dgm:pt modelId="{C1628B67-6CBC-4084-A7F7-311C9C9AD988}">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Which industries achieve the highest growth? </a:t>
          </a:r>
        </a:p>
      </dgm:t>
    </dgm:pt>
    <dgm:pt modelId="{C86DEE41-247B-4EDB-ADB0-4B023E2138FC}" type="parTrans" cxnId="{3E66AA6F-1B50-45F0-B4DA-DAA61E6795B2}">
      <dgm:prSet/>
      <dgm:spPr/>
      <dgm:t>
        <a:bodyPr/>
        <a:lstStyle/>
        <a:p>
          <a:endParaRPr lang="en-MY">
            <a:latin typeface="Arial" panose="020B0604020202020204" pitchFamily="34" charset="0"/>
            <a:cs typeface="Arial" panose="020B0604020202020204" pitchFamily="34" charset="0"/>
          </a:endParaRPr>
        </a:p>
      </dgm:t>
    </dgm:pt>
    <dgm:pt modelId="{86379802-31B8-4D21-81AB-800C92E103C9}" type="sibTrans" cxnId="{3E66AA6F-1B50-45F0-B4DA-DAA61E6795B2}">
      <dgm:prSet/>
      <dgm:spPr/>
      <dgm:t>
        <a:bodyPr/>
        <a:lstStyle/>
        <a:p>
          <a:endParaRPr lang="en-MY">
            <a:latin typeface="Arial" panose="020B0604020202020204" pitchFamily="34" charset="0"/>
            <a:cs typeface="Arial" panose="020B0604020202020204" pitchFamily="34" charset="0"/>
          </a:endParaRPr>
        </a:p>
      </dgm:t>
    </dgm:pt>
    <dgm:pt modelId="{057FEB68-F6D1-4412-8587-DD299E22A48B}">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Which interventions should be expanded or redesigned</a:t>
          </a:r>
          <a:r>
            <a:rPr lang="en-MY" sz="900" dirty="0">
              <a:latin typeface="Arial" panose="020B0604020202020204" pitchFamily="34" charset="0"/>
              <a:cs typeface="Arial" panose="020B0604020202020204" pitchFamily="34" charset="0"/>
            </a:rPr>
            <a:t>?</a:t>
          </a:r>
        </a:p>
      </dgm:t>
    </dgm:pt>
    <dgm:pt modelId="{83CBDBA7-5EC8-4C80-B989-AEC3CF798CF4}" type="parTrans" cxnId="{23642DF7-0EC6-4161-BC13-6C75167C979A}">
      <dgm:prSet/>
      <dgm:spPr/>
      <dgm:t>
        <a:bodyPr/>
        <a:lstStyle/>
        <a:p>
          <a:endParaRPr lang="en-MY">
            <a:latin typeface="Arial" panose="020B0604020202020204" pitchFamily="34" charset="0"/>
            <a:cs typeface="Arial" panose="020B0604020202020204" pitchFamily="34" charset="0"/>
          </a:endParaRPr>
        </a:p>
      </dgm:t>
    </dgm:pt>
    <dgm:pt modelId="{95A03B16-A974-4344-9C5E-110E77C9A788}" type="sibTrans" cxnId="{23642DF7-0EC6-4161-BC13-6C75167C979A}">
      <dgm:prSet/>
      <dgm:spPr/>
      <dgm:t>
        <a:bodyPr/>
        <a:lstStyle/>
        <a:p>
          <a:endParaRPr lang="en-MY">
            <a:latin typeface="Arial" panose="020B0604020202020204" pitchFamily="34" charset="0"/>
            <a:cs typeface="Arial" panose="020B0604020202020204" pitchFamily="34" charset="0"/>
          </a:endParaRPr>
        </a:p>
      </dgm:t>
    </dgm:pt>
    <dgm:pt modelId="{9DDF0EF1-E653-41D8-9C4E-38A1B109C3F9}">
      <dgm:prSet phldrT="[Text]"/>
      <dgm:spPr/>
      <dgm:t>
        <a:bodyPr/>
        <a:lstStyle/>
        <a:p>
          <a:pPr>
            <a:buNone/>
          </a:pPr>
          <a:r>
            <a:rPr lang="en-MY" b="1" dirty="0">
              <a:latin typeface="Arial" panose="020B0604020202020204" pitchFamily="34" charset="0"/>
              <a:cs typeface="Arial" panose="020B0604020202020204" pitchFamily="34" charset="0"/>
            </a:rPr>
            <a:t>4. Development Portfolio Analytics</a:t>
          </a:r>
        </a:p>
      </dgm:t>
    </dgm:pt>
    <dgm:pt modelId="{E27F2756-41A6-4FCB-BDA3-ABA9FCD5950C}" type="parTrans" cxnId="{ABDE15FA-C1C1-4A36-88EC-FDB4FFE91947}">
      <dgm:prSet/>
      <dgm:spPr/>
      <dgm:t>
        <a:bodyPr/>
        <a:lstStyle/>
        <a:p>
          <a:endParaRPr lang="en-MY">
            <a:latin typeface="Arial" panose="020B0604020202020204" pitchFamily="34" charset="0"/>
            <a:cs typeface="Arial" panose="020B0604020202020204" pitchFamily="34" charset="0"/>
          </a:endParaRPr>
        </a:p>
      </dgm:t>
    </dgm:pt>
    <dgm:pt modelId="{EC1BE2E1-F0E8-44F8-B9EA-31E59F91C600}" type="sibTrans" cxnId="{ABDE15FA-C1C1-4A36-88EC-FDB4FFE91947}">
      <dgm:prSet/>
      <dgm:spPr/>
      <dgm:t>
        <a:bodyPr/>
        <a:lstStyle/>
        <a:p>
          <a:endParaRPr lang="en-MY">
            <a:latin typeface="Arial" panose="020B0604020202020204" pitchFamily="34" charset="0"/>
            <a:cs typeface="Arial" panose="020B0604020202020204" pitchFamily="34" charset="0"/>
          </a:endParaRPr>
        </a:p>
      </dgm:t>
    </dgm:pt>
    <dgm:pt modelId="{554FBAC3-840C-4CEF-AAFD-8A83A61CB4B5}">
      <dgm:prSet phldrT="[Text]"/>
      <dgm:spPr/>
      <dgm:t>
        <a:bodyPr/>
        <a:lstStyle/>
        <a:p>
          <a:pPr>
            <a:buNone/>
          </a:pPr>
          <a:r>
            <a:rPr lang="en-MY" b="1" dirty="0">
              <a:latin typeface="Arial" panose="020B0604020202020204" pitchFamily="34" charset="0"/>
              <a:cs typeface="Arial" panose="020B0604020202020204" pitchFamily="34" charset="0"/>
            </a:rPr>
            <a:t>5. Strategic Development Insights</a:t>
          </a:r>
        </a:p>
      </dgm:t>
    </dgm:pt>
    <dgm:pt modelId="{855220E7-A757-4914-A2D0-A6D1223E21C5}" type="parTrans" cxnId="{30CF711E-BF29-445D-9D1A-5F5F0C8F5E5F}">
      <dgm:prSet/>
      <dgm:spPr/>
      <dgm:t>
        <a:bodyPr/>
        <a:lstStyle/>
        <a:p>
          <a:endParaRPr lang="en-MY">
            <a:latin typeface="Arial" panose="020B0604020202020204" pitchFamily="34" charset="0"/>
            <a:cs typeface="Arial" panose="020B0604020202020204" pitchFamily="34" charset="0"/>
          </a:endParaRPr>
        </a:p>
      </dgm:t>
    </dgm:pt>
    <dgm:pt modelId="{E229ED44-7E6B-4F78-A39F-3EBBDBAAEA6B}" type="sibTrans" cxnId="{30CF711E-BF29-445D-9D1A-5F5F0C8F5E5F}">
      <dgm:prSet/>
      <dgm:spPr/>
      <dgm:t>
        <a:bodyPr/>
        <a:lstStyle/>
        <a:p>
          <a:endParaRPr lang="en-MY">
            <a:latin typeface="Arial" panose="020B0604020202020204" pitchFamily="34" charset="0"/>
            <a:cs typeface="Arial" panose="020B0604020202020204" pitchFamily="34" charset="0"/>
          </a:endParaRPr>
        </a:p>
      </dgm:t>
    </dgm:pt>
    <dgm:pt modelId="{E47999BA-EE98-40BF-874B-CCD64AAD882D}">
      <dgm:prSet custT="1"/>
      <dgm:spPr>
        <a:solidFill>
          <a:schemeClr val="bg2">
            <a:lumMod val="90000"/>
          </a:schemeClr>
        </a:solidFill>
      </dgm:spPr>
      <dgm:t>
        <a:bodyPr/>
        <a:lstStyle/>
        <a:p>
          <a:pPr algn="l">
            <a:buNone/>
          </a:pPr>
          <a:endParaRPr lang="en-MY" sz="1200" dirty="0">
            <a:latin typeface="Arial" panose="020B0604020202020204" pitchFamily="34" charset="0"/>
            <a:cs typeface="Arial" panose="020B0604020202020204" pitchFamily="34" charset="0"/>
          </a:endParaRPr>
        </a:p>
        <a:p>
          <a:pPr algn="l">
            <a:buNone/>
          </a:pPr>
          <a:r>
            <a:rPr lang="en-MY" sz="1200" dirty="0">
              <a:latin typeface="Arial" panose="020B0604020202020204" pitchFamily="34" charset="0"/>
              <a:cs typeface="Arial" panose="020B0604020202020204" pitchFamily="34" charset="0"/>
            </a:rPr>
            <a:t>Examples:</a:t>
          </a:r>
        </a:p>
      </dgm:t>
    </dgm:pt>
    <dgm:pt modelId="{5D5D03E9-2C10-40BC-B7A9-FE1063D7D026}" type="parTrans" cxnId="{988C4760-278D-4C22-A63D-D25DE76471BA}">
      <dgm:prSet/>
      <dgm:spPr/>
      <dgm:t>
        <a:bodyPr/>
        <a:lstStyle/>
        <a:p>
          <a:endParaRPr lang="en-MY">
            <a:latin typeface="Arial" panose="020B0604020202020204" pitchFamily="34" charset="0"/>
            <a:cs typeface="Arial" panose="020B0604020202020204" pitchFamily="34" charset="0"/>
          </a:endParaRPr>
        </a:p>
      </dgm:t>
    </dgm:pt>
    <dgm:pt modelId="{3C2B21B2-C76D-465A-BDAF-4E648671BC57}" type="sibTrans" cxnId="{988C4760-278D-4C22-A63D-D25DE76471BA}">
      <dgm:prSet/>
      <dgm:spPr/>
      <dgm:t>
        <a:bodyPr/>
        <a:lstStyle/>
        <a:p>
          <a:endParaRPr lang="en-MY">
            <a:latin typeface="Arial" panose="020B0604020202020204" pitchFamily="34" charset="0"/>
            <a:cs typeface="Arial" panose="020B0604020202020204" pitchFamily="34" charset="0"/>
          </a:endParaRPr>
        </a:p>
      </dgm:t>
    </dgm:pt>
    <dgm:pt modelId="{6F865335-3B44-4CC6-A528-E482EF64F9D7}">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Supply chain mapping </a:t>
          </a:r>
        </a:p>
      </dgm:t>
    </dgm:pt>
    <dgm:pt modelId="{D72888F3-416E-4C51-A47B-28B6DF924C03}" type="parTrans" cxnId="{5A4E582E-F8B4-4D9D-885A-3DFA22368402}">
      <dgm:prSet/>
      <dgm:spPr/>
      <dgm:t>
        <a:bodyPr/>
        <a:lstStyle/>
        <a:p>
          <a:endParaRPr lang="en-MY">
            <a:latin typeface="Arial" panose="020B0604020202020204" pitchFamily="34" charset="0"/>
            <a:cs typeface="Arial" panose="020B0604020202020204" pitchFamily="34" charset="0"/>
          </a:endParaRPr>
        </a:p>
      </dgm:t>
    </dgm:pt>
    <dgm:pt modelId="{4A291F77-FD8F-4A88-94F5-1A60049FA16C}" type="sibTrans" cxnId="{5A4E582E-F8B4-4D9D-885A-3DFA22368402}">
      <dgm:prSet/>
      <dgm:spPr/>
      <dgm:t>
        <a:bodyPr/>
        <a:lstStyle/>
        <a:p>
          <a:endParaRPr lang="en-MY">
            <a:latin typeface="Arial" panose="020B0604020202020204" pitchFamily="34" charset="0"/>
            <a:cs typeface="Arial" panose="020B0604020202020204" pitchFamily="34" charset="0"/>
          </a:endParaRPr>
        </a:p>
      </dgm:t>
    </dgm:pt>
    <dgm:pt modelId="{4B0B66B7-B2F8-4BC2-A58F-E868594B5CEF}">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Industry cluster analysis </a:t>
          </a:r>
        </a:p>
      </dgm:t>
    </dgm:pt>
    <dgm:pt modelId="{5770AA74-CC2F-4BE4-94BF-0523B5C45170}" type="parTrans" cxnId="{01C2370A-ABB1-4D44-A64E-B5CBCDD512CD}">
      <dgm:prSet/>
      <dgm:spPr/>
      <dgm:t>
        <a:bodyPr/>
        <a:lstStyle/>
        <a:p>
          <a:endParaRPr lang="en-MY">
            <a:latin typeface="Arial" panose="020B0604020202020204" pitchFamily="34" charset="0"/>
            <a:cs typeface="Arial" panose="020B0604020202020204" pitchFamily="34" charset="0"/>
          </a:endParaRPr>
        </a:p>
      </dgm:t>
    </dgm:pt>
    <dgm:pt modelId="{BB9B7704-95FD-4CB8-9BF4-28BBFA487D54}" type="sibTrans" cxnId="{01C2370A-ABB1-4D44-A64E-B5CBCDD512CD}">
      <dgm:prSet/>
      <dgm:spPr/>
      <dgm:t>
        <a:bodyPr/>
        <a:lstStyle/>
        <a:p>
          <a:endParaRPr lang="en-MY">
            <a:latin typeface="Arial" panose="020B0604020202020204" pitchFamily="34" charset="0"/>
            <a:cs typeface="Arial" panose="020B0604020202020204" pitchFamily="34" charset="0"/>
          </a:endParaRPr>
        </a:p>
      </dgm:t>
    </dgm:pt>
    <dgm:pt modelId="{42F56C5C-8E39-47A0-8505-F8C28B7BEF64}">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Ecosystem gap analysis </a:t>
          </a:r>
        </a:p>
      </dgm:t>
    </dgm:pt>
    <dgm:pt modelId="{281A9042-32A3-4ABD-B406-58312F13EB0B}" type="parTrans" cxnId="{8E4600ED-3FDC-468F-A164-00999F54C72F}">
      <dgm:prSet/>
      <dgm:spPr/>
      <dgm:t>
        <a:bodyPr/>
        <a:lstStyle/>
        <a:p>
          <a:endParaRPr lang="en-MY">
            <a:latin typeface="Arial" panose="020B0604020202020204" pitchFamily="34" charset="0"/>
            <a:cs typeface="Arial" panose="020B0604020202020204" pitchFamily="34" charset="0"/>
          </a:endParaRPr>
        </a:p>
      </dgm:t>
    </dgm:pt>
    <dgm:pt modelId="{30FE165D-ED0A-4074-85A0-A9C18DB7BDB9}" type="sibTrans" cxnId="{8E4600ED-3FDC-468F-A164-00999F54C72F}">
      <dgm:prSet/>
      <dgm:spPr/>
      <dgm:t>
        <a:bodyPr/>
        <a:lstStyle/>
        <a:p>
          <a:endParaRPr lang="en-MY">
            <a:latin typeface="Arial" panose="020B0604020202020204" pitchFamily="34" charset="0"/>
            <a:cs typeface="Arial" panose="020B0604020202020204" pitchFamily="34" charset="0"/>
          </a:endParaRPr>
        </a:p>
      </dgm:t>
    </dgm:pt>
    <dgm:pt modelId="{B8145465-CE27-4A88-BACF-74607299213E}">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Strategic partner mapping </a:t>
          </a:r>
        </a:p>
      </dgm:t>
    </dgm:pt>
    <dgm:pt modelId="{80B074D0-973D-4B6A-B20A-A8E32BDFDB7F}" type="parTrans" cxnId="{08CED005-66DB-4243-B319-29F935B0CAE1}">
      <dgm:prSet/>
      <dgm:spPr/>
      <dgm:t>
        <a:bodyPr/>
        <a:lstStyle/>
        <a:p>
          <a:endParaRPr lang="en-MY">
            <a:latin typeface="Arial" panose="020B0604020202020204" pitchFamily="34" charset="0"/>
            <a:cs typeface="Arial" panose="020B0604020202020204" pitchFamily="34" charset="0"/>
          </a:endParaRPr>
        </a:p>
      </dgm:t>
    </dgm:pt>
    <dgm:pt modelId="{2B324189-5FED-4B6F-8630-F31A026113FE}" type="sibTrans" cxnId="{08CED005-66DB-4243-B319-29F935B0CAE1}">
      <dgm:prSet/>
      <dgm:spPr/>
      <dgm:t>
        <a:bodyPr/>
        <a:lstStyle/>
        <a:p>
          <a:endParaRPr lang="en-MY">
            <a:latin typeface="Arial" panose="020B0604020202020204" pitchFamily="34" charset="0"/>
            <a:cs typeface="Arial" panose="020B0604020202020204" pitchFamily="34" charset="0"/>
          </a:endParaRPr>
        </a:p>
      </dgm:t>
    </dgm:pt>
    <dgm:pt modelId="{917F46E8-D201-4AAC-B7D2-3A3CB400730F}">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Value chain opportunities </a:t>
          </a:r>
        </a:p>
      </dgm:t>
    </dgm:pt>
    <dgm:pt modelId="{9E01F989-578B-453A-B9B2-8F85DF0FE83C}" type="parTrans" cxnId="{E0D52F73-D1BF-4B51-A52F-5220095D8A1A}">
      <dgm:prSet/>
      <dgm:spPr/>
      <dgm:t>
        <a:bodyPr/>
        <a:lstStyle/>
        <a:p>
          <a:endParaRPr lang="en-MY">
            <a:latin typeface="Arial" panose="020B0604020202020204" pitchFamily="34" charset="0"/>
            <a:cs typeface="Arial" panose="020B0604020202020204" pitchFamily="34" charset="0"/>
          </a:endParaRPr>
        </a:p>
      </dgm:t>
    </dgm:pt>
    <dgm:pt modelId="{9F2C4FAC-2CDA-42F8-8DCC-639C18741928}" type="sibTrans" cxnId="{E0D52F73-D1BF-4B51-A52F-5220095D8A1A}">
      <dgm:prSet/>
      <dgm:spPr/>
      <dgm:t>
        <a:bodyPr/>
        <a:lstStyle/>
        <a:p>
          <a:endParaRPr lang="en-MY">
            <a:latin typeface="Arial" panose="020B0604020202020204" pitchFamily="34" charset="0"/>
            <a:cs typeface="Arial" panose="020B0604020202020204" pitchFamily="34" charset="0"/>
          </a:endParaRPr>
        </a:p>
      </dgm:t>
    </dgm:pt>
    <dgm:pt modelId="{0C16063B-1DA7-414F-A3F1-CF34745F2155}">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Regional SME ecosystem analysis</a:t>
          </a:r>
        </a:p>
      </dgm:t>
    </dgm:pt>
    <dgm:pt modelId="{2EA961BA-CF28-47F6-AACB-64C1A2D184EF}" type="parTrans" cxnId="{0DD28874-C774-49D3-8D9C-A3D7E410CDB5}">
      <dgm:prSet/>
      <dgm:spPr/>
      <dgm:t>
        <a:bodyPr/>
        <a:lstStyle/>
        <a:p>
          <a:endParaRPr lang="en-MY">
            <a:latin typeface="Arial" panose="020B0604020202020204" pitchFamily="34" charset="0"/>
            <a:cs typeface="Arial" panose="020B0604020202020204" pitchFamily="34" charset="0"/>
          </a:endParaRPr>
        </a:p>
      </dgm:t>
    </dgm:pt>
    <dgm:pt modelId="{E8B86514-67E5-4182-B0EB-4187BDD564B5}" type="sibTrans" cxnId="{0DD28874-C774-49D3-8D9C-A3D7E410CDB5}">
      <dgm:prSet/>
      <dgm:spPr/>
      <dgm:t>
        <a:bodyPr/>
        <a:lstStyle/>
        <a:p>
          <a:endParaRPr lang="en-MY">
            <a:latin typeface="Arial" panose="020B0604020202020204" pitchFamily="34" charset="0"/>
            <a:cs typeface="Arial" panose="020B0604020202020204" pitchFamily="34" charset="0"/>
          </a:endParaRPr>
        </a:p>
      </dgm:t>
    </dgm:pt>
    <dgm:pt modelId="{27561C06-F1E5-4F3D-A236-29F43D234931}">
      <dgm:prSet custT="1"/>
      <dgm:spPr>
        <a:solidFill>
          <a:schemeClr val="bg2">
            <a:lumMod val="90000"/>
          </a:schemeClr>
        </a:solidFill>
      </dgm:spPr>
      <dgm:t>
        <a:bodyPr/>
        <a:lstStyle/>
        <a:p>
          <a:pPr algn="l">
            <a:buNone/>
          </a:pPr>
          <a:r>
            <a:rPr lang="en-MY" sz="1200" b="1" dirty="0">
              <a:latin typeface="Arial" panose="020B0604020202020204" pitchFamily="34" charset="0"/>
              <a:cs typeface="Arial" panose="020B0604020202020204" pitchFamily="34" charset="0"/>
            </a:rPr>
            <a:t>Monitor the health of the SDS portfolio.</a:t>
          </a:r>
        </a:p>
      </dgm:t>
    </dgm:pt>
    <dgm:pt modelId="{902238A2-AD12-4825-940E-A7087C639421}" type="parTrans" cxnId="{C96A412E-6FEB-49EA-8576-206F6FD8F0B2}">
      <dgm:prSet/>
      <dgm:spPr/>
      <dgm:t>
        <a:bodyPr/>
        <a:lstStyle/>
        <a:p>
          <a:endParaRPr lang="en-MY">
            <a:latin typeface="Arial" panose="020B0604020202020204" pitchFamily="34" charset="0"/>
            <a:cs typeface="Arial" panose="020B0604020202020204" pitchFamily="34" charset="0"/>
          </a:endParaRPr>
        </a:p>
      </dgm:t>
    </dgm:pt>
    <dgm:pt modelId="{129A3AF7-7C73-4C1B-A256-DE4289C5E76D}" type="sibTrans" cxnId="{C96A412E-6FEB-49EA-8576-206F6FD8F0B2}">
      <dgm:prSet/>
      <dgm:spPr/>
      <dgm:t>
        <a:bodyPr/>
        <a:lstStyle/>
        <a:p>
          <a:endParaRPr lang="en-MY">
            <a:latin typeface="Arial" panose="020B0604020202020204" pitchFamily="34" charset="0"/>
            <a:cs typeface="Arial" panose="020B0604020202020204" pitchFamily="34" charset="0"/>
          </a:endParaRPr>
        </a:p>
      </dgm:t>
    </dgm:pt>
    <dgm:pt modelId="{AB1F4A26-0ECE-4F81-8DDA-36257AC04028}">
      <dgm:prSet custT="1"/>
      <dgm:spPr>
        <a:solidFill>
          <a:schemeClr val="bg2">
            <a:lumMod val="90000"/>
          </a:schemeClr>
        </a:solidFill>
      </dgm:spPr>
      <dgm:t>
        <a:bodyPr/>
        <a:lstStyle/>
        <a:p>
          <a:pPr algn="l">
            <a:buNone/>
          </a:pPr>
          <a:endParaRPr lang="en-MY" sz="1200" dirty="0">
            <a:latin typeface="Arial" panose="020B0604020202020204" pitchFamily="34" charset="0"/>
            <a:cs typeface="Arial" panose="020B0604020202020204" pitchFamily="34" charset="0"/>
          </a:endParaRPr>
        </a:p>
        <a:p>
          <a:pPr algn="l">
            <a:buNone/>
          </a:pPr>
          <a:r>
            <a:rPr lang="en-MY" sz="1200" dirty="0">
              <a:latin typeface="Arial" panose="020B0604020202020204" pitchFamily="34" charset="0"/>
              <a:cs typeface="Arial" panose="020B0604020202020204" pitchFamily="34" charset="0"/>
            </a:rPr>
            <a:t>Examples:</a:t>
          </a:r>
        </a:p>
      </dgm:t>
    </dgm:pt>
    <dgm:pt modelId="{174827AA-2C65-4E7A-AC37-4DB2CD5BE2B3}" type="parTrans" cxnId="{8D868329-0193-4242-A1C4-111EF12605E3}">
      <dgm:prSet/>
      <dgm:spPr/>
      <dgm:t>
        <a:bodyPr/>
        <a:lstStyle/>
        <a:p>
          <a:endParaRPr lang="en-MY">
            <a:latin typeface="Arial" panose="020B0604020202020204" pitchFamily="34" charset="0"/>
            <a:cs typeface="Arial" panose="020B0604020202020204" pitchFamily="34" charset="0"/>
          </a:endParaRPr>
        </a:p>
      </dgm:t>
    </dgm:pt>
    <dgm:pt modelId="{383990B7-DA89-4CBC-9F18-FB4FB2585529}" type="sibTrans" cxnId="{8D868329-0193-4242-A1C4-111EF12605E3}">
      <dgm:prSet/>
      <dgm:spPr/>
      <dgm:t>
        <a:bodyPr/>
        <a:lstStyle/>
        <a:p>
          <a:endParaRPr lang="en-MY">
            <a:latin typeface="Arial" panose="020B0604020202020204" pitchFamily="34" charset="0"/>
            <a:cs typeface="Arial" panose="020B0604020202020204" pitchFamily="34" charset="0"/>
          </a:endParaRPr>
        </a:p>
      </dgm:t>
    </dgm:pt>
    <dgm:pt modelId="{B5A0DC7C-2D29-4ACA-BA67-DBC7C5C438F4}">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Tenant performance across Entrepreneur Premises Centres (EPCs) </a:t>
          </a:r>
        </a:p>
      </dgm:t>
    </dgm:pt>
    <dgm:pt modelId="{1B58A938-E058-48A3-9446-B5060417DF45}" type="parTrans" cxnId="{ADAAD0B3-A976-45E0-8428-0CC3BD9794A8}">
      <dgm:prSet/>
      <dgm:spPr/>
      <dgm:t>
        <a:bodyPr/>
        <a:lstStyle/>
        <a:p>
          <a:endParaRPr lang="en-MY">
            <a:latin typeface="Arial" panose="020B0604020202020204" pitchFamily="34" charset="0"/>
            <a:cs typeface="Arial" panose="020B0604020202020204" pitchFamily="34" charset="0"/>
          </a:endParaRPr>
        </a:p>
      </dgm:t>
    </dgm:pt>
    <dgm:pt modelId="{51B8DDF8-7B18-46F5-B4E6-0B99BF7B3CC1}" type="sibTrans" cxnId="{ADAAD0B3-A976-45E0-8428-0CC3BD9794A8}">
      <dgm:prSet/>
      <dgm:spPr/>
      <dgm:t>
        <a:bodyPr/>
        <a:lstStyle/>
        <a:p>
          <a:endParaRPr lang="en-MY">
            <a:latin typeface="Arial" panose="020B0604020202020204" pitchFamily="34" charset="0"/>
            <a:cs typeface="Arial" panose="020B0604020202020204" pitchFamily="34" charset="0"/>
          </a:endParaRPr>
        </a:p>
      </dgm:t>
    </dgm:pt>
    <dgm:pt modelId="{45BC7B49-F4F1-4F93-A5B5-85015AD7CAC4}">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Coaching effectiveness </a:t>
          </a:r>
        </a:p>
      </dgm:t>
    </dgm:pt>
    <dgm:pt modelId="{7F22DCE8-2C11-48A2-8888-659FCE015019}" type="parTrans" cxnId="{93DA6A14-C4B4-448D-BCB9-7928417D3ED7}">
      <dgm:prSet/>
      <dgm:spPr/>
      <dgm:t>
        <a:bodyPr/>
        <a:lstStyle/>
        <a:p>
          <a:endParaRPr lang="en-MY">
            <a:latin typeface="Arial" panose="020B0604020202020204" pitchFamily="34" charset="0"/>
            <a:cs typeface="Arial" panose="020B0604020202020204" pitchFamily="34" charset="0"/>
          </a:endParaRPr>
        </a:p>
      </dgm:t>
    </dgm:pt>
    <dgm:pt modelId="{D9477DA1-9CF4-485C-A751-F3257DFA326A}" type="sibTrans" cxnId="{93DA6A14-C4B4-448D-BCB9-7928417D3ED7}">
      <dgm:prSet/>
      <dgm:spPr/>
      <dgm:t>
        <a:bodyPr/>
        <a:lstStyle/>
        <a:p>
          <a:endParaRPr lang="en-MY">
            <a:latin typeface="Arial" panose="020B0604020202020204" pitchFamily="34" charset="0"/>
            <a:cs typeface="Arial" panose="020B0604020202020204" pitchFamily="34" charset="0"/>
          </a:endParaRPr>
        </a:p>
      </dgm:t>
    </dgm:pt>
    <dgm:pt modelId="{5172DE20-79AF-4332-BF32-84DDD7810C61}">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Programme participation </a:t>
          </a:r>
        </a:p>
      </dgm:t>
    </dgm:pt>
    <dgm:pt modelId="{706BCE8B-C7FF-4066-A8AF-FF081B2AD4D9}" type="parTrans" cxnId="{9B7B8E93-79BF-4684-9A68-A85446BF6AB4}">
      <dgm:prSet/>
      <dgm:spPr/>
      <dgm:t>
        <a:bodyPr/>
        <a:lstStyle/>
        <a:p>
          <a:endParaRPr lang="en-MY">
            <a:latin typeface="Arial" panose="020B0604020202020204" pitchFamily="34" charset="0"/>
            <a:cs typeface="Arial" panose="020B0604020202020204" pitchFamily="34" charset="0"/>
          </a:endParaRPr>
        </a:p>
      </dgm:t>
    </dgm:pt>
    <dgm:pt modelId="{4891D456-2E82-4A9E-ACB3-E0FA29FD78CB}" type="sibTrans" cxnId="{9B7B8E93-79BF-4684-9A68-A85446BF6AB4}">
      <dgm:prSet/>
      <dgm:spPr/>
      <dgm:t>
        <a:bodyPr/>
        <a:lstStyle/>
        <a:p>
          <a:endParaRPr lang="en-MY">
            <a:latin typeface="Arial" panose="020B0604020202020204" pitchFamily="34" charset="0"/>
            <a:cs typeface="Arial" panose="020B0604020202020204" pitchFamily="34" charset="0"/>
          </a:endParaRPr>
        </a:p>
      </dgm:t>
    </dgm:pt>
    <dgm:pt modelId="{3444CA71-D20A-44A3-B83F-9E1ECB7ACC7F}">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Graduation rates </a:t>
          </a:r>
        </a:p>
      </dgm:t>
    </dgm:pt>
    <dgm:pt modelId="{91B26AF5-9230-4C0D-86A2-EBC13376828F}" type="parTrans" cxnId="{CE8816EE-2B43-47CF-B08A-4E3CD7D8837C}">
      <dgm:prSet/>
      <dgm:spPr/>
      <dgm:t>
        <a:bodyPr/>
        <a:lstStyle/>
        <a:p>
          <a:endParaRPr lang="en-MY">
            <a:latin typeface="Arial" panose="020B0604020202020204" pitchFamily="34" charset="0"/>
            <a:cs typeface="Arial" panose="020B0604020202020204" pitchFamily="34" charset="0"/>
          </a:endParaRPr>
        </a:p>
      </dgm:t>
    </dgm:pt>
    <dgm:pt modelId="{3D26727C-20BB-4852-951D-146F451DD216}" type="sibTrans" cxnId="{CE8816EE-2B43-47CF-B08A-4E3CD7D8837C}">
      <dgm:prSet/>
      <dgm:spPr/>
      <dgm:t>
        <a:bodyPr/>
        <a:lstStyle/>
        <a:p>
          <a:endParaRPr lang="en-MY">
            <a:latin typeface="Arial" panose="020B0604020202020204" pitchFamily="34" charset="0"/>
            <a:cs typeface="Arial" panose="020B0604020202020204" pitchFamily="34" charset="0"/>
          </a:endParaRPr>
        </a:p>
      </dgm:t>
    </dgm:pt>
    <dgm:pt modelId="{29F73A29-2F36-4E62-98F8-40325400EAC8}">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SME progression across stages </a:t>
          </a:r>
        </a:p>
      </dgm:t>
    </dgm:pt>
    <dgm:pt modelId="{C0B9283F-3B3A-4631-8734-1D0AFD5D6FEF}" type="parTrans" cxnId="{C4270DF1-0E09-49FF-B2D7-069B4AC9A6DF}">
      <dgm:prSet/>
      <dgm:spPr/>
      <dgm:t>
        <a:bodyPr/>
        <a:lstStyle/>
        <a:p>
          <a:endParaRPr lang="en-MY">
            <a:latin typeface="Arial" panose="020B0604020202020204" pitchFamily="34" charset="0"/>
            <a:cs typeface="Arial" panose="020B0604020202020204" pitchFamily="34" charset="0"/>
          </a:endParaRPr>
        </a:p>
      </dgm:t>
    </dgm:pt>
    <dgm:pt modelId="{E8F7D076-425B-4DFF-8FE0-EAAECB8C819F}" type="sibTrans" cxnId="{C4270DF1-0E09-49FF-B2D7-069B4AC9A6DF}">
      <dgm:prSet/>
      <dgm:spPr/>
      <dgm:t>
        <a:bodyPr/>
        <a:lstStyle/>
        <a:p>
          <a:endParaRPr lang="en-MY">
            <a:latin typeface="Arial" panose="020B0604020202020204" pitchFamily="34" charset="0"/>
            <a:cs typeface="Arial" panose="020B0604020202020204" pitchFamily="34" charset="0"/>
          </a:endParaRPr>
        </a:p>
      </dgm:t>
    </dgm:pt>
    <dgm:pt modelId="{BAA5137F-BCC5-4DF7-97DE-37CB56A08C78}">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Sector performance </a:t>
          </a:r>
        </a:p>
      </dgm:t>
    </dgm:pt>
    <dgm:pt modelId="{3C2E5057-943B-496A-A5F1-2AE3D5FDE36D}" type="parTrans" cxnId="{F774BF98-490B-42ED-8D28-93793D05CB7B}">
      <dgm:prSet/>
      <dgm:spPr/>
      <dgm:t>
        <a:bodyPr/>
        <a:lstStyle/>
        <a:p>
          <a:endParaRPr lang="en-MY">
            <a:latin typeface="Arial" panose="020B0604020202020204" pitchFamily="34" charset="0"/>
            <a:cs typeface="Arial" panose="020B0604020202020204" pitchFamily="34" charset="0"/>
          </a:endParaRPr>
        </a:p>
      </dgm:t>
    </dgm:pt>
    <dgm:pt modelId="{AC5BDEA5-4699-4603-AA8E-F09D6860F335}" type="sibTrans" cxnId="{F774BF98-490B-42ED-8D28-93793D05CB7B}">
      <dgm:prSet/>
      <dgm:spPr/>
      <dgm:t>
        <a:bodyPr/>
        <a:lstStyle/>
        <a:p>
          <a:endParaRPr lang="en-MY">
            <a:latin typeface="Arial" panose="020B0604020202020204" pitchFamily="34" charset="0"/>
            <a:cs typeface="Arial" panose="020B0604020202020204" pitchFamily="34" charset="0"/>
          </a:endParaRPr>
        </a:p>
      </dgm:t>
    </dgm:pt>
    <dgm:pt modelId="{6920F665-7B5C-42D0-A212-7E237F7FDA4E}">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Geographic performance</a:t>
          </a:r>
        </a:p>
      </dgm:t>
    </dgm:pt>
    <dgm:pt modelId="{729C2D19-852E-41F8-8A63-631D7DB9F644}" type="parTrans" cxnId="{73FAAC91-BB7E-49AB-960B-05B59BC3F899}">
      <dgm:prSet/>
      <dgm:spPr/>
      <dgm:t>
        <a:bodyPr/>
        <a:lstStyle/>
        <a:p>
          <a:endParaRPr lang="en-MY">
            <a:latin typeface="Arial" panose="020B0604020202020204" pitchFamily="34" charset="0"/>
            <a:cs typeface="Arial" panose="020B0604020202020204" pitchFamily="34" charset="0"/>
          </a:endParaRPr>
        </a:p>
      </dgm:t>
    </dgm:pt>
    <dgm:pt modelId="{D381F5B9-240E-410D-BBB7-97BABAFB26A4}" type="sibTrans" cxnId="{73FAAC91-BB7E-49AB-960B-05B59BC3F899}">
      <dgm:prSet/>
      <dgm:spPr/>
      <dgm:t>
        <a:bodyPr/>
        <a:lstStyle/>
        <a:p>
          <a:endParaRPr lang="en-MY">
            <a:latin typeface="Arial" panose="020B0604020202020204" pitchFamily="34" charset="0"/>
            <a:cs typeface="Arial" panose="020B0604020202020204" pitchFamily="34" charset="0"/>
          </a:endParaRPr>
        </a:p>
      </dgm:t>
    </dgm:pt>
    <dgm:pt modelId="{24F8EDE3-AD4C-4E83-9B77-12B404A918BF}">
      <dgm:prSet custT="1"/>
      <dgm:spPr>
        <a:solidFill>
          <a:schemeClr val="bg2">
            <a:lumMod val="90000"/>
          </a:schemeClr>
        </a:solidFill>
      </dgm:spPr>
      <dgm:t>
        <a:bodyPr/>
        <a:lstStyle/>
        <a:p>
          <a:pPr algn="l">
            <a:buNone/>
          </a:pPr>
          <a:r>
            <a:rPr lang="en-MY" sz="1200" dirty="0">
              <a:latin typeface="Arial" panose="020B0604020202020204" pitchFamily="34" charset="0"/>
              <a:cs typeface="Arial" panose="020B0604020202020204" pitchFamily="34" charset="0"/>
            </a:rPr>
            <a:t>.</a:t>
          </a:r>
          <a:r>
            <a:rPr lang="en-MY" sz="1200" b="1" dirty="0">
              <a:latin typeface="Arial" panose="020B0604020202020204" pitchFamily="34" charset="0"/>
              <a:cs typeface="Arial" panose="020B0604020202020204" pitchFamily="34" charset="0"/>
            </a:rPr>
            <a:t>Provide forward-looking intelligence.</a:t>
          </a:r>
        </a:p>
      </dgm:t>
    </dgm:pt>
    <dgm:pt modelId="{35700700-2600-40EF-8D60-429261DD7E9A}" type="parTrans" cxnId="{1F5D0DAD-CA7F-46C8-8E58-AB75A4C8A353}">
      <dgm:prSet/>
      <dgm:spPr/>
      <dgm:t>
        <a:bodyPr/>
        <a:lstStyle/>
        <a:p>
          <a:endParaRPr lang="en-MY">
            <a:latin typeface="Arial" panose="020B0604020202020204" pitchFamily="34" charset="0"/>
            <a:cs typeface="Arial" panose="020B0604020202020204" pitchFamily="34" charset="0"/>
          </a:endParaRPr>
        </a:p>
      </dgm:t>
    </dgm:pt>
    <dgm:pt modelId="{F34C0676-9ECD-4CD5-A9AF-939217D32366}" type="sibTrans" cxnId="{1F5D0DAD-CA7F-46C8-8E58-AB75A4C8A353}">
      <dgm:prSet/>
      <dgm:spPr/>
      <dgm:t>
        <a:bodyPr/>
        <a:lstStyle/>
        <a:p>
          <a:endParaRPr lang="en-MY">
            <a:latin typeface="Arial" panose="020B0604020202020204" pitchFamily="34" charset="0"/>
            <a:cs typeface="Arial" panose="020B0604020202020204" pitchFamily="34" charset="0"/>
          </a:endParaRPr>
        </a:p>
      </dgm:t>
    </dgm:pt>
    <dgm:pt modelId="{F02813BB-C453-4711-8C0D-C3EFA8AC1348}">
      <dgm:prSet custT="1"/>
      <dgm:spPr>
        <a:solidFill>
          <a:schemeClr val="bg2">
            <a:lumMod val="90000"/>
          </a:schemeClr>
        </a:solidFill>
      </dgm:spPr>
      <dgm:t>
        <a:bodyPr/>
        <a:lstStyle/>
        <a:p>
          <a:pPr algn="l">
            <a:buFont typeface="Arial" panose="020B0604020202020204" pitchFamily="34" charset="0"/>
            <a:buChar char="•"/>
          </a:pPr>
          <a:endParaRPr lang="en-MY" sz="1200" dirty="0">
            <a:latin typeface="Arial" panose="020B0604020202020204" pitchFamily="34" charset="0"/>
            <a:cs typeface="Arial" panose="020B0604020202020204" pitchFamily="34" charset="0"/>
          </a:endParaRPr>
        </a:p>
      </dgm:t>
    </dgm:pt>
    <dgm:pt modelId="{A890D2CA-F6D1-4945-9500-1E3E010867A2}" type="parTrans" cxnId="{50241868-CDF3-4976-9D22-BF982CAFB2AE}">
      <dgm:prSet/>
      <dgm:spPr/>
      <dgm:t>
        <a:bodyPr/>
        <a:lstStyle/>
        <a:p>
          <a:endParaRPr lang="en-MY">
            <a:latin typeface="Arial" panose="020B0604020202020204" pitchFamily="34" charset="0"/>
            <a:cs typeface="Arial" panose="020B0604020202020204" pitchFamily="34" charset="0"/>
          </a:endParaRPr>
        </a:p>
      </dgm:t>
    </dgm:pt>
    <dgm:pt modelId="{7D85B6AF-9B76-4EE4-ACD5-537106F1B313}" type="sibTrans" cxnId="{50241868-CDF3-4976-9D22-BF982CAFB2AE}">
      <dgm:prSet/>
      <dgm:spPr/>
      <dgm:t>
        <a:bodyPr/>
        <a:lstStyle/>
        <a:p>
          <a:endParaRPr lang="en-MY">
            <a:latin typeface="Arial" panose="020B0604020202020204" pitchFamily="34" charset="0"/>
            <a:cs typeface="Arial" panose="020B0604020202020204" pitchFamily="34" charset="0"/>
          </a:endParaRPr>
        </a:p>
      </dgm:t>
    </dgm:pt>
    <dgm:pt modelId="{7712C6A1-2ABA-4C0B-9922-7E7A1A97B8A4}">
      <dgm:prSet custT="1"/>
      <dgm:spPr>
        <a:solidFill>
          <a:schemeClr val="bg2">
            <a:lumMod val="90000"/>
          </a:schemeClr>
        </a:solidFill>
      </dgm:spPr>
      <dgm:t>
        <a:bodyPr/>
        <a:lstStyle/>
        <a:p>
          <a:pPr algn="l">
            <a:buNone/>
          </a:pPr>
          <a:endParaRPr lang="en-MY" sz="1200" dirty="0">
            <a:latin typeface="Arial" panose="020B0604020202020204" pitchFamily="34" charset="0"/>
            <a:cs typeface="Arial" panose="020B0604020202020204" pitchFamily="34" charset="0"/>
          </a:endParaRPr>
        </a:p>
        <a:p>
          <a:pPr algn="l">
            <a:buNone/>
          </a:pPr>
          <a:r>
            <a:rPr lang="en-MY" sz="1200" dirty="0">
              <a:latin typeface="Arial" panose="020B0604020202020204" pitchFamily="34" charset="0"/>
              <a:cs typeface="Arial" panose="020B0604020202020204" pitchFamily="34" charset="0"/>
            </a:rPr>
            <a:t>Examples:</a:t>
          </a:r>
        </a:p>
      </dgm:t>
    </dgm:pt>
    <dgm:pt modelId="{126DCD83-2629-4D8E-B4F9-A4371213C8EA}" type="parTrans" cxnId="{F9D2A883-951D-40DE-AF81-4054B43105A8}">
      <dgm:prSet/>
      <dgm:spPr/>
      <dgm:t>
        <a:bodyPr/>
        <a:lstStyle/>
        <a:p>
          <a:endParaRPr lang="en-MY">
            <a:latin typeface="Arial" panose="020B0604020202020204" pitchFamily="34" charset="0"/>
            <a:cs typeface="Arial" panose="020B0604020202020204" pitchFamily="34" charset="0"/>
          </a:endParaRPr>
        </a:p>
      </dgm:t>
    </dgm:pt>
    <dgm:pt modelId="{7D9B08CA-3B8F-4615-809B-8661CA22285B}" type="sibTrans" cxnId="{F9D2A883-951D-40DE-AF81-4054B43105A8}">
      <dgm:prSet/>
      <dgm:spPr/>
      <dgm:t>
        <a:bodyPr/>
        <a:lstStyle/>
        <a:p>
          <a:endParaRPr lang="en-MY">
            <a:latin typeface="Arial" panose="020B0604020202020204" pitchFamily="34" charset="0"/>
            <a:cs typeface="Arial" panose="020B0604020202020204" pitchFamily="34" charset="0"/>
          </a:endParaRPr>
        </a:p>
      </dgm:t>
    </dgm:pt>
    <dgm:pt modelId="{833E2912-F262-41C8-BA66-001D05B52113}">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Emerging sectors </a:t>
          </a:r>
        </a:p>
      </dgm:t>
    </dgm:pt>
    <dgm:pt modelId="{28FBB44B-F78E-4EB0-8EE8-7B0D8F62336F}" type="parTrans" cxnId="{6C572A4C-AFAB-4F0C-9161-BF6F9BD66416}">
      <dgm:prSet/>
      <dgm:spPr/>
      <dgm:t>
        <a:bodyPr/>
        <a:lstStyle/>
        <a:p>
          <a:endParaRPr lang="en-MY">
            <a:latin typeface="Arial" panose="020B0604020202020204" pitchFamily="34" charset="0"/>
            <a:cs typeface="Arial" panose="020B0604020202020204" pitchFamily="34" charset="0"/>
          </a:endParaRPr>
        </a:p>
      </dgm:t>
    </dgm:pt>
    <dgm:pt modelId="{8F104AD8-A4D0-4266-85F0-60EA2D0EC2A1}" type="sibTrans" cxnId="{6C572A4C-AFAB-4F0C-9161-BF6F9BD66416}">
      <dgm:prSet/>
      <dgm:spPr/>
      <dgm:t>
        <a:bodyPr/>
        <a:lstStyle/>
        <a:p>
          <a:endParaRPr lang="en-MY">
            <a:latin typeface="Arial" panose="020B0604020202020204" pitchFamily="34" charset="0"/>
            <a:cs typeface="Arial" panose="020B0604020202020204" pitchFamily="34" charset="0"/>
          </a:endParaRPr>
        </a:p>
      </dgm:t>
    </dgm:pt>
    <dgm:pt modelId="{B68CC1D5-BC10-4403-AD5F-22A6B61C7207}">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High-growth industries </a:t>
          </a:r>
        </a:p>
      </dgm:t>
    </dgm:pt>
    <dgm:pt modelId="{D2DD2147-8A1B-4DB1-9986-EFBD19F8AEBA}" type="parTrans" cxnId="{697FCFB7-9203-4D65-95FD-3FAAC4E05EAE}">
      <dgm:prSet/>
      <dgm:spPr/>
      <dgm:t>
        <a:bodyPr/>
        <a:lstStyle/>
        <a:p>
          <a:endParaRPr lang="en-MY">
            <a:latin typeface="Arial" panose="020B0604020202020204" pitchFamily="34" charset="0"/>
            <a:cs typeface="Arial" panose="020B0604020202020204" pitchFamily="34" charset="0"/>
          </a:endParaRPr>
        </a:p>
      </dgm:t>
    </dgm:pt>
    <dgm:pt modelId="{57B10FB9-A4EA-41B4-A2F1-6F3033F5B64A}" type="sibTrans" cxnId="{697FCFB7-9203-4D65-95FD-3FAAC4E05EAE}">
      <dgm:prSet/>
      <dgm:spPr/>
      <dgm:t>
        <a:bodyPr/>
        <a:lstStyle/>
        <a:p>
          <a:endParaRPr lang="en-MY">
            <a:latin typeface="Arial" panose="020B0604020202020204" pitchFamily="34" charset="0"/>
            <a:cs typeface="Arial" panose="020B0604020202020204" pitchFamily="34" charset="0"/>
          </a:endParaRPr>
        </a:p>
      </dgm:t>
    </dgm:pt>
    <dgm:pt modelId="{E420AF03-1198-413C-A2BB-DC7CBE229FFA}">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Future skills demand </a:t>
          </a:r>
        </a:p>
      </dgm:t>
    </dgm:pt>
    <dgm:pt modelId="{E196F6B9-748B-47EF-92BD-4E61C07D2B31}" type="parTrans" cxnId="{3DD9048B-A394-4801-B22F-8E843F7778F1}">
      <dgm:prSet/>
      <dgm:spPr/>
      <dgm:t>
        <a:bodyPr/>
        <a:lstStyle/>
        <a:p>
          <a:endParaRPr lang="en-MY">
            <a:latin typeface="Arial" panose="020B0604020202020204" pitchFamily="34" charset="0"/>
            <a:cs typeface="Arial" panose="020B0604020202020204" pitchFamily="34" charset="0"/>
          </a:endParaRPr>
        </a:p>
      </dgm:t>
    </dgm:pt>
    <dgm:pt modelId="{11E0272F-AB2D-4A02-B549-76F0E33B2811}" type="sibTrans" cxnId="{3DD9048B-A394-4801-B22F-8E843F7778F1}">
      <dgm:prSet/>
      <dgm:spPr/>
      <dgm:t>
        <a:bodyPr/>
        <a:lstStyle/>
        <a:p>
          <a:endParaRPr lang="en-MY">
            <a:latin typeface="Arial" panose="020B0604020202020204" pitchFamily="34" charset="0"/>
            <a:cs typeface="Arial" panose="020B0604020202020204" pitchFamily="34" charset="0"/>
          </a:endParaRPr>
        </a:p>
      </dgm:t>
    </dgm:pt>
    <dgm:pt modelId="{8CDB9CA1-D628-4D77-9835-C68DDF58DFEA}">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Market opportunities </a:t>
          </a:r>
        </a:p>
      </dgm:t>
    </dgm:pt>
    <dgm:pt modelId="{37A661A8-5ACC-41CE-B1F5-7011E033407A}" type="parTrans" cxnId="{66DEF2F2-78B3-4A1F-91D3-6133AEBAB424}">
      <dgm:prSet/>
      <dgm:spPr/>
      <dgm:t>
        <a:bodyPr/>
        <a:lstStyle/>
        <a:p>
          <a:endParaRPr lang="en-MY">
            <a:latin typeface="Arial" panose="020B0604020202020204" pitchFamily="34" charset="0"/>
            <a:cs typeface="Arial" panose="020B0604020202020204" pitchFamily="34" charset="0"/>
          </a:endParaRPr>
        </a:p>
      </dgm:t>
    </dgm:pt>
    <dgm:pt modelId="{79CA1E16-42C7-41E4-B9A0-4982265D5513}" type="sibTrans" cxnId="{66DEF2F2-78B3-4A1F-91D3-6133AEBAB424}">
      <dgm:prSet/>
      <dgm:spPr/>
      <dgm:t>
        <a:bodyPr/>
        <a:lstStyle/>
        <a:p>
          <a:endParaRPr lang="en-MY">
            <a:latin typeface="Arial" panose="020B0604020202020204" pitchFamily="34" charset="0"/>
            <a:cs typeface="Arial" panose="020B0604020202020204" pitchFamily="34" charset="0"/>
          </a:endParaRPr>
        </a:p>
      </dgm:t>
    </dgm:pt>
    <dgm:pt modelId="{E39F0D6B-870F-4AEF-8467-05B3EB3638A4}">
      <dgm:prSet custT="1"/>
      <dgm:spPr>
        <a:solidFill>
          <a:schemeClr val="bg2">
            <a:lumMod val="90000"/>
          </a:schemeClr>
        </a:solidFill>
      </dgm:spPr>
      <dgm:t>
        <a:bodyPr/>
        <a:lstStyle/>
        <a:p>
          <a:pPr algn="l">
            <a:buFont typeface="Arial" panose="020B0604020202020204" pitchFamily="34" charset="0"/>
            <a:buChar char="•"/>
          </a:pPr>
          <a:r>
            <a:rPr lang="en-MY" sz="1200">
              <a:latin typeface="Arial" panose="020B0604020202020204" pitchFamily="34" charset="0"/>
              <a:cs typeface="Arial" panose="020B0604020202020204" pitchFamily="34" charset="0"/>
            </a:rPr>
            <a:t>SME trends </a:t>
          </a:r>
        </a:p>
      </dgm:t>
    </dgm:pt>
    <dgm:pt modelId="{F2E5E723-4C7B-4347-8929-362107848F42}" type="parTrans" cxnId="{68863439-BDE3-4779-A504-7CEEC105F63C}">
      <dgm:prSet/>
      <dgm:spPr/>
      <dgm:t>
        <a:bodyPr/>
        <a:lstStyle/>
        <a:p>
          <a:endParaRPr lang="en-MY">
            <a:latin typeface="Arial" panose="020B0604020202020204" pitchFamily="34" charset="0"/>
            <a:cs typeface="Arial" panose="020B0604020202020204" pitchFamily="34" charset="0"/>
          </a:endParaRPr>
        </a:p>
      </dgm:t>
    </dgm:pt>
    <dgm:pt modelId="{5909C0AD-E253-4D1A-900C-5C1986E425C2}" type="sibTrans" cxnId="{68863439-BDE3-4779-A504-7CEEC105F63C}">
      <dgm:prSet/>
      <dgm:spPr/>
      <dgm:t>
        <a:bodyPr/>
        <a:lstStyle/>
        <a:p>
          <a:endParaRPr lang="en-MY">
            <a:latin typeface="Arial" panose="020B0604020202020204" pitchFamily="34" charset="0"/>
            <a:cs typeface="Arial" panose="020B0604020202020204" pitchFamily="34" charset="0"/>
          </a:endParaRPr>
        </a:p>
      </dgm:t>
    </dgm:pt>
    <dgm:pt modelId="{1AC647D6-CC20-4FF8-9913-9A12A99E9191}">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Policy insights </a:t>
          </a:r>
        </a:p>
      </dgm:t>
    </dgm:pt>
    <dgm:pt modelId="{6CB81683-6074-4808-B6D8-F47B74DD9AD9}" type="parTrans" cxnId="{446D1C15-BD53-4826-9E2E-87ECC12C744B}">
      <dgm:prSet/>
      <dgm:spPr/>
      <dgm:t>
        <a:bodyPr/>
        <a:lstStyle/>
        <a:p>
          <a:endParaRPr lang="en-MY">
            <a:latin typeface="Arial" panose="020B0604020202020204" pitchFamily="34" charset="0"/>
            <a:cs typeface="Arial" panose="020B0604020202020204" pitchFamily="34" charset="0"/>
          </a:endParaRPr>
        </a:p>
      </dgm:t>
    </dgm:pt>
    <dgm:pt modelId="{61840C4A-2228-4180-A5BC-281221516CCD}" type="sibTrans" cxnId="{446D1C15-BD53-4826-9E2E-87ECC12C744B}">
      <dgm:prSet/>
      <dgm:spPr/>
      <dgm:t>
        <a:bodyPr/>
        <a:lstStyle/>
        <a:p>
          <a:endParaRPr lang="en-MY">
            <a:latin typeface="Arial" panose="020B0604020202020204" pitchFamily="34" charset="0"/>
            <a:cs typeface="Arial" panose="020B0604020202020204" pitchFamily="34" charset="0"/>
          </a:endParaRPr>
        </a:p>
      </dgm:t>
    </dgm:pt>
    <dgm:pt modelId="{872CF5AF-DF7A-466F-83AC-C2186E7AC914}">
      <dgm:prSet custT="1"/>
      <dgm:spPr>
        <a:solidFill>
          <a:schemeClr val="bg2">
            <a:lumMod val="90000"/>
          </a:schemeClr>
        </a:solidFill>
      </dgm:spPr>
      <dgm:t>
        <a:bodyPr/>
        <a:lstStyle/>
        <a:p>
          <a:pPr algn="l">
            <a:buFont typeface="Arial" panose="020B0604020202020204" pitchFamily="34" charset="0"/>
            <a:buChar char="•"/>
          </a:pPr>
          <a:r>
            <a:rPr lang="en-MY" sz="1200" dirty="0">
              <a:latin typeface="Arial" panose="020B0604020202020204" pitchFamily="34" charset="0"/>
              <a:cs typeface="Arial" panose="020B0604020202020204" pitchFamily="34" charset="0"/>
            </a:rPr>
            <a:t>Development scenarios</a:t>
          </a:r>
        </a:p>
      </dgm:t>
    </dgm:pt>
    <dgm:pt modelId="{AF9DB6F3-C070-43AE-B7A2-0BA73DC3403C}" type="parTrans" cxnId="{F09FC238-EC02-49FE-82CA-837665011F4A}">
      <dgm:prSet/>
      <dgm:spPr/>
      <dgm:t>
        <a:bodyPr/>
        <a:lstStyle/>
        <a:p>
          <a:endParaRPr lang="en-MY">
            <a:latin typeface="Arial" panose="020B0604020202020204" pitchFamily="34" charset="0"/>
            <a:cs typeface="Arial" panose="020B0604020202020204" pitchFamily="34" charset="0"/>
          </a:endParaRPr>
        </a:p>
      </dgm:t>
    </dgm:pt>
    <dgm:pt modelId="{2B174BBE-F9A9-4A14-B8FF-727E45AE89AA}" type="sibTrans" cxnId="{F09FC238-EC02-49FE-82CA-837665011F4A}">
      <dgm:prSet/>
      <dgm:spPr/>
      <dgm:t>
        <a:bodyPr/>
        <a:lstStyle/>
        <a:p>
          <a:endParaRPr lang="en-MY">
            <a:latin typeface="Arial" panose="020B0604020202020204" pitchFamily="34" charset="0"/>
            <a:cs typeface="Arial" panose="020B0604020202020204" pitchFamily="34" charset="0"/>
          </a:endParaRPr>
        </a:p>
      </dgm:t>
    </dgm:pt>
    <dgm:pt modelId="{F51F57C2-5EBA-4E6B-BA8A-5EBE792A5FEC}" type="pres">
      <dgm:prSet presAssocID="{88E626D4-5B64-4F0E-9257-C1E254E760CA}" presName="Name0" presStyleCnt="0">
        <dgm:presLayoutVars>
          <dgm:chMax val="7"/>
          <dgm:chPref val="5"/>
          <dgm:dir/>
          <dgm:animOne val="branch"/>
          <dgm:animLvl val="lvl"/>
        </dgm:presLayoutVars>
      </dgm:prSet>
      <dgm:spPr/>
    </dgm:pt>
    <dgm:pt modelId="{76467586-D0BB-40F3-99F2-0E1426AD365F}" type="pres">
      <dgm:prSet presAssocID="{554FBAC3-840C-4CEF-AAFD-8A83A61CB4B5}" presName="ChildAccent5" presStyleCnt="0"/>
      <dgm:spPr/>
    </dgm:pt>
    <dgm:pt modelId="{443A67D4-EAD2-4DD4-A555-346E1564250A}" type="pres">
      <dgm:prSet presAssocID="{554FBAC3-840C-4CEF-AAFD-8A83A61CB4B5}" presName="ChildAccent" presStyleLbl="alignImgPlace1" presStyleIdx="0" presStyleCnt="5"/>
      <dgm:spPr/>
    </dgm:pt>
    <dgm:pt modelId="{ACB7B4D9-2755-4121-ACE2-7EC420232A2C}" type="pres">
      <dgm:prSet presAssocID="{554FBAC3-840C-4CEF-AAFD-8A83A61CB4B5}" presName="Child5" presStyleLbl="revTx" presStyleIdx="0" presStyleCnt="0">
        <dgm:presLayoutVars>
          <dgm:chMax val="0"/>
          <dgm:chPref val="0"/>
          <dgm:bulletEnabled val="1"/>
        </dgm:presLayoutVars>
      </dgm:prSet>
      <dgm:spPr/>
    </dgm:pt>
    <dgm:pt modelId="{10146E06-74EE-4949-8750-ABF1E686AB1D}" type="pres">
      <dgm:prSet presAssocID="{554FBAC3-840C-4CEF-AAFD-8A83A61CB4B5}" presName="Parent5" presStyleLbl="node1" presStyleIdx="0" presStyleCnt="5">
        <dgm:presLayoutVars>
          <dgm:chMax val="2"/>
          <dgm:chPref val="1"/>
          <dgm:bulletEnabled val="1"/>
        </dgm:presLayoutVars>
      </dgm:prSet>
      <dgm:spPr/>
    </dgm:pt>
    <dgm:pt modelId="{1BE30B6B-EC2D-4C7C-8A36-3B3248ADB76C}" type="pres">
      <dgm:prSet presAssocID="{9DDF0EF1-E653-41D8-9C4E-38A1B109C3F9}" presName="ChildAccent4" presStyleCnt="0"/>
      <dgm:spPr/>
    </dgm:pt>
    <dgm:pt modelId="{EADB562E-F03F-493F-8BD0-54A7B98FA027}" type="pres">
      <dgm:prSet presAssocID="{9DDF0EF1-E653-41D8-9C4E-38A1B109C3F9}" presName="ChildAccent" presStyleLbl="alignImgPlace1" presStyleIdx="1" presStyleCnt="5"/>
      <dgm:spPr/>
    </dgm:pt>
    <dgm:pt modelId="{E19E4110-8DCF-4111-9B54-A899F37FDB8F}" type="pres">
      <dgm:prSet presAssocID="{9DDF0EF1-E653-41D8-9C4E-38A1B109C3F9}" presName="Child4" presStyleLbl="revTx" presStyleIdx="0" presStyleCnt="0">
        <dgm:presLayoutVars>
          <dgm:chMax val="0"/>
          <dgm:chPref val="0"/>
          <dgm:bulletEnabled val="1"/>
        </dgm:presLayoutVars>
      </dgm:prSet>
      <dgm:spPr/>
    </dgm:pt>
    <dgm:pt modelId="{8E50EFD5-F863-4E8A-A60A-FA5EA8865C91}" type="pres">
      <dgm:prSet presAssocID="{9DDF0EF1-E653-41D8-9C4E-38A1B109C3F9}" presName="Parent4" presStyleLbl="node1" presStyleIdx="1" presStyleCnt="5">
        <dgm:presLayoutVars>
          <dgm:chMax val="2"/>
          <dgm:chPref val="1"/>
          <dgm:bulletEnabled val="1"/>
        </dgm:presLayoutVars>
      </dgm:prSet>
      <dgm:spPr/>
    </dgm:pt>
    <dgm:pt modelId="{01705370-1549-4C3D-940C-B34B6E513B17}" type="pres">
      <dgm:prSet presAssocID="{D282FDCC-ABD9-4EFC-91FE-B2FE3244F48B}" presName="ChildAccent3" presStyleCnt="0"/>
      <dgm:spPr/>
    </dgm:pt>
    <dgm:pt modelId="{42699047-88CB-483F-A2CC-EC68ADB16247}" type="pres">
      <dgm:prSet presAssocID="{D282FDCC-ABD9-4EFC-91FE-B2FE3244F48B}" presName="ChildAccent" presStyleLbl="alignImgPlace1" presStyleIdx="2" presStyleCnt="5"/>
      <dgm:spPr/>
    </dgm:pt>
    <dgm:pt modelId="{049A9DC1-1246-4155-96E7-A51FEDDE2619}" type="pres">
      <dgm:prSet presAssocID="{D282FDCC-ABD9-4EFC-91FE-B2FE3244F48B}" presName="Child3" presStyleLbl="revTx" presStyleIdx="0" presStyleCnt="0">
        <dgm:presLayoutVars>
          <dgm:chMax val="0"/>
          <dgm:chPref val="0"/>
          <dgm:bulletEnabled val="1"/>
        </dgm:presLayoutVars>
      </dgm:prSet>
      <dgm:spPr/>
    </dgm:pt>
    <dgm:pt modelId="{E91F11B0-D073-4747-ACEB-8EF24A14661D}" type="pres">
      <dgm:prSet presAssocID="{D282FDCC-ABD9-4EFC-91FE-B2FE3244F48B}" presName="Parent3" presStyleLbl="node1" presStyleIdx="2" presStyleCnt="5">
        <dgm:presLayoutVars>
          <dgm:chMax val="2"/>
          <dgm:chPref val="1"/>
          <dgm:bulletEnabled val="1"/>
        </dgm:presLayoutVars>
      </dgm:prSet>
      <dgm:spPr/>
    </dgm:pt>
    <dgm:pt modelId="{96024FCF-9519-428D-9DB8-BB6DBC282116}" type="pres">
      <dgm:prSet presAssocID="{05CF7513-851C-4DE2-A110-3F702F59784F}" presName="ChildAccent2" presStyleCnt="0"/>
      <dgm:spPr/>
    </dgm:pt>
    <dgm:pt modelId="{8663426B-BF61-4D03-B380-5F63CB4F568E}" type="pres">
      <dgm:prSet presAssocID="{05CF7513-851C-4DE2-A110-3F702F59784F}" presName="ChildAccent" presStyleLbl="alignImgPlace1" presStyleIdx="3" presStyleCnt="5"/>
      <dgm:spPr/>
    </dgm:pt>
    <dgm:pt modelId="{F163969C-6B0F-4E48-9C05-7250AF8EC1C1}" type="pres">
      <dgm:prSet presAssocID="{05CF7513-851C-4DE2-A110-3F702F59784F}" presName="Child2" presStyleLbl="revTx" presStyleIdx="0" presStyleCnt="0">
        <dgm:presLayoutVars>
          <dgm:chMax val="0"/>
          <dgm:chPref val="0"/>
          <dgm:bulletEnabled val="1"/>
        </dgm:presLayoutVars>
      </dgm:prSet>
      <dgm:spPr/>
    </dgm:pt>
    <dgm:pt modelId="{BFF3A1DE-9457-4354-84DD-28996295AC86}" type="pres">
      <dgm:prSet presAssocID="{05CF7513-851C-4DE2-A110-3F702F59784F}" presName="Parent2" presStyleLbl="node1" presStyleIdx="3" presStyleCnt="5">
        <dgm:presLayoutVars>
          <dgm:chMax val="2"/>
          <dgm:chPref val="1"/>
          <dgm:bulletEnabled val="1"/>
        </dgm:presLayoutVars>
      </dgm:prSet>
      <dgm:spPr/>
    </dgm:pt>
    <dgm:pt modelId="{5F4DD705-688B-45D4-9097-EBD11F4DD4E8}" type="pres">
      <dgm:prSet presAssocID="{408DE436-B014-414F-BC7A-5E8DCBABEE37}" presName="ChildAccent1" presStyleCnt="0"/>
      <dgm:spPr/>
    </dgm:pt>
    <dgm:pt modelId="{C66887D7-3C4F-461A-8E73-7181F095CC56}" type="pres">
      <dgm:prSet presAssocID="{408DE436-B014-414F-BC7A-5E8DCBABEE37}" presName="ChildAccent" presStyleLbl="alignImgPlace1" presStyleIdx="4" presStyleCnt="5" custScaleX="98949" custScaleY="107143" custLinFactNeighborX="1102" custLinFactNeighborY="3472"/>
      <dgm:spPr/>
    </dgm:pt>
    <dgm:pt modelId="{E68292A6-0F86-4DA9-803A-F3DC99C06BA4}" type="pres">
      <dgm:prSet presAssocID="{408DE436-B014-414F-BC7A-5E8DCBABEE37}" presName="Child1" presStyleLbl="revTx" presStyleIdx="0" presStyleCnt="0">
        <dgm:presLayoutVars>
          <dgm:chMax val="0"/>
          <dgm:chPref val="0"/>
          <dgm:bulletEnabled val="1"/>
        </dgm:presLayoutVars>
      </dgm:prSet>
      <dgm:spPr/>
    </dgm:pt>
    <dgm:pt modelId="{0900FCF2-7D45-4CE8-904D-8E4A7821FBD1}" type="pres">
      <dgm:prSet presAssocID="{408DE436-B014-414F-BC7A-5E8DCBABEE37}" presName="Parent1" presStyleLbl="node1" presStyleIdx="4" presStyleCnt="5" custLinFactNeighborX="1654">
        <dgm:presLayoutVars>
          <dgm:chMax val="2"/>
          <dgm:chPref val="1"/>
          <dgm:bulletEnabled val="1"/>
        </dgm:presLayoutVars>
      </dgm:prSet>
      <dgm:spPr/>
    </dgm:pt>
  </dgm:ptLst>
  <dgm:cxnLst>
    <dgm:cxn modelId="{E4B47D03-E847-4FDF-AE3F-25DE9C6B5D67}" type="presOf" srcId="{05CF7513-851C-4DE2-A110-3F702F59784F}" destId="{BFF3A1DE-9457-4354-84DD-28996295AC86}" srcOrd="0" destOrd="0" presId="urn:microsoft.com/office/officeart/2011/layout/InterconnectedBlockProcess"/>
    <dgm:cxn modelId="{14D25604-6094-4D66-8842-5F56F63454F0}" type="presOf" srcId="{1F5F6C83-B080-408B-98CF-3D71EB87E254}" destId="{E68292A6-0F86-4DA9-803A-F3DC99C06BA4}" srcOrd="0" destOrd="0" presId="urn:microsoft.com/office/officeart/2011/layout/InterconnectedBlockProcess"/>
    <dgm:cxn modelId="{08CED005-66DB-4243-B319-29F935B0CAE1}" srcId="{E47999BA-EE98-40BF-874B-CCD64AAD882D}" destId="{B8145465-CE27-4A88-BACF-74607299213E}" srcOrd="3" destOrd="0" parTransId="{80B074D0-973D-4B6A-B20A-A8E32BDFDB7F}" sibTransId="{2B324189-5FED-4B6F-8630-F31A026113FE}"/>
    <dgm:cxn modelId="{7A6F3E07-D7AC-49B1-8DAA-EF594E4DDCA0}" srcId="{715FC222-1D1B-43D0-AEA6-F07623553FCA}" destId="{33277BD3-2092-402B-B060-C1A446B67000}" srcOrd="4" destOrd="0" parTransId="{A2FEAE0E-1340-4DAC-973D-A02BF4542C91}" sibTransId="{DA43FD62-4538-4454-9C80-F3C73E8F582B}"/>
    <dgm:cxn modelId="{01C2370A-ABB1-4D44-A64E-B5CBCDD512CD}" srcId="{E47999BA-EE98-40BF-874B-CCD64AAD882D}" destId="{4B0B66B7-B2F8-4BC2-A58F-E868594B5CEF}" srcOrd="1" destOrd="0" parTransId="{5770AA74-CC2F-4BE4-94BF-0523B5C45170}" sibTransId="{BB9B7704-95FD-4CB8-9BF4-28BBFA487D54}"/>
    <dgm:cxn modelId="{CA44F40C-03BE-474A-A633-69DD48145800}" type="presOf" srcId="{E39F0D6B-870F-4AEF-8467-05B3EB3638A4}" destId="{443A67D4-EAD2-4DD4-A555-346E1564250A}" srcOrd="1" destOrd="6" presId="urn:microsoft.com/office/officeart/2011/layout/InterconnectedBlockProcess"/>
    <dgm:cxn modelId="{01B1ED0E-9B44-4DA4-B21E-EF3B3243EC07}" type="presOf" srcId="{27561C06-F1E5-4F3D-A236-29F43D234931}" destId="{EADB562E-F03F-493F-8BD0-54A7B98FA027}" srcOrd="1" destOrd="0" presId="urn:microsoft.com/office/officeart/2011/layout/InterconnectedBlockProcess"/>
    <dgm:cxn modelId="{91635710-E71E-458D-94B9-D8869AF9E704}" type="presOf" srcId="{715FC222-1D1B-43D0-AEA6-F07623553FCA}" destId="{C66887D7-3C4F-461A-8E73-7181F095CC56}" srcOrd="1" destOrd="1" presId="urn:microsoft.com/office/officeart/2011/layout/InterconnectedBlockProcess"/>
    <dgm:cxn modelId="{F0D28913-1578-4D1A-B40D-BB3911C8BC4A}" type="presOf" srcId="{3CCCFBAC-6407-4B68-9356-EEBF1E3FFFAC}" destId="{8663426B-BF61-4D03-B380-5F63CB4F568E}" srcOrd="1" destOrd="2" presId="urn:microsoft.com/office/officeart/2011/layout/InterconnectedBlockProcess"/>
    <dgm:cxn modelId="{93DA6A14-C4B4-448D-BCB9-7928417D3ED7}" srcId="{AB1F4A26-0ECE-4F81-8DDA-36257AC04028}" destId="{45BC7B49-F4F1-4F93-A5B5-85015AD7CAC4}" srcOrd="1" destOrd="0" parTransId="{7F22DCE8-2C11-48A2-8888-659FCE015019}" sibTransId="{D9477DA1-9CF4-485C-A751-F3257DFA326A}"/>
    <dgm:cxn modelId="{446D1C15-BD53-4826-9E2E-87ECC12C744B}" srcId="{7712C6A1-2ABA-4C0B-9922-7E7A1A97B8A4}" destId="{1AC647D6-CC20-4FF8-9913-9A12A99E9191}" srcOrd="5" destOrd="0" parTransId="{6CB81683-6074-4808-B6D8-F47B74DD9AD9}" sibTransId="{61840C4A-2228-4180-A5BC-281221516CCD}"/>
    <dgm:cxn modelId="{ABD58816-8208-41B1-86C2-D125BED4C572}" type="presOf" srcId="{9171ED3B-628E-461E-9BE4-F43A2C051203}" destId="{F163969C-6B0F-4E48-9C05-7250AF8EC1C1}" srcOrd="0" destOrd="0" presId="urn:microsoft.com/office/officeart/2011/layout/InterconnectedBlockProcess"/>
    <dgm:cxn modelId="{4BB2AD18-6E44-40BB-97F4-69B394A8F1ED}" type="presOf" srcId="{B5A0DC7C-2D29-4ACA-BA67-DBC7C5C438F4}" destId="{E19E4110-8DCF-4111-9B54-A899F37FDB8F}" srcOrd="0" destOrd="2" presId="urn:microsoft.com/office/officeart/2011/layout/InterconnectedBlockProcess"/>
    <dgm:cxn modelId="{8FF95E1A-5E47-44E3-BAB7-D2D0C5589A13}" type="presOf" srcId="{2CD94B5B-69AA-4D66-BB4C-A1EDC9E4457E}" destId="{C66887D7-3C4F-461A-8E73-7181F095CC56}" srcOrd="1" destOrd="3" presId="urn:microsoft.com/office/officeart/2011/layout/InterconnectedBlockProcess"/>
    <dgm:cxn modelId="{15E68D1B-2FEB-4F28-81F7-69FEC88FB36C}" type="presOf" srcId="{9171ED3B-628E-461E-9BE4-F43A2C051203}" destId="{8663426B-BF61-4D03-B380-5F63CB4F568E}" srcOrd="1" destOrd="0" presId="urn:microsoft.com/office/officeart/2011/layout/InterconnectedBlockProcess"/>
    <dgm:cxn modelId="{30CF711E-BF29-445D-9D1A-5F5F0C8F5E5F}" srcId="{88E626D4-5B64-4F0E-9257-C1E254E760CA}" destId="{554FBAC3-840C-4CEF-AAFD-8A83A61CB4B5}" srcOrd="4" destOrd="0" parTransId="{855220E7-A757-4914-A2D0-A6D1223E21C5}" sibTransId="{E229ED44-7E6B-4F78-A39F-3EBBDBAAEA6B}"/>
    <dgm:cxn modelId="{1298451F-7251-4C88-A6BF-5739D5514CDC}" type="presOf" srcId="{E47999BA-EE98-40BF-874B-CCD64AAD882D}" destId="{049A9DC1-1246-4155-96E7-A51FEDDE2619}" srcOrd="0" destOrd="1" presId="urn:microsoft.com/office/officeart/2011/layout/InterconnectedBlockProcess"/>
    <dgm:cxn modelId="{B0B9D320-BF98-4E95-910C-5873047DD631}" type="presOf" srcId="{D8CB323E-0312-458A-9C84-338ADBEFA5E8}" destId="{E68292A6-0F86-4DA9-803A-F3DC99C06BA4}" srcOrd="0" destOrd="5" presId="urn:microsoft.com/office/officeart/2011/layout/InterconnectedBlockProcess"/>
    <dgm:cxn modelId="{51930F21-9902-4936-B68D-B59A1CB9454D}" type="presOf" srcId="{408DE436-B014-414F-BC7A-5E8DCBABEE37}" destId="{0900FCF2-7D45-4CE8-904D-8E4A7821FBD1}" srcOrd="0" destOrd="0" presId="urn:microsoft.com/office/officeart/2011/layout/InterconnectedBlockProcess"/>
    <dgm:cxn modelId="{8D868329-0193-4242-A1C4-111EF12605E3}" srcId="{9DDF0EF1-E653-41D8-9C4E-38A1B109C3F9}" destId="{AB1F4A26-0ECE-4F81-8DDA-36257AC04028}" srcOrd="1" destOrd="0" parTransId="{174827AA-2C65-4E7A-AC37-4DB2CD5BE2B3}" sibTransId="{383990B7-DA89-4CBC-9F18-FB4FB2585529}"/>
    <dgm:cxn modelId="{EF57C22C-D7FA-4888-B140-024FBDD6419B}" type="presOf" srcId="{29F73A29-2F36-4E62-98F8-40325400EAC8}" destId="{E19E4110-8DCF-4111-9B54-A899F37FDB8F}" srcOrd="0" destOrd="6" presId="urn:microsoft.com/office/officeart/2011/layout/InterconnectedBlockProcess"/>
    <dgm:cxn modelId="{C96A412E-6FEB-49EA-8576-206F6FD8F0B2}" srcId="{9DDF0EF1-E653-41D8-9C4E-38A1B109C3F9}" destId="{27561C06-F1E5-4F3D-A236-29F43D234931}" srcOrd="0" destOrd="0" parTransId="{902238A2-AD12-4825-940E-A7087C639421}" sibTransId="{129A3AF7-7C73-4C1B-A256-DE4289C5E76D}"/>
    <dgm:cxn modelId="{5A4E582E-F8B4-4D9D-885A-3DFA22368402}" srcId="{E47999BA-EE98-40BF-874B-CCD64AAD882D}" destId="{6F865335-3B44-4CC6-A528-E482EF64F9D7}" srcOrd="0" destOrd="0" parTransId="{D72888F3-416E-4C51-A47B-28B6DF924C03}" sibTransId="{4A291F77-FD8F-4A88-94F5-1A60049FA16C}"/>
    <dgm:cxn modelId="{CBE7F52E-85A9-45B0-936D-F7D64505F441}" type="presOf" srcId="{7712C6A1-2ABA-4C0B-9922-7E7A1A97B8A4}" destId="{443A67D4-EAD2-4DD4-A555-346E1564250A}" srcOrd="1" destOrd="1" presId="urn:microsoft.com/office/officeart/2011/layout/InterconnectedBlockProcess"/>
    <dgm:cxn modelId="{446A4432-0637-4EC8-B63D-6CA41E2B6A67}" type="presOf" srcId="{88E626D4-5B64-4F0E-9257-C1E254E760CA}" destId="{F51F57C2-5EBA-4E6B-BA8A-5EBE792A5FEC}" srcOrd="0" destOrd="0" presId="urn:microsoft.com/office/officeart/2011/layout/InterconnectedBlockProcess"/>
    <dgm:cxn modelId="{806C6932-15B3-4E0B-A0A8-08118729DDF6}" type="presOf" srcId="{F02813BB-C453-4711-8C0D-C3EFA8AC1348}" destId="{ACB7B4D9-2755-4121-ACE2-7EC420232A2C}" srcOrd="0" destOrd="9" presId="urn:microsoft.com/office/officeart/2011/layout/InterconnectedBlockProcess"/>
    <dgm:cxn modelId="{26C4C833-85A0-4A24-AA5F-465235B71D1D}" type="presOf" srcId="{7E90B6EF-0B88-49B0-8244-1FAE9B621AED}" destId="{F163969C-6B0F-4E48-9C05-7250AF8EC1C1}" srcOrd="0" destOrd="3" presId="urn:microsoft.com/office/officeart/2011/layout/InterconnectedBlockProcess"/>
    <dgm:cxn modelId="{4E305C35-A48B-432B-B72F-DC97D038C16C}" type="presOf" srcId="{B8145465-CE27-4A88-BACF-74607299213E}" destId="{049A9DC1-1246-4155-96E7-A51FEDDE2619}" srcOrd="0" destOrd="5" presId="urn:microsoft.com/office/officeart/2011/layout/InterconnectedBlockProcess"/>
    <dgm:cxn modelId="{F09FC238-EC02-49FE-82CA-837665011F4A}" srcId="{7712C6A1-2ABA-4C0B-9922-7E7A1A97B8A4}" destId="{872CF5AF-DF7A-466F-83AC-C2186E7AC914}" srcOrd="6" destOrd="0" parTransId="{AF9DB6F3-C070-43AE-B7A2-0BA73DC3403C}" sibTransId="{2B174BBE-F9A9-4A14-B8FF-727E45AE89AA}"/>
    <dgm:cxn modelId="{68863439-BDE3-4779-A504-7CEEC105F63C}" srcId="{7712C6A1-2ABA-4C0B-9922-7E7A1A97B8A4}" destId="{E39F0D6B-870F-4AEF-8467-05B3EB3638A4}" srcOrd="4" destOrd="0" parTransId="{F2E5E723-4C7B-4347-8929-362107848F42}" sibTransId="{5909C0AD-E253-4D1A-900C-5C1986E425C2}"/>
    <dgm:cxn modelId="{06F7B33A-2D21-4DA3-A1DC-C518E64A5AD5}" type="presOf" srcId="{D282FDCC-ABD9-4EFC-91FE-B2FE3244F48B}" destId="{E91F11B0-D073-4747-ACEB-8EF24A14661D}" srcOrd="0" destOrd="0" presId="urn:microsoft.com/office/officeart/2011/layout/InterconnectedBlockProcess"/>
    <dgm:cxn modelId="{FA523C3B-A057-4F28-9A5E-C41DA6C5C253}" type="presOf" srcId="{B68CC1D5-BC10-4403-AD5F-22A6B61C7207}" destId="{443A67D4-EAD2-4DD4-A555-346E1564250A}" srcOrd="1" destOrd="3" presId="urn:microsoft.com/office/officeart/2011/layout/InterconnectedBlockProcess"/>
    <dgm:cxn modelId="{FBCA9F3C-D1C9-4679-A7DE-B40F2428C7E7}" srcId="{05CF7513-851C-4DE2-A110-3F702F59784F}" destId="{783D9899-6419-48EB-8D5D-5CBB775A7165}" srcOrd="1" destOrd="0" parTransId="{3C88958B-E237-4962-B292-0E1D972C524C}" sibTransId="{943E698B-AC1D-4CAE-B501-EFEEB4C62AB0}"/>
    <dgm:cxn modelId="{3E226C3F-09F7-49F9-A0BA-18F2CF8F5CC7}" type="presOf" srcId="{1AC647D6-CC20-4FF8-9913-9A12A99E9191}" destId="{443A67D4-EAD2-4DD4-A555-346E1564250A}" srcOrd="1" destOrd="7" presId="urn:microsoft.com/office/officeart/2011/layout/InterconnectedBlockProcess"/>
    <dgm:cxn modelId="{3CB2E23F-64ED-4656-A59A-34763EF7CAEF}" srcId="{88E626D4-5B64-4F0E-9257-C1E254E760CA}" destId="{05CF7513-851C-4DE2-A110-3F702F59784F}" srcOrd="1" destOrd="0" parTransId="{30F04DE8-F2A3-4549-92AF-A94E3D74B83B}" sibTransId="{0719E161-003A-471D-BEED-EEFA635D53BA}"/>
    <dgm:cxn modelId="{6ACAE55B-AE86-4427-98C2-362EF362611E}" type="presOf" srcId="{E420AF03-1198-413C-A2BB-DC7CBE229FFA}" destId="{443A67D4-EAD2-4DD4-A555-346E1564250A}" srcOrd="1" destOrd="4" presId="urn:microsoft.com/office/officeart/2011/layout/InterconnectedBlockProcess"/>
    <dgm:cxn modelId="{D7F5BE5F-7C08-43A1-977F-D441518FC581}" type="presOf" srcId="{24F8EDE3-AD4C-4E83-9B77-12B404A918BF}" destId="{ACB7B4D9-2755-4121-ACE2-7EC420232A2C}" srcOrd="0" destOrd="0" presId="urn:microsoft.com/office/officeart/2011/layout/InterconnectedBlockProcess"/>
    <dgm:cxn modelId="{988C4760-278D-4C22-A63D-D25DE76471BA}" srcId="{D282FDCC-ABD9-4EFC-91FE-B2FE3244F48B}" destId="{E47999BA-EE98-40BF-874B-CCD64AAD882D}" srcOrd="1" destOrd="0" parTransId="{5D5D03E9-2C10-40BC-B7A9-FE1063D7D026}" sibTransId="{3C2B21B2-C76D-465A-BDAF-4E648671BC57}"/>
    <dgm:cxn modelId="{DEC98C60-5DBA-41C2-97C2-A8701C949FD4}" type="presOf" srcId="{5172DE20-79AF-4332-BF32-84DDD7810C61}" destId="{EADB562E-F03F-493F-8BD0-54A7B98FA027}" srcOrd="1" destOrd="4" presId="urn:microsoft.com/office/officeart/2011/layout/InterconnectedBlockProcess"/>
    <dgm:cxn modelId="{C8E5D041-13EE-47D8-98A7-BD3EF48FDA04}" type="presOf" srcId="{27561C06-F1E5-4F3D-A236-29F43D234931}" destId="{E19E4110-8DCF-4111-9B54-A899F37FDB8F}" srcOrd="0" destOrd="0" presId="urn:microsoft.com/office/officeart/2011/layout/InterconnectedBlockProcess"/>
    <dgm:cxn modelId="{97B21942-AAEB-41A1-8B3E-2A70EBCC0765}" type="presOf" srcId="{917F46E8-D201-4AAC-B7D2-3A3CB400730F}" destId="{42699047-88CB-483F-A2CC-EC68ADB16247}" srcOrd="1" destOrd="6" presId="urn:microsoft.com/office/officeart/2011/layout/InterconnectedBlockProcess"/>
    <dgm:cxn modelId="{51F96662-0E46-47B9-AF5A-4CB461C666E7}" type="presOf" srcId="{833E2912-F262-41C8-BA66-001D05B52113}" destId="{ACB7B4D9-2755-4121-ACE2-7EC420232A2C}" srcOrd="0" destOrd="2" presId="urn:microsoft.com/office/officeart/2011/layout/InterconnectedBlockProcess"/>
    <dgm:cxn modelId="{9E7D2E43-8632-4A09-B1F7-9F960A202782}" type="presOf" srcId="{AA2C1A54-39C0-4C41-BB42-EB92FA97866C}" destId="{E68292A6-0F86-4DA9-803A-F3DC99C06BA4}" srcOrd="0" destOrd="4" presId="urn:microsoft.com/office/officeart/2011/layout/InterconnectedBlockProcess"/>
    <dgm:cxn modelId="{672D6B63-3C90-4878-8BF7-920D158C900E}" type="presOf" srcId="{0C16063B-1DA7-414F-A3F1-CF34745F2155}" destId="{42699047-88CB-483F-A2CC-EC68ADB16247}" srcOrd="1" destOrd="7" presId="urn:microsoft.com/office/officeart/2011/layout/InterconnectedBlockProcess"/>
    <dgm:cxn modelId="{57616745-A441-48DF-BC33-4D20E3567CC2}" srcId="{715FC222-1D1B-43D0-AEA6-F07623553FCA}" destId="{D8CB323E-0312-458A-9C84-338ADBEFA5E8}" srcOrd="3" destOrd="0" parTransId="{DE833D2F-D704-4237-9FBA-7DB1BAEA345A}" sibTransId="{82A1FD9F-4BCC-4E0E-BEFA-8AA840FD2E8E}"/>
    <dgm:cxn modelId="{59050C68-F6BE-48F4-9FB4-4A4696158A4B}" type="presOf" srcId="{057FEB68-F6D1-4412-8587-DD299E22A48B}" destId="{8663426B-BF61-4D03-B380-5F63CB4F568E}" srcOrd="1" destOrd="5" presId="urn:microsoft.com/office/officeart/2011/layout/InterconnectedBlockProcess"/>
    <dgm:cxn modelId="{50241868-CDF3-4976-9D22-BF982CAFB2AE}" srcId="{554FBAC3-840C-4CEF-AAFD-8A83A61CB4B5}" destId="{F02813BB-C453-4711-8C0D-C3EFA8AC1348}" srcOrd="2" destOrd="0" parTransId="{A890D2CA-F6D1-4945-9500-1E3E010867A2}" sibTransId="{7D85B6AF-9B76-4EE4-ACD5-537106F1B313}"/>
    <dgm:cxn modelId="{2CAB5C68-92A1-4983-990C-2E5D169DFD77}" type="presOf" srcId="{24F8EDE3-AD4C-4E83-9B77-12B404A918BF}" destId="{443A67D4-EAD2-4DD4-A555-346E1564250A}" srcOrd="1" destOrd="0" presId="urn:microsoft.com/office/officeart/2011/layout/InterconnectedBlockProcess"/>
    <dgm:cxn modelId="{6969236A-1DB7-46E3-9224-A909064A1415}" type="presOf" srcId="{8CDB9CA1-D628-4D77-9835-C68DDF58DFEA}" destId="{443A67D4-EAD2-4DD4-A555-346E1564250A}" srcOrd="1" destOrd="5" presId="urn:microsoft.com/office/officeart/2011/layout/InterconnectedBlockProcess"/>
    <dgm:cxn modelId="{6C572A4C-AFAB-4F0C-9161-BF6F9BD66416}" srcId="{7712C6A1-2ABA-4C0B-9922-7E7A1A97B8A4}" destId="{833E2912-F262-41C8-BA66-001D05B52113}" srcOrd="0" destOrd="0" parTransId="{28FBB44B-F78E-4EB0-8EE8-7B0D8F62336F}" sibTransId="{8F104AD8-A4D0-4266-85F0-60EA2D0EC2A1}"/>
    <dgm:cxn modelId="{80675D6C-D881-4031-9360-E2BCC3028F69}" type="presOf" srcId="{F02813BB-C453-4711-8C0D-C3EFA8AC1348}" destId="{443A67D4-EAD2-4DD4-A555-346E1564250A}" srcOrd="1" destOrd="9" presId="urn:microsoft.com/office/officeart/2011/layout/InterconnectedBlockProcess"/>
    <dgm:cxn modelId="{5817FA6D-C671-48A6-89AC-6FF2BF59337E}" type="presOf" srcId="{AB1F4A26-0ECE-4F81-8DDA-36257AC04028}" destId="{EADB562E-F03F-493F-8BD0-54A7B98FA027}" srcOrd="1" destOrd="1" presId="urn:microsoft.com/office/officeart/2011/layout/InterconnectedBlockProcess"/>
    <dgm:cxn modelId="{32C9F54E-21CE-495D-8253-60A521C99122}" type="presOf" srcId="{FDA5C0C4-BE66-40DD-98DA-283422A4549F}" destId="{E68292A6-0F86-4DA9-803A-F3DC99C06BA4}" srcOrd="0" destOrd="7" presId="urn:microsoft.com/office/officeart/2011/layout/InterconnectedBlockProcess"/>
    <dgm:cxn modelId="{00C33D4F-8B6C-486A-8DAA-5C09DA4040A0}" type="presOf" srcId="{DF866EB0-789F-455B-9176-7EDE0AA3DB04}" destId="{049A9DC1-1246-4155-96E7-A51FEDDE2619}" srcOrd="0" destOrd="0" presId="urn:microsoft.com/office/officeart/2011/layout/InterconnectedBlockProcess"/>
    <dgm:cxn modelId="{3E66AA6F-1B50-45F0-B4DA-DAA61E6795B2}" srcId="{783D9899-6419-48EB-8D5D-5CBB775A7165}" destId="{C1628B67-6CBC-4084-A7F7-311C9C9AD988}" srcOrd="2" destOrd="0" parTransId="{C86DEE41-247B-4EDB-ADB0-4B023E2138FC}" sibTransId="{86379802-31B8-4D21-81AB-800C92E103C9}"/>
    <dgm:cxn modelId="{319C4651-EAD7-4429-8E5E-0910ED0D5408}" type="presOf" srcId="{C1628B67-6CBC-4084-A7F7-311C9C9AD988}" destId="{F163969C-6B0F-4E48-9C05-7250AF8EC1C1}" srcOrd="0" destOrd="4" presId="urn:microsoft.com/office/officeart/2011/layout/InterconnectedBlockProcess"/>
    <dgm:cxn modelId="{A5803E72-95A8-4E95-BBA2-750D7F2D35A0}" type="presOf" srcId="{AA2C1A54-39C0-4C41-BB42-EB92FA97866C}" destId="{C66887D7-3C4F-461A-8E73-7181F095CC56}" srcOrd="1" destOrd="4" presId="urn:microsoft.com/office/officeart/2011/layout/InterconnectedBlockProcess"/>
    <dgm:cxn modelId="{2E9EBA52-1813-4F88-97E8-C890BF8C4606}" type="presOf" srcId="{66E10248-0DD3-4027-B77A-F794ADB260E0}" destId="{E68292A6-0F86-4DA9-803A-F3DC99C06BA4}" srcOrd="0" destOrd="2" presId="urn:microsoft.com/office/officeart/2011/layout/InterconnectedBlockProcess"/>
    <dgm:cxn modelId="{E0D52F73-D1BF-4B51-A52F-5220095D8A1A}" srcId="{E47999BA-EE98-40BF-874B-CCD64AAD882D}" destId="{917F46E8-D201-4AAC-B7D2-3A3CB400730F}" srcOrd="4" destOrd="0" parTransId="{9E01F989-578B-453A-B9B2-8F85DF0FE83C}" sibTransId="{9F2C4FAC-2CDA-42F8-8DCC-639C18741928}"/>
    <dgm:cxn modelId="{04DF6674-186E-499C-A333-A5A65119F26F}" srcId="{783D9899-6419-48EB-8D5D-5CBB775A7165}" destId="{7E90B6EF-0B88-49B0-8244-1FAE9B621AED}" srcOrd="1" destOrd="0" parTransId="{9339B9F3-EB60-4FA6-BEDB-17219250EE15}" sibTransId="{D0C1A2E8-5A36-4962-8DFE-22A96E28651D}"/>
    <dgm:cxn modelId="{0DD28874-C774-49D3-8D9C-A3D7E410CDB5}" srcId="{E47999BA-EE98-40BF-874B-CCD64AAD882D}" destId="{0C16063B-1DA7-414F-A3F1-CF34745F2155}" srcOrd="5" destOrd="0" parTransId="{2EA961BA-CF28-47F6-AACB-64C1A2D184EF}" sibTransId="{E8B86514-67E5-4182-B0EB-4187BDD564B5}"/>
    <dgm:cxn modelId="{04D74676-DB93-49EC-9F4D-F7D48399CABA}" type="presOf" srcId="{917F46E8-D201-4AAC-B7D2-3A3CB400730F}" destId="{049A9DC1-1246-4155-96E7-A51FEDDE2619}" srcOrd="0" destOrd="6" presId="urn:microsoft.com/office/officeart/2011/layout/InterconnectedBlockProcess"/>
    <dgm:cxn modelId="{AFA19459-2BCE-4D0E-9F2E-06C5E849A4D1}" srcId="{715FC222-1D1B-43D0-AEA6-F07623553FCA}" destId="{FDA5C0C4-BE66-40DD-98DA-283422A4549F}" srcOrd="5" destOrd="0" parTransId="{63D7B3A7-1573-4357-BDC2-C2C2FEF0E655}" sibTransId="{86079CF2-D52E-41FB-960A-6435BF8FA4EF}"/>
    <dgm:cxn modelId="{04B09679-5DA4-4640-8A69-509341C18F49}" type="presOf" srcId="{7712C6A1-2ABA-4C0B-9922-7E7A1A97B8A4}" destId="{ACB7B4D9-2755-4121-ACE2-7EC420232A2C}" srcOrd="0" destOrd="1" presId="urn:microsoft.com/office/officeart/2011/layout/InterconnectedBlockProcess"/>
    <dgm:cxn modelId="{4741C479-B193-4D5A-8AE7-30B641F42217}" type="presOf" srcId="{872CF5AF-DF7A-466F-83AC-C2186E7AC914}" destId="{ACB7B4D9-2755-4121-ACE2-7EC420232A2C}" srcOrd="0" destOrd="8" presId="urn:microsoft.com/office/officeart/2011/layout/InterconnectedBlockProcess"/>
    <dgm:cxn modelId="{DE85297A-2BF7-4855-B3D0-47057CF6EE0A}" type="presOf" srcId="{715FC222-1D1B-43D0-AEA6-F07623553FCA}" destId="{E68292A6-0F86-4DA9-803A-F3DC99C06BA4}" srcOrd="0" destOrd="1" presId="urn:microsoft.com/office/officeart/2011/layout/InterconnectedBlockProcess"/>
    <dgm:cxn modelId="{03979A5A-E6FF-4162-9C9B-C5011B824EFB}" srcId="{408DE436-B014-414F-BC7A-5E8DCBABEE37}" destId="{1F5F6C83-B080-408B-98CF-3D71EB87E254}" srcOrd="0" destOrd="0" parTransId="{BCDDC12B-4F97-4A40-9D5D-47434E7284D1}" sibTransId="{B61604F7-96D1-4DDC-AD00-F5528E3BBE06}"/>
    <dgm:cxn modelId="{0498E77A-1FCB-4A8D-A7BC-C00C5B3E34E3}" srcId="{715FC222-1D1B-43D0-AEA6-F07623553FCA}" destId="{2CD94B5B-69AA-4D66-BB4C-A1EDC9E4457E}" srcOrd="1" destOrd="0" parTransId="{69031FE9-9F9B-4F3B-A1B4-78A810A2DCDE}" sibTransId="{BA2FF050-63A3-4430-88B9-28A905AA04FF}"/>
    <dgm:cxn modelId="{CCE7217C-45BC-4E76-B1B2-1DC435CD3F59}" type="presOf" srcId="{2D3D735F-36EE-44EB-BD73-83AB3D8B684B}" destId="{C66887D7-3C4F-461A-8E73-7181F095CC56}" srcOrd="1" destOrd="9" presId="urn:microsoft.com/office/officeart/2011/layout/InterconnectedBlockProcess"/>
    <dgm:cxn modelId="{8B1B147F-BA55-4658-99F3-19A6CE15DA33}" type="presOf" srcId="{29F73A29-2F36-4E62-98F8-40325400EAC8}" destId="{EADB562E-F03F-493F-8BD0-54A7B98FA027}" srcOrd="1" destOrd="6" presId="urn:microsoft.com/office/officeart/2011/layout/InterconnectedBlockProcess"/>
    <dgm:cxn modelId="{790A677F-8C33-46D6-9E62-C24B6258AD50}" type="presOf" srcId="{B68CC1D5-BC10-4403-AD5F-22A6B61C7207}" destId="{ACB7B4D9-2755-4121-ACE2-7EC420232A2C}" srcOrd="0" destOrd="3" presId="urn:microsoft.com/office/officeart/2011/layout/InterconnectedBlockProcess"/>
    <dgm:cxn modelId="{456A2380-81A5-43BC-81E0-EF0CBA3AB726}" type="presOf" srcId="{3CCCFBAC-6407-4B68-9356-EEBF1E3FFFAC}" destId="{F163969C-6B0F-4E48-9C05-7250AF8EC1C1}" srcOrd="0" destOrd="2" presId="urn:microsoft.com/office/officeart/2011/layout/InterconnectedBlockProcess"/>
    <dgm:cxn modelId="{A4CA5D80-4166-463E-B677-007DE46BCF47}" type="presOf" srcId="{BAA5137F-BCC5-4DF7-97DE-37CB56A08C78}" destId="{E19E4110-8DCF-4111-9B54-A899F37FDB8F}" srcOrd="0" destOrd="7" presId="urn:microsoft.com/office/officeart/2011/layout/InterconnectedBlockProcess"/>
    <dgm:cxn modelId="{F9D2A883-951D-40DE-AF81-4054B43105A8}" srcId="{554FBAC3-840C-4CEF-AAFD-8A83A61CB4B5}" destId="{7712C6A1-2ABA-4C0B-9922-7E7A1A97B8A4}" srcOrd="1" destOrd="0" parTransId="{126DCD83-2629-4D8E-B4F9-A4371213C8EA}" sibTransId="{7D9B08CA-3B8F-4615-809B-8661CA22285B}"/>
    <dgm:cxn modelId="{CA89D887-51AD-43F9-8D7A-F10E23498F4D}" srcId="{88E626D4-5B64-4F0E-9257-C1E254E760CA}" destId="{D282FDCC-ABD9-4EFC-91FE-B2FE3244F48B}" srcOrd="2" destOrd="0" parTransId="{4BC79922-1C3F-4B83-AD4E-6A0A016B98D0}" sibTransId="{5CB55402-D19B-4033-A62E-CA16740FCD84}"/>
    <dgm:cxn modelId="{77EE2F88-6DC0-46AC-9506-5552F98A6BC8}" type="presOf" srcId="{B5A0DC7C-2D29-4ACA-BA67-DBC7C5C438F4}" destId="{EADB562E-F03F-493F-8BD0-54A7B98FA027}" srcOrd="1" destOrd="2" presId="urn:microsoft.com/office/officeart/2011/layout/InterconnectedBlockProcess"/>
    <dgm:cxn modelId="{5B787288-8300-48ED-8081-6229BE41B799}" type="presOf" srcId="{FDA5C0C4-BE66-40DD-98DA-283422A4549F}" destId="{C66887D7-3C4F-461A-8E73-7181F095CC56}" srcOrd="1" destOrd="7" presId="urn:microsoft.com/office/officeart/2011/layout/InterconnectedBlockProcess"/>
    <dgm:cxn modelId="{6B422289-3A88-4D20-B234-F756E7654AFF}" type="presOf" srcId="{AB1F4A26-0ECE-4F81-8DDA-36257AC04028}" destId="{E19E4110-8DCF-4111-9B54-A899F37FDB8F}" srcOrd="0" destOrd="1" presId="urn:microsoft.com/office/officeart/2011/layout/InterconnectedBlockProcess"/>
    <dgm:cxn modelId="{3DD9048B-A394-4801-B22F-8E843F7778F1}" srcId="{7712C6A1-2ABA-4C0B-9922-7E7A1A97B8A4}" destId="{E420AF03-1198-413C-A2BB-DC7CBE229FFA}" srcOrd="2" destOrd="0" parTransId="{E196F6B9-748B-47EF-92BD-4E61C07D2B31}" sibTransId="{11E0272F-AB2D-4A02-B549-76F0E33B2811}"/>
    <dgm:cxn modelId="{36FB428E-06E5-4302-B683-6EDE2E90B3DF}" srcId="{88E626D4-5B64-4F0E-9257-C1E254E760CA}" destId="{408DE436-B014-414F-BC7A-5E8DCBABEE37}" srcOrd="0" destOrd="0" parTransId="{5E9FF0C3-5A7B-420A-9FD6-DC535911C2A4}" sibTransId="{758A1D09-75E2-4AF7-9BA6-09F6D8F223FA}"/>
    <dgm:cxn modelId="{73FAAC91-BB7E-49AB-960B-05B59BC3F899}" srcId="{AB1F4A26-0ECE-4F81-8DDA-36257AC04028}" destId="{6920F665-7B5C-42D0-A212-7E237F7FDA4E}" srcOrd="6" destOrd="0" parTransId="{729C2D19-852E-41F8-8A63-631D7DB9F644}" sibTransId="{D381F5B9-240E-410D-BBB7-97BABAFB26A4}"/>
    <dgm:cxn modelId="{585B7392-A0BD-40ED-BCF3-EA4D43C1E5D1}" srcId="{715FC222-1D1B-43D0-AEA6-F07623553FCA}" destId="{AA2C1A54-39C0-4C41-BB42-EB92FA97866C}" srcOrd="2" destOrd="0" parTransId="{9DFCA19D-89A2-44E8-98D3-0BA0EFC956C5}" sibTransId="{6967C017-FD39-4A78-A60C-09AFAC4CF100}"/>
    <dgm:cxn modelId="{F40BA992-6003-49A4-890A-EC60AE6A000D}" type="presOf" srcId="{33277BD3-2092-402B-B060-C1A446B67000}" destId="{E68292A6-0F86-4DA9-803A-F3DC99C06BA4}" srcOrd="0" destOrd="6" presId="urn:microsoft.com/office/officeart/2011/layout/InterconnectedBlockProcess"/>
    <dgm:cxn modelId="{B70E5F93-5244-4B93-9D07-C800BA22E502}" type="presOf" srcId="{D8CB323E-0312-458A-9C84-338ADBEFA5E8}" destId="{C66887D7-3C4F-461A-8E73-7181F095CC56}" srcOrd="1" destOrd="5" presId="urn:microsoft.com/office/officeart/2011/layout/InterconnectedBlockProcess"/>
    <dgm:cxn modelId="{9B7B8E93-79BF-4684-9A68-A85446BF6AB4}" srcId="{AB1F4A26-0ECE-4F81-8DDA-36257AC04028}" destId="{5172DE20-79AF-4332-BF32-84DDD7810C61}" srcOrd="2" destOrd="0" parTransId="{706BCE8B-C7FF-4066-A8AF-FF081B2AD4D9}" sibTransId="{4891D456-2E82-4A9E-ACB3-E0FA29FD78CB}"/>
    <dgm:cxn modelId="{949A9F94-2E40-4756-AF0A-8A93F77FAC6E}" type="presOf" srcId="{6F865335-3B44-4CC6-A528-E482EF64F9D7}" destId="{049A9DC1-1246-4155-96E7-A51FEDDE2619}" srcOrd="0" destOrd="2" presId="urn:microsoft.com/office/officeart/2011/layout/InterconnectedBlockProcess"/>
    <dgm:cxn modelId="{5D5A6596-9090-4852-B582-8626BF5CD602}" type="presOf" srcId="{0C16063B-1DA7-414F-A3F1-CF34745F2155}" destId="{049A9DC1-1246-4155-96E7-A51FEDDE2619}" srcOrd="0" destOrd="7" presId="urn:microsoft.com/office/officeart/2011/layout/InterconnectedBlockProcess"/>
    <dgm:cxn modelId="{F774BF98-490B-42ED-8D28-93793D05CB7B}" srcId="{AB1F4A26-0ECE-4F81-8DDA-36257AC04028}" destId="{BAA5137F-BCC5-4DF7-97DE-37CB56A08C78}" srcOrd="5" destOrd="0" parTransId="{3C2E5057-943B-496A-A5F1-2AE3D5FDE36D}" sibTransId="{AC5BDEA5-4699-4603-AA8E-F09D6860F335}"/>
    <dgm:cxn modelId="{968B0699-7774-4798-9CA3-08AE748F5046}" type="presOf" srcId="{E47999BA-EE98-40BF-874B-CCD64AAD882D}" destId="{42699047-88CB-483F-A2CC-EC68ADB16247}" srcOrd="1" destOrd="1" presId="urn:microsoft.com/office/officeart/2011/layout/InterconnectedBlockProcess"/>
    <dgm:cxn modelId="{D11E2999-F07C-431B-AA34-3E35FC250EA9}" type="presOf" srcId="{2CD94B5B-69AA-4D66-BB4C-A1EDC9E4457E}" destId="{E68292A6-0F86-4DA9-803A-F3DC99C06BA4}" srcOrd="0" destOrd="3" presId="urn:microsoft.com/office/officeart/2011/layout/InterconnectedBlockProcess"/>
    <dgm:cxn modelId="{B93A129B-6257-4E09-8A7C-A1CEAACBDCF3}" srcId="{715FC222-1D1B-43D0-AEA6-F07623553FCA}" destId="{66E10248-0DD3-4027-B77A-F794ADB260E0}" srcOrd="0" destOrd="0" parTransId="{A71EB8EA-7148-4EC6-8161-E9D38E2851BD}" sibTransId="{CAB6F0DC-CF46-4EDC-B824-6F8C7155EA8B}"/>
    <dgm:cxn modelId="{3AA0D79F-1602-4748-BBB8-96D6D5F9ADAF}" type="presOf" srcId="{66E10248-0DD3-4027-B77A-F794ADB260E0}" destId="{C66887D7-3C4F-461A-8E73-7181F095CC56}" srcOrd="1" destOrd="2" presId="urn:microsoft.com/office/officeart/2011/layout/InterconnectedBlockProcess"/>
    <dgm:cxn modelId="{1571A6A3-95E2-4C28-A524-DF72E30C47F2}" type="presOf" srcId="{F1F4B5DE-B146-4E2C-8830-2680D4433A80}" destId="{C66887D7-3C4F-461A-8E73-7181F095CC56}" srcOrd="1" destOrd="8" presId="urn:microsoft.com/office/officeart/2011/layout/InterconnectedBlockProcess"/>
    <dgm:cxn modelId="{A4FD7EA6-6C44-41CF-A41F-D3E41C781E7E}" type="presOf" srcId="{4B0B66B7-B2F8-4BC2-A58F-E868594B5CEF}" destId="{42699047-88CB-483F-A2CC-EC68ADB16247}" srcOrd="1" destOrd="3" presId="urn:microsoft.com/office/officeart/2011/layout/InterconnectedBlockProcess"/>
    <dgm:cxn modelId="{1F5D0DAD-CA7F-46C8-8E58-AB75A4C8A353}" srcId="{554FBAC3-840C-4CEF-AAFD-8A83A61CB4B5}" destId="{24F8EDE3-AD4C-4E83-9B77-12B404A918BF}" srcOrd="0" destOrd="0" parTransId="{35700700-2600-40EF-8D60-429261DD7E9A}" sibTransId="{F34C0676-9ECD-4CD5-A9AF-939217D32366}"/>
    <dgm:cxn modelId="{7C39C3AE-B564-4FA9-BFC2-EB1FF49F8450}" type="presOf" srcId="{C1628B67-6CBC-4084-A7F7-311C9C9AD988}" destId="{8663426B-BF61-4D03-B380-5F63CB4F568E}" srcOrd="1" destOrd="4" presId="urn:microsoft.com/office/officeart/2011/layout/InterconnectedBlockProcess"/>
    <dgm:cxn modelId="{EFFAE9AE-3AB1-4843-B425-A63F5556F1CD}" type="presOf" srcId="{1AC647D6-CC20-4FF8-9913-9A12A99E9191}" destId="{ACB7B4D9-2755-4121-ACE2-7EC420232A2C}" srcOrd="0" destOrd="7" presId="urn:microsoft.com/office/officeart/2011/layout/InterconnectedBlockProcess"/>
    <dgm:cxn modelId="{198211AF-61FD-45FE-84C7-27840C2C64AD}" type="presOf" srcId="{B8145465-CE27-4A88-BACF-74607299213E}" destId="{42699047-88CB-483F-A2CC-EC68ADB16247}" srcOrd="1" destOrd="5" presId="urn:microsoft.com/office/officeart/2011/layout/InterconnectedBlockProcess"/>
    <dgm:cxn modelId="{84C429AF-F25C-4394-9A29-084DFCA58652}" type="presOf" srcId="{833E2912-F262-41C8-BA66-001D05B52113}" destId="{443A67D4-EAD2-4DD4-A555-346E1564250A}" srcOrd="1" destOrd="2" presId="urn:microsoft.com/office/officeart/2011/layout/InterconnectedBlockProcess"/>
    <dgm:cxn modelId="{8582F8AF-464E-47FB-BDF7-CA4746DEBAE3}" type="presOf" srcId="{42F56C5C-8E39-47A0-8505-F8C28B7BEF64}" destId="{049A9DC1-1246-4155-96E7-A51FEDDE2619}" srcOrd="0" destOrd="4" presId="urn:microsoft.com/office/officeart/2011/layout/InterconnectedBlockProcess"/>
    <dgm:cxn modelId="{ADAAD0B3-A976-45E0-8428-0CC3BD9794A8}" srcId="{AB1F4A26-0ECE-4F81-8DDA-36257AC04028}" destId="{B5A0DC7C-2D29-4ACA-BA67-DBC7C5C438F4}" srcOrd="0" destOrd="0" parTransId="{1B58A938-E058-48A3-9446-B5060417DF45}" sibTransId="{51B8DDF8-7B18-46F5-B4E6-0B99BF7B3CC1}"/>
    <dgm:cxn modelId="{697FCFB7-9203-4D65-95FD-3FAAC4E05EAE}" srcId="{7712C6A1-2ABA-4C0B-9922-7E7A1A97B8A4}" destId="{B68CC1D5-BC10-4403-AD5F-22A6B61C7207}" srcOrd="1" destOrd="0" parTransId="{D2DD2147-8A1B-4DB1-9986-EFBD19F8AEBA}" sibTransId="{57B10FB9-A4EA-41B4-A2F1-6F3033F5B64A}"/>
    <dgm:cxn modelId="{5B00FFB8-50DC-4C61-881A-009E6832E03F}" type="presOf" srcId="{1F5F6C83-B080-408B-98CF-3D71EB87E254}" destId="{C66887D7-3C4F-461A-8E73-7181F095CC56}" srcOrd="1" destOrd="0" presId="urn:microsoft.com/office/officeart/2011/layout/InterconnectedBlockProcess"/>
    <dgm:cxn modelId="{5E0262B9-70A5-4160-9479-F5E14AB04F76}" type="presOf" srcId="{BAA5137F-BCC5-4DF7-97DE-37CB56A08C78}" destId="{EADB562E-F03F-493F-8BD0-54A7B98FA027}" srcOrd="1" destOrd="7" presId="urn:microsoft.com/office/officeart/2011/layout/InterconnectedBlockProcess"/>
    <dgm:cxn modelId="{0682F1BB-7CFD-4356-9A3B-31FD64A2264E}" type="presOf" srcId="{42F56C5C-8E39-47A0-8505-F8C28B7BEF64}" destId="{42699047-88CB-483F-A2CC-EC68ADB16247}" srcOrd="1" destOrd="4" presId="urn:microsoft.com/office/officeart/2011/layout/InterconnectedBlockProcess"/>
    <dgm:cxn modelId="{FB4149C0-0145-4A33-93B3-BC85756ACA0A}" srcId="{783D9899-6419-48EB-8D5D-5CBB775A7165}" destId="{3CCCFBAC-6407-4B68-9356-EEBF1E3FFFAC}" srcOrd="0" destOrd="0" parTransId="{CF24D897-0D41-4862-BC71-5080BB19FE26}" sibTransId="{1C693A27-5B5F-40D6-8FD1-C845EE00FDBA}"/>
    <dgm:cxn modelId="{C300B9C1-38B3-4294-8CE1-6B6D97AF5235}" type="presOf" srcId="{057FEB68-F6D1-4412-8587-DD299E22A48B}" destId="{F163969C-6B0F-4E48-9C05-7250AF8EC1C1}" srcOrd="0" destOrd="5" presId="urn:microsoft.com/office/officeart/2011/layout/InterconnectedBlockProcess"/>
    <dgm:cxn modelId="{1929F0C3-DAC0-42E2-A71B-83506AD9C6E1}" srcId="{408DE436-B014-414F-BC7A-5E8DCBABEE37}" destId="{715FC222-1D1B-43D0-AEA6-F07623553FCA}" srcOrd="1" destOrd="0" parTransId="{4EB875A9-A777-4570-B7B1-9006662A8ED6}" sibTransId="{9988BB4F-DE65-462E-B2F2-3D6293027CBC}"/>
    <dgm:cxn modelId="{5865E7CB-8E4B-40A5-84B0-97258F0BA7D4}" type="presOf" srcId="{2D3D735F-36EE-44EB-BD73-83AB3D8B684B}" destId="{E68292A6-0F86-4DA9-803A-F3DC99C06BA4}" srcOrd="0" destOrd="9" presId="urn:microsoft.com/office/officeart/2011/layout/InterconnectedBlockProcess"/>
    <dgm:cxn modelId="{905D11CC-51F6-458F-9FAF-5447814A67C2}" type="presOf" srcId="{3444CA71-D20A-44A3-B83F-9E1ECB7ACC7F}" destId="{E19E4110-8DCF-4111-9B54-A899F37FDB8F}" srcOrd="0" destOrd="5" presId="urn:microsoft.com/office/officeart/2011/layout/InterconnectedBlockProcess"/>
    <dgm:cxn modelId="{3F8CD7CD-D4EE-40B5-A8DE-D3C32B44AEE5}" srcId="{05CF7513-851C-4DE2-A110-3F702F59784F}" destId="{9171ED3B-628E-461E-9BE4-F43A2C051203}" srcOrd="0" destOrd="0" parTransId="{FDA26804-D68B-4223-8325-C8A39D5DFE22}" sibTransId="{B5A0E1EC-6A59-424E-BFFA-5B12C8E98406}"/>
    <dgm:cxn modelId="{466211D1-B48C-49F1-A8F6-68C95108004A}" srcId="{D282FDCC-ABD9-4EFC-91FE-B2FE3244F48B}" destId="{DF866EB0-789F-455B-9176-7EDE0AA3DB04}" srcOrd="0" destOrd="0" parTransId="{18E71C4F-90F2-49B0-A738-8F636492AF38}" sibTransId="{317A35BF-9EFF-4090-B723-B32DB7EE0A85}"/>
    <dgm:cxn modelId="{071397D1-327F-43AE-8C8C-A2EAB0CF1FA7}" type="presOf" srcId="{33277BD3-2092-402B-B060-C1A446B67000}" destId="{C66887D7-3C4F-461A-8E73-7181F095CC56}" srcOrd="1" destOrd="6" presId="urn:microsoft.com/office/officeart/2011/layout/InterconnectedBlockProcess"/>
    <dgm:cxn modelId="{60148BD4-6006-46CE-ADBB-853BDF3291E5}" type="presOf" srcId="{DF866EB0-789F-455B-9176-7EDE0AA3DB04}" destId="{42699047-88CB-483F-A2CC-EC68ADB16247}" srcOrd="1" destOrd="0" presId="urn:microsoft.com/office/officeart/2011/layout/InterconnectedBlockProcess"/>
    <dgm:cxn modelId="{2FE96CD5-32FE-49FB-B27F-F6001C85EC38}" type="presOf" srcId="{E420AF03-1198-413C-A2BB-DC7CBE229FFA}" destId="{ACB7B4D9-2755-4121-ACE2-7EC420232A2C}" srcOrd="0" destOrd="4" presId="urn:microsoft.com/office/officeart/2011/layout/InterconnectedBlockProcess"/>
    <dgm:cxn modelId="{CE9C8CD7-FF86-4119-9688-DEBA6DD50F3C}" type="presOf" srcId="{45BC7B49-F4F1-4F93-A5B5-85015AD7CAC4}" destId="{E19E4110-8DCF-4111-9B54-A899F37FDB8F}" srcOrd="0" destOrd="3" presId="urn:microsoft.com/office/officeart/2011/layout/InterconnectedBlockProcess"/>
    <dgm:cxn modelId="{9269ADD7-5A04-411F-905F-48A981A9DD8C}" type="presOf" srcId="{8CDB9CA1-D628-4D77-9835-C68DDF58DFEA}" destId="{ACB7B4D9-2755-4121-ACE2-7EC420232A2C}" srcOrd="0" destOrd="5" presId="urn:microsoft.com/office/officeart/2011/layout/InterconnectedBlockProcess"/>
    <dgm:cxn modelId="{22E9E4DB-5C54-4D75-A276-8B49BDE695C4}" type="presOf" srcId="{E39F0D6B-870F-4AEF-8467-05B3EB3638A4}" destId="{ACB7B4D9-2755-4121-ACE2-7EC420232A2C}" srcOrd="0" destOrd="6" presId="urn:microsoft.com/office/officeart/2011/layout/InterconnectedBlockProcess"/>
    <dgm:cxn modelId="{94613DEA-476B-4F1C-A86F-59C58792577F}" type="presOf" srcId="{4B0B66B7-B2F8-4BC2-A58F-E868594B5CEF}" destId="{049A9DC1-1246-4155-96E7-A51FEDDE2619}" srcOrd="0" destOrd="3" presId="urn:microsoft.com/office/officeart/2011/layout/InterconnectedBlockProcess"/>
    <dgm:cxn modelId="{8E4600ED-3FDC-468F-A164-00999F54C72F}" srcId="{E47999BA-EE98-40BF-874B-CCD64AAD882D}" destId="{42F56C5C-8E39-47A0-8505-F8C28B7BEF64}" srcOrd="2" destOrd="0" parTransId="{281A9042-32A3-4ABD-B406-58312F13EB0B}" sibTransId="{30FE165D-ED0A-4074-85A0-A9C18DB7BDB9}"/>
    <dgm:cxn modelId="{680A04ED-2535-4B66-95A6-C801BC2738AF}" type="presOf" srcId="{6920F665-7B5C-42D0-A212-7E237F7FDA4E}" destId="{E19E4110-8DCF-4111-9B54-A899F37FDB8F}" srcOrd="0" destOrd="8" presId="urn:microsoft.com/office/officeart/2011/layout/InterconnectedBlockProcess"/>
    <dgm:cxn modelId="{27B787ED-55B0-43E7-9E8A-01D4C02996A8}" type="presOf" srcId="{6920F665-7B5C-42D0-A212-7E237F7FDA4E}" destId="{EADB562E-F03F-493F-8BD0-54A7B98FA027}" srcOrd="1" destOrd="8" presId="urn:microsoft.com/office/officeart/2011/layout/InterconnectedBlockProcess"/>
    <dgm:cxn modelId="{CE8816EE-2B43-47CF-B08A-4E3CD7D8837C}" srcId="{AB1F4A26-0ECE-4F81-8DDA-36257AC04028}" destId="{3444CA71-D20A-44A3-B83F-9E1ECB7ACC7F}" srcOrd="3" destOrd="0" parTransId="{91B26AF5-9230-4C0D-86A2-EBC13376828F}" sibTransId="{3D26727C-20BB-4852-951D-146F451DD216}"/>
    <dgm:cxn modelId="{36A219EE-7542-4830-843F-C9884D9DC948}" type="presOf" srcId="{783D9899-6419-48EB-8D5D-5CBB775A7165}" destId="{F163969C-6B0F-4E48-9C05-7250AF8EC1C1}" srcOrd="0" destOrd="1" presId="urn:microsoft.com/office/officeart/2011/layout/InterconnectedBlockProcess"/>
    <dgm:cxn modelId="{C4270DF1-0E09-49FF-B2D7-069B4AC9A6DF}" srcId="{AB1F4A26-0ECE-4F81-8DDA-36257AC04028}" destId="{29F73A29-2F36-4E62-98F8-40325400EAC8}" srcOrd="4" destOrd="0" parTransId="{C0B9283F-3B3A-4631-8734-1D0AFD5D6FEF}" sibTransId="{E8F7D076-425B-4DFF-8FE0-EAAECB8C819F}"/>
    <dgm:cxn modelId="{5FC4ECF1-0E7F-4F6A-B4A6-AA94E91EC264}" type="presOf" srcId="{5172DE20-79AF-4332-BF32-84DDD7810C61}" destId="{E19E4110-8DCF-4111-9B54-A899F37FDB8F}" srcOrd="0" destOrd="4" presId="urn:microsoft.com/office/officeart/2011/layout/InterconnectedBlockProcess"/>
    <dgm:cxn modelId="{FB9903F2-1CD3-4A0A-939D-D02A4E5939E7}" type="presOf" srcId="{6F865335-3B44-4CC6-A528-E482EF64F9D7}" destId="{42699047-88CB-483F-A2CC-EC68ADB16247}" srcOrd="1" destOrd="2" presId="urn:microsoft.com/office/officeart/2011/layout/InterconnectedBlockProcess"/>
    <dgm:cxn modelId="{66DEF2F2-78B3-4A1F-91D3-6133AEBAB424}" srcId="{7712C6A1-2ABA-4C0B-9922-7E7A1A97B8A4}" destId="{8CDB9CA1-D628-4D77-9835-C68DDF58DFEA}" srcOrd="3" destOrd="0" parTransId="{37A661A8-5ACC-41CE-B1F5-7011E033407A}" sibTransId="{79CA1E16-42C7-41E4-B9A0-4982265D5513}"/>
    <dgm:cxn modelId="{D172DAF4-CE4F-49DD-9054-4888A98075C2}" type="presOf" srcId="{9DDF0EF1-E653-41D8-9C4E-38A1B109C3F9}" destId="{8E50EFD5-F863-4E8A-A60A-FA5EA8865C91}" srcOrd="0" destOrd="0" presId="urn:microsoft.com/office/officeart/2011/layout/InterconnectedBlockProcess"/>
    <dgm:cxn modelId="{23642DF7-0EC6-4161-BC13-6C75167C979A}" srcId="{783D9899-6419-48EB-8D5D-5CBB775A7165}" destId="{057FEB68-F6D1-4412-8587-DD299E22A48B}" srcOrd="3" destOrd="0" parTransId="{83CBDBA7-5EC8-4C80-B989-AEC3CF798CF4}" sibTransId="{95A03B16-A974-4344-9C5E-110E77C9A788}"/>
    <dgm:cxn modelId="{4DF759F7-E7FF-4E96-9B59-604856682B92}" type="presOf" srcId="{3444CA71-D20A-44A3-B83F-9E1ECB7ACC7F}" destId="{EADB562E-F03F-493F-8BD0-54A7B98FA027}" srcOrd="1" destOrd="5" presId="urn:microsoft.com/office/officeart/2011/layout/InterconnectedBlockProcess"/>
    <dgm:cxn modelId="{DDF6F9F7-F63C-4B2F-9608-54E96D914883}" type="presOf" srcId="{783D9899-6419-48EB-8D5D-5CBB775A7165}" destId="{8663426B-BF61-4D03-B380-5F63CB4F568E}" srcOrd="1" destOrd="1" presId="urn:microsoft.com/office/officeart/2011/layout/InterconnectedBlockProcess"/>
    <dgm:cxn modelId="{955EC2F8-10D5-4480-8985-E4BAF6D8CE55}" type="presOf" srcId="{554FBAC3-840C-4CEF-AAFD-8A83A61CB4B5}" destId="{10146E06-74EE-4949-8750-ABF1E686AB1D}" srcOrd="0" destOrd="0" presId="urn:microsoft.com/office/officeart/2011/layout/InterconnectedBlockProcess"/>
    <dgm:cxn modelId="{8F03A4F9-7D5E-496E-A32E-7F311CED80F7}" type="presOf" srcId="{45BC7B49-F4F1-4F93-A5B5-85015AD7CAC4}" destId="{EADB562E-F03F-493F-8BD0-54A7B98FA027}" srcOrd="1" destOrd="3" presId="urn:microsoft.com/office/officeart/2011/layout/InterconnectedBlockProcess"/>
    <dgm:cxn modelId="{D41CD0F9-DE53-466A-8437-9A687A2FB71C}" srcId="{715FC222-1D1B-43D0-AEA6-F07623553FCA}" destId="{2D3D735F-36EE-44EB-BD73-83AB3D8B684B}" srcOrd="7" destOrd="0" parTransId="{DFBF577A-32EA-4E47-AB93-F215A7F9ED53}" sibTransId="{28C05BB2-4F47-48E0-A211-9BB81019C77A}"/>
    <dgm:cxn modelId="{9A6603FA-D4DF-476F-8B95-AFDB76842B21}" type="presOf" srcId="{7E90B6EF-0B88-49B0-8244-1FAE9B621AED}" destId="{8663426B-BF61-4D03-B380-5F63CB4F568E}" srcOrd="1" destOrd="3" presId="urn:microsoft.com/office/officeart/2011/layout/InterconnectedBlockProcess"/>
    <dgm:cxn modelId="{9D9405FA-DD33-4369-B465-532CCAF852AB}" type="presOf" srcId="{F1F4B5DE-B146-4E2C-8830-2680D4433A80}" destId="{E68292A6-0F86-4DA9-803A-F3DC99C06BA4}" srcOrd="0" destOrd="8" presId="urn:microsoft.com/office/officeart/2011/layout/InterconnectedBlockProcess"/>
    <dgm:cxn modelId="{ABDE15FA-C1C1-4A36-88EC-FDB4FFE91947}" srcId="{88E626D4-5B64-4F0E-9257-C1E254E760CA}" destId="{9DDF0EF1-E653-41D8-9C4E-38A1B109C3F9}" srcOrd="3" destOrd="0" parTransId="{E27F2756-41A6-4FCB-BDA3-ABA9FCD5950C}" sibTransId="{EC1BE2E1-F0E8-44F8-B9EA-31E59F91C600}"/>
    <dgm:cxn modelId="{94037AFA-D412-4A26-97FD-CB95F670286D}" type="presOf" srcId="{872CF5AF-DF7A-466F-83AC-C2186E7AC914}" destId="{443A67D4-EAD2-4DD4-A555-346E1564250A}" srcOrd="1" destOrd="8" presId="urn:microsoft.com/office/officeart/2011/layout/InterconnectedBlockProcess"/>
    <dgm:cxn modelId="{D1571BFB-A627-412E-8446-7EFC9EF0FC70}" srcId="{715FC222-1D1B-43D0-AEA6-F07623553FCA}" destId="{F1F4B5DE-B146-4E2C-8830-2680D4433A80}" srcOrd="6" destOrd="0" parTransId="{220689B1-C2E1-4855-BAD1-A2E55F73C12D}" sibTransId="{BDC84954-292B-43C1-AD68-C054F47AFEAD}"/>
    <dgm:cxn modelId="{9276A338-F926-45BF-9A1C-BF6F0E6C7EBC}" type="presParOf" srcId="{F51F57C2-5EBA-4E6B-BA8A-5EBE792A5FEC}" destId="{76467586-D0BB-40F3-99F2-0E1426AD365F}" srcOrd="0" destOrd="0" presId="urn:microsoft.com/office/officeart/2011/layout/InterconnectedBlockProcess"/>
    <dgm:cxn modelId="{A4B41CDD-D413-425C-9318-B0CA2CE070A8}" type="presParOf" srcId="{76467586-D0BB-40F3-99F2-0E1426AD365F}" destId="{443A67D4-EAD2-4DD4-A555-346E1564250A}" srcOrd="0" destOrd="0" presId="urn:microsoft.com/office/officeart/2011/layout/InterconnectedBlockProcess"/>
    <dgm:cxn modelId="{07F719C2-AA81-4555-BCAF-09B726EE3AC9}" type="presParOf" srcId="{F51F57C2-5EBA-4E6B-BA8A-5EBE792A5FEC}" destId="{ACB7B4D9-2755-4121-ACE2-7EC420232A2C}" srcOrd="1" destOrd="0" presId="urn:microsoft.com/office/officeart/2011/layout/InterconnectedBlockProcess"/>
    <dgm:cxn modelId="{CC66CF79-FD32-4E74-9E7C-99DB150B96A3}" type="presParOf" srcId="{F51F57C2-5EBA-4E6B-BA8A-5EBE792A5FEC}" destId="{10146E06-74EE-4949-8750-ABF1E686AB1D}" srcOrd="2" destOrd="0" presId="urn:microsoft.com/office/officeart/2011/layout/InterconnectedBlockProcess"/>
    <dgm:cxn modelId="{F2F8CADC-300E-44BA-AD2C-2847294CB5F0}" type="presParOf" srcId="{F51F57C2-5EBA-4E6B-BA8A-5EBE792A5FEC}" destId="{1BE30B6B-EC2D-4C7C-8A36-3B3248ADB76C}" srcOrd="3" destOrd="0" presId="urn:microsoft.com/office/officeart/2011/layout/InterconnectedBlockProcess"/>
    <dgm:cxn modelId="{2AEEB7DF-6EBC-4C76-9494-AE1673BF27A4}" type="presParOf" srcId="{1BE30B6B-EC2D-4C7C-8A36-3B3248ADB76C}" destId="{EADB562E-F03F-493F-8BD0-54A7B98FA027}" srcOrd="0" destOrd="0" presId="urn:microsoft.com/office/officeart/2011/layout/InterconnectedBlockProcess"/>
    <dgm:cxn modelId="{14AE1CAC-7A7F-44B7-87C6-C5137A2FD5A3}" type="presParOf" srcId="{F51F57C2-5EBA-4E6B-BA8A-5EBE792A5FEC}" destId="{E19E4110-8DCF-4111-9B54-A899F37FDB8F}" srcOrd="4" destOrd="0" presId="urn:microsoft.com/office/officeart/2011/layout/InterconnectedBlockProcess"/>
    <dgm:cxn modelId="{242B5FAD-E843-480D-98E6-A64C395EB4B2}" type="presParOf" srcId="{F51F57C2-5EBA-4E6B-BA8A-5EBE792A5FEC}" destId="{8E50EFD5-F863-4E8A-A60A-FA5EA8865C91}" srcOrd="5" destOrd="0" presId="urn:microsoft.com/office/officeart/2011/layout/InterconnectedBlockProcess"/>
    <dgm:cxn modelId="{F5BFC30C-352F-4745-999C-D346B3613157}" type="presParOf" srcId="{F51F57C2-5EBA-4E6B-BA8A-5EBE792A5FEC}" destId="{01705370-1549-4C3D-940C-B34B6E513B17}" srcOrd="6" destOrd="0" presId="urn:microsoft.com/office/officeart/2011/layout/InterconnectedBlockProcess"/>
    <dgm:cxn modelId="{51AB39C9-5CAD-4CF2-94F7-B740D5A4AEFA}" type="presParOf" srcId="{01705370-1549-4C3D-940C-B34B6E513B17}" destId="{42699047-88CB-483F-A2CC-EC68ADB16247}" srcOrd="0" destOrd="0" presId="urn:microsoft.com/office/officeart/2011/layout/InterconnectedBlockProcess"/>
    <dgm:cxn modelId="{B2786F43-D54F-4A64-A19A-AB2B6FD93A70}" type="presParOf" srcId="{F51F57C2-5EBA-4E6B-BA8A-5EBE792A5FEC}" destId="{049A9DC1-1246-4155-96E7-A51FEDDE2619}" srcOrd="7" destOrd="0" presId="urn:microsoft.com/office/officeart/2011/layout/InterconnectedBlockProcess"/>
    <dgm:cxn modelId="{86CBD6DF-E0D4-4C18-9039-E2A8A2463530}" type="presParOf" srcId="{F51F57C2-5EBA-4E6B-BA8A-5EBE792A5FEC}" destId="{E91F11B0-D073-4747-ACEB-8EF24A14661D}" srcOrd="8" destOrd="0" presId="urn:microsoft.com/office/officeart/2011/layout/InterconnectedBlockProcess"/>
    <dgm:cxn modelId="{6539282B-67CB-4F91-A1B1-EA0D5EFDC7E0}" type="presParOf" srcId="{F51F57C2-5EBA-4E6B-BA8A-5EBE792A5FEC}" destId="{96024FCF-9519-428D-9DB8-BB6DBC282116}" srcOrd="9" destOrd="0" presId="urn:microsoft.com/office/officeart/2011/layout/InterconnectedBlockProcess"/>
    <dgm:cxn modelId="{E456ABB5-52B1-4471-8355-1BA51AAF9AE0}" type="presParOf" srcId="{96024FCF-9519-428D-9DB8-BB6DBC282116}" destId="{8663426B-BF61-4D03-B380-5F63CB4F568E}" srcOrd="0" destOrd="0" presId="urn:microsoft.com/office/officeart/2011/layout/InterconnectedBlockProcess"/>
    <dgm:cxn modelId="{5310C46C-FBD9-4BDF-9860-49B728965A3D}" type="presParOf" srcId="{F51F57C2-5EBA-4E6B-BA8A-5EBE792A5FEC}" destId="{F163969C-6B0F-4E48-9C05-7250AF8EC1C1}" srcOrd="10" destOrd="0" presId="urn:microsoft.com/office/officeart/2011/layout/InterconnectedBlockProcess"/>
    <dgm:cxn modelId="{1EEFBBC1-FE2B-4AD6-8C69-589B20B560EC}" type="presParOf" srcId="{F51F57C2-5EBA-4E6B-BA8A-5EBE792A5FEC}" destId="{BFF3A1DE-9457-4354-84DD-28996295AC86}" srcOrd="11" destOrd="0" presId="urn:microsoft.com/office/officeart/2011/layout/InterconnectedBlockProcess"/>
    <dgm:cxn modelId="{5056D796-4D12-4970-8269-43C68384C7F3}" type="presParOf" srcId="{F51F57C2-5EBA-4E6B-BA8A-5EBE792A5FEC}" destId="{5F4DD705-688B-45D4-9097-EBD11F4DD4E8}" srcOrd="12" destOrd="0" presId="urn:microsoft.com/office/officeart/2011/layout/InterconnectedBlockProcess"/>
    <dgm:cxn modelId="{D4CA431C-35D1-4A45-ACD5-356CD9F6944A}" type="presParOf" srcId="{5F4DD705-688B-45D4-9097-EBD11F4DD4E8}" destId="{C66887D7-3C4F-461A-8E73-7181F095CC56}" srcOrd="0" destOrd="0" presId="urn:microsoft.com/office/officeart/2011/layout/InterconnectedBlockProcess"/>
    <dgm:cxn modelId="{6492C70E-A96F-40E7-92B0-CB4C8BE18586}" type="presParOf" srcId="{F51F57C2-5EBA-4E6B-BA8A-5EBE792A5FEC}" destId="{E68292A6-0F86-4DA9-803A-F3DC99C06BA4}" srcOrd="13" destOrd="0" presId="urn:microsoft.com/office/officeart/2011/layout/InterconnectedBlockProcess"/>
    <dgm:cxn modelId="{24558B29-071E-44E4-B248-0F8925978460}" type="presParOf" srcId="{F51F57C2-5EBA-4E6B-BA8A-5EBE792A5FEC}" destId="{0900FCF2-7D45-4CE8-904D-8E4A7821FBD1}"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E7573A-61A3-437C-8722-EEEF55345122}" type="doc">
      <dgm:prSet loTypeId="urn:microsoft.com/office/officeart/2024/layout/BulletTimeline" loCatId="timeline" qsTypeId="urn:microsoft.com/office/officeart/2005/8/quickstyle/simple1" qsCatId="simple" csTypeId="urn:microsoft.com/office/officeart/2005/8/colors/accent1_2" csCatId="accent1" phldr="1"/>
      <dgm:spPr/>
      <dgm:t>
        <a:bodyPr/>
        <a:lstStyle/>
        <a:p>
          <a:endParaRPr lang="en-MY"/>
        </a:p>
      </dgm:t>
    </dgm:pt>
    <dgm:pt modelId="{BC77102B-E1FB-4ED9-AF48-A37C28577071}">
      <dgm:prSet phldrT="[Text]" phldr="0" custT="1"/>
      <dgm:spPr/>
      <dgm:t>
        <a:bodyPr/>
        <a:lstStyle/>
        <a:p>
          <a:pPr>
            <a:defRPr b="1"/>
          </a:pPr>
          <a:r>
            <a:rPr lang="en-US" sz="1500" dirty="0">
              <a:latin typeface="Arial" panose="020B0604020202020204" pitchFamily="34" charset="0"/>
              <a:cs typeface="Arial" panose="020B0604020202020204" pitchFamily="34" charset="0"/>
            </a:rPr>
            <a:t>Year 1: Build The Foundation</a:t>
          </a:r>
          <a:endParaRPr lang="en-MY" sz="1500" dirty="0">
            <a:latin typeface="Arial" panose="020B0604020202020204" pitchFamily="34" charset="0"/>
            <a:cs typeface="Arial" panose="020B0604020202020204" pitchFamily="34" charset="0"/>
          </a:endParaRPr>
        </a:p>
      </dgm:t>
    </dgm:pt>
    <dgm:pt modelId="{0B3D1C32-6156-40C3-A732-FA21284FA2E1}" type="parTrans" cxnId="{225BD343-14D9-4DAB-B3F1-1A14B1EF6AA2}">
      <dgm:prSet/>
      <dgm:spPr/>
      <dgm:t>
        <a:bodyPr/>
        <a:lstStyle/>
        <a:p>
          <a:endParaRPr lang="en-MY" sz="1500">
            <a:latin typeface="Arial" panose="020B0604020202020204" pitchFamily="34" charset="0"/>
            <a:cs typeface="Arial" panose="020B0604020202020204" pitchFamily="34" charset="0"/>
          </a:endParaRPr>
        </a:p>
      </dgm:t>
    </dgm:pt>
    <dgm:pt modelId="{5BEBC3F4-196B-49C9-8258-43288F77286C}" type="sibTrans" cxnId="{225BD343-14D9-4DAB-B3F1-1A14B1EF6AA2}">
      <dgm:prSet/>
      <dgm:spPr/>
      <dgm:t>
        <a:bodyPr/>
        <a:lstStyle/>
        <a:p>
          <a:endParaRPr lang="en-MY" sz="1500">
            <a:latin typeface="Arial" panose="020B0604020202020204" pitchFamily="34" charset="0"/>
            <a:cs typeface="Arial" panose="020B0604020202020204" pitchFamily="34" charset="0"/>
          </a:endParaRPr>
        </a:p>
      </dgm:t>
    </dgm:pt>
    <dgm:pt modelId="{BCDDCC9D-90CF-4B17-986F-79294AC83FE2}">
      <dgm:prSet phldrT="[Text]" phldr="0" custT="1"/>
      <dgm:spPr/>
      <dgm:t>
        <a:bodyPr/>
        <a:lstStyle/>
        <a:p>
          <a:pPr>
            <a:buFont typeface="Arial" panose="020B0604020202020204" pitchFamily="34" charset="0"/>
            <a:buChar char="•"/>
          </a:pPr>
          <a:r>
            <a:rPr lang="en-US" sz="1500" dirty="0">
              <a:latin typeface="Arial" panose="020B0604020202020204" pitchFamily="34" charset="0"/>
              <a:cs typeface="Arial" panose="020B0604020202020204" pitchFamily="34" charset="0"/>
            </a:rPr>
            <a:t>Establish SME Data Warehouse</a:t>
          </a:r>
          <a:endParaRPr lang="en-MY" sz="1500" dirty="0">
            <a:latin typeface="Arial" panose="020B0604020202020204" pitchFamily="34" charset="0"/>
            <a:cs typeface="Arial" panose="020B0604020202020204" pitchFamily="34" charset="0"/>
          </a:endParaRPr>
        </a:p>
      </dgm:t>
    </dgm:pt>
    <dgm:pt modelId="{9D8E1D03-3B8B-4F28-A0DD-8A02F71FB233}" type="parTrans" cxnId="{4DE6EA55-2577-4699-8A37-1BC89E3FF663}">
      <dgm:prSet/>
      <dgm:spPr/>
      <dgm:t>
        <a:bodyPr/>
        <a:lstStyle/>
        <a:p>
          <a:endParaRPr lang="en-MY" sz="1500">
            <a:latin typeface="Arial" panose="020B0604020202020204" pitchFamily="34" charset="0"/>
            <a:cs typeface="Arial" panose="020B0604020202020204" pitchFamily="34" charset="0"/>
          </a:endParaRPr>
        </a:p>
      </dgm:t>
    </dgm:pt>
    <dgm:pt modelId="{CC0D882E-32BA-44EC-8D29-CA1C973E82E9}" type="sibTrans" cxnId="{4DE6EA55-2577-4699-8A37-1BC89E3FF663}">
      <dgm:prSet/>
      <dgm:spPr/>
      <dgm:t>
        <a:bodyPr/>
        <a:lstStyle/>
        <a:p>
          <a:endParaRPr lang="en-MY" sz="1500">
            <a:latin typeface="Arial" panose="020B0604020202020204" pitchFamily="34" charset="0"/>
            <a:cs typeface="Arial" panose="020B0604020202020204" pitchFamily="34" charset="0"/>
          </a:endParaRPr>
        </a:p>
      </dgm:t>
    </dgm:pt>
    <dgm:pt modelId="{95D3F35E-F765-477C-A25B-A8849DEDF163}">
      <dgm:prSet phldrT="[Text]" phldr="0" custT="1"/>
      <dgm:spPr/>
      <dgm:t>
        <a:bodyPr/>
        <a:lstStyle/>
        <a:p>
          <a:pPr>
            <a:defRPr b="1"/>
          </a:pPr>
          <a:r>
            <a:rPr lang="en-US" sz="1500" dirty="0">
              <a:latin typeface="Arial" panose="020B0604020202020204" pitchFamily="34" charset="0"/>
              <a:cs typeface="Arial" panose="020B0604020202020204" pitchFamily="34" charset="0"/>
            </a:rPr>
            <a:t>Year 2: From Data to Reporting</a:t>
          </a:r>
          <a:endParaRPr lang="en-MY" sz="1500" dirty="0">
            <a:latin typeface="Arial" panose="020B0604020202020204" pitchFamily="34" charset="0"/>
            <a:cs typeface="Arial" panose="020B0604020202020204" pitchFamily="34" charset="0"/>
          </a:endParaRPr>
        </a:p>
      </dgm:t>
    </dgm:pt>
    <dgm:pt modelId="{47AEB00B-0795-4B57-8E1A-F2BDD8A5351F}" type="parTrans" cxnId="{B48428EF-3B81-4AF6-8511-329EB9189E33}">
      <dgm:prSet/>
      <dgm:spPr/>
      <dgm:t>
        <a:bodyPr/>
        <a:lstStyle/>
        <a:p>
          <a:endParaRPr lang="en-MY" sz="1500">
            <a:latin typeface="Arial" panose="020B0604020202020204" pitchFamily="34" charset="0"/>
            <a:cs typeface="Arial" panose="020B0604020202020204" pitchFamily="34" charset="0"/>
          </a:endParaRPr>
        </a:p>
      </dgm:t>
    </dgm:pt>
    <dgm:pt modelId="{1AD9D306-6054-42D2-8C8F-9B7F7051CE32}" type="sibTrans" cxnId="{B48428EF-3B81-4AF6-8511-329EB9189E33}">
      <dgm:prSet/>
      <dgm:spPr/>
      <dgm:t>
        <a:bodyPr/>
        <a:lstStyle/>
        <a:p>
          <a:endParaRPr lang="en-MY" sz="1500">
            <a:latin typeface="Arial" panose="020B0604020202020204" pitchFamily="34" charset="0"/>
            <a:cs typeface="Arial" panose="020B0604020202020204" pitchFamily="34" charset="0"/>
          </a:endParaRPr>
        </a:p>
      </dgm:t>
    </dgm:pt>
    <dgm:pt modelId="{4748EC12-6F11-4449-91E9-E52D5EB8F1BD}">
      <dgm:prSet phldrT="[Text]" phldr="0" custT="1"/>
      <dgm:spPr/>
      <dgm:t>
        <a:bodyPr/>
        <a:lstStyle/>
        <a:p>
          <a:r>
            <a:rPr lang="en-US" sz="1500" dirty="0">
              <a:latin typeface="Arial" panose="020B0604020202020204" pitchFamily="34" charset="0"/>
              <a:cs typeface="Arial" panose="020B0604020202020204" pitchFamily="34" charset="0"/>
            </a:rPr>
            <a:t>Develop SDS Dashboard</a:t>
          </a:r>
          <a:endParaRPr lang="en-MY" sz="1500" dirty="0">
            <a:latin typeface="Arial" panose="020B0604020202020204" pitchFamily="34" charset="0"/>
            <a:cs typeface="Arial" panose="020B0604020202020204" pitchFamily="34" charset="0"/>
          </a:endParaRPr>
        </a:p>
      </dgm:t>
    </dgm:pt>
    <dgm:pt modelId="{F133F3DC-E3F4-414C-B47D-DC1C20E285E5}" type="parTrans" cxnId="{CF58DC77-C4D2-41E7-B02E-E2CE5CD2A254}">
      <dgm:prSet/>
      <dgm:spPr/>
      <dgm:t>
        <a:bodyPr/>
        <a:lstStyle/>
        <a:p>
          <a:endParaRPr lang="en-MY" sz="1500">
            <a:latin typeface="Arial" panose="020B0604020202020204" pitchFamily="34" charset="0"/>
            <a:cs typeface="Arial" panose="020B0604020202020204" pitchFamily="34" charset="0"/>
          </a:endParaRPr>
        </a:p>
      </dgm:t>
    </dgm:pt>
    <dgm:pt modelId="{DC318C33-1B3C-4CA5-AE4E-BC4FEE7E7FD3}" type="sibTrans" cxnId="{CF58DC77-C4D2-41E7-B02E-E2CE5CD2A254}">
      <dgm:prSet/>
      <dgm:spPr/>
      <dgm:t>
        <a:bodyPr/>
        <a:lstStyle/>
        <a:p>
          <a:endParaRPr lang="en-MY" sz="1500">
            <a:latin typeface="Arial" panose="020B0604020202020204" pitchFamily="34" charset="0"/>
            <a:cs typeface="Arial" panose="020B0604020202020204" pitchFamily="34" charset="0"/>
          </a:endParaRPr>
        </a:p>
      </dgm:t>
    </dgm:pt>
    <dgm:pt modelId="{274C4913-7A9C-4705-9885-DC619CA96A2D}">
      <dgm:prSet phldrT="[Text]" phldr="0" custT="1"/>
      <dgm:spPr/>
      <dgm:t>
        <a:bodyPr/>
        <a:lstStyle/>
        <a:p>
          <a:pPr>
            <a:defRPr b="1"/>
          </a:pPr>
          <a:r>
            <a:rPr lang="en-US" sz="1500" dirty="0">
              <a:latin typeface="Arial" panose="020B0604020202020204" pitchFamily="34" charset="0"/>
              <a:cs typeface="Arial" panose="020B0604020202020204" pitchFamily="34" charset="0"/>
            </a:rPr>
            <a:t>Year 3: SME Intelligence</a:t>
          </a:r>
          <a:endParaRPr lang="en-MY" sz="1500" dirty="0">
            <a:latin typeface="Arial" panose="020B0604020202020204" pitchFamily="34" charset="0"/>
            <a:cs typeface="Arial" panose="020B0604020202020204" pitchFamily="34" charset="0"/>
          </a:endParaRPr>
        </a:p>
      </dgm:t>
    </dgm:pt>
    <dgm:pt modelId="{5E02E1EB-EDB9-40D6-8E43-2CE86C60DAE3}" type="parTrans" cxnId="{73CDE6BF-63DB-41B0-B1DD-489B051D5819}">
      <dgm:prSet/>
      <dgm:spPr/>
      <dgm:t>
        <a:bodyPr/>
        <a:lstStyle/>
        <a:p>
          <a:endParaRPr lang="en-MY" sz="1500">
            <a:latin typeface="Arial" panose="020B0604020202020204" pitchFamily="34" charset="0"/>
            <a:cs typeface="Arial" panose="020B0604020202020204" pitchFamily="34" charset="0"/>
          </a:endParaRPr>
        </a:p>
      </dgm:t>
    </dgm:pt>
    <dgm:pt modelId="{26500599-A2E1-4D8B-87BB-49329AD698CC}" type="sibTrans" cxnId="{73CDE6BF-63DB-41B0-B1DD-489B051D5819}">
      <dgm:prSet/>
      <dgm:spPr/>
      <dgm:t>
        <a:bodyPr/>
        <a:lstStyle/>
        <a:p>
          <a:endParaRPr lang="en-MY" sz="1500">
            <a:latin typeface="Arial" panose="020B0604020202020204" pitchFamily="34" charset="0"/>
            <a:cs typeface="Arial" panose="020B0604020202020204" pitchFamily="34" charset="0"/>
          </a:endParaRPr>
        </a:p>
      </dgm:t>
    </dgm:pt>
    <dgm:pt modelId="{DE0DC4E0-D31B-49D2-851E-55C02F6B62F4}">
      <dgm:prSet phldrT="[Text]" phldr="0" custT="1"/>
      <dgm:spPr/>
      <dgm:t>
        <a:bodyPr/>
        <a:lstStyle/>
        <a:p>
          <a:r>
            <a:rPr lang="en-US" sz="1500" dirty="0">
              <a:latin typeface="Arial" panose="020B0604020202020204" pitchFamily="34" charset="0"/>
              <a:cs typeface="Arial" panose="020B0604020202020204" pitchFamily="34" charset="0"/>
            </a:rPr>
            <a:t>Build SME Growth Prediction Models</a:t>
          </a:r>
          <a:endParaRPr lang="en-MY" sz="1500" dirty="0">
            <a:latin typeface="Arial" panose="020B0604020202020204" pitchFamily="34" charset="0"/>
            <a:cs typeface="Arial" panose="020B0604020202020204" pitchFamily="34" charset="0"/>
          </a:endParaRPr>
        </a:p>
      </dgm:t>
    </dgm:pt>
    <dgm:pt modelId="{B6592827-34F1-4CA3-A5D0-5682AAE09A28}" type="parTrans" cxnId="{05FC8B1C-D749-4B67-A335-301B849F78EE}">
      <dgm:prSet/>
      <dgm:spPr/>
      <dgm:t>
        <a:bodyPr/>
        <a:lstStyle/>
        <a:p>
          <a:endParaRPr lang="en-MY" sz="1500">
            <a:latin typeface="Arial" panose="020B0604020202020204" pitchFamily="34" charset="0"/>
            <a:cs typeface="Arial" panose="020B0604020202020204" pitchFamily="34" charset="0"/>
          </a:endParaRPr>
        </a:p>
      </dgm:t>
    </dgm:pt>
    <dgm:pt modelId="{4C4828CD-EE1C-4937-8CCD-0FC9A9E214AE}" type="sibTrans" cxnId="{05FC8B1C-D749-4B67-A335-301B849F78EE}">
      <dgm:prSet/>
      <dgm:spPr/>
      <dgm:t>
        <a:bodyPr/>
        <a:lstStyle/>
        <a:p>
          <a:endParaRPr lang="en-MY" sz="1500">
            <a:latin typeface="Arial" panose="020B0604020202020204" pitchFamily="34" charset="0"/>
            <a:cs typeface="Arial" panose="020B0604020202020204" pitchFamily="34" charset="0"/>
          </a:endParaRPr>
        </a:p>
      </dgm:t>
    </dgm:pt>
    <dgm:pt modelId="{44114694-C2C9-429A-AB56-164BD216EF3D}">
      <dgm:prSet phldrT="[Text]" phldr="0" custT="1"/>
      <dgm:spPr/>
      <dgm:t>
        <a:bodyPr/>
        <a:lstStyle/>
        <a:p>
          <a:pPr>
            <a:buFont typeface="Arial" panose="020B0604020202020204" pitchFamily="34" charset="0"/>
            <a:buChar char="•"/>
          </a:pPr>
          <a:r>
            <a:rPr lang="en-US" sz="1500" dirty="0">
              <a:latin typeface="Arial" panose="020B0604020202020204" pitchFamily="34" charset="0"/>
              <a:cs typeface="Arial" panose="020B0604020202020204" pitchFamily="34" charset="0"/>
            </a:rPr>
            <a:t>Develop SME Development Index </a:t>
          </a:r>
          <a:endParaRPr lang="en-MY" sz="1500" dirty="0">
            <a:latin typeface="Arial" panose="020B0604020202020204" pitchFamily="34" charset="0"/>
            <a:cs typeface="Arial" panose="020B0604020202020204" pitchFamily="34" charset="0"/>
          </a:endParaRPr>
        </a:p>
      </dgm:t>
    </dgm:pt>
    <dgm:pt modelId="{065905F3-E9A9-44C7-8E9A-9D74647F071B}" type="parTrans" cxnId="{7F4D8F52-9326-4603-9D20-F94C5EF92671}">
      <dgm:prSet/>
      <dgm:spPr/>
      <dgm:t>
        <a:bodyPr/>
        <a:lstStyle/>
        <a:p>
          <a:endParaRPr lang="en-MY" sz="1500">
            <a:latin typeface="Arial" panose="020B0604020202020204" pitchFamily="34" charset="0"/>
            <a:cs typeface="Arial" panose="020B0604020202020204" pitchFamily="34" charset="0"/>
          </a:endParaRPr>
        </a:p>
      </dgm:t>
    </dgm:pt>
    <dgm:pt modelId="{E66C262B-7666-4646-A647-F201B49F5980}" type="sibTrans" cxnId="{7F4D8F52-9326-4603-9D20-F94C5EF92671}">
      <dgm:prSet/>
      <dgm:spPr/>
      <dgm:t>
        <a:bodyPr/>
        <a:lstStyle/>
        <a:p>
          <a:endParaRPr lang="en-MY" sz="1500">
            <a:latin typeface="Arial" panose="020B0604020202020204" pitchFamily="34" charset="0"/>
            <a:cs typeface="Arial" panose="020B0604020202020204" pitchFamily="34" charset="0"/>
          </a:endParaRPr>
        </a:p>
      </dgm:t>
    </dgm:pt>
    <dgm:pt modelId="{6FF433D8-AFA1-46A5-83DD-98260FFC37C9}">
      <dgm:prSet phldrT="[Text]" phldr="0" custT="1"/>
      <dgm:spPr/>
      <dgm:t>
        <a:bodyPr/>
        <a:lstStyle/>
        <a:p>
          <a:r>
            <a:rPr lang="en-US" sz="1500" dirty="0">
              <a:latin typeface="Arial" panose="020B0604020202020204" pitchFamily="34" charset="0"/>
              <a:cs typeface="Arial" panose="020B0604020202020204" pitchFamily="34" charset="0"/>
            </a:rPr>
            <a:t>Data Governance Framework</a:t>
          </a:r>
          <a:endParaRPr lang="en-MY" sz="1500" dirty="0">
            <a:latin typeface="Arial" panose="020B0604020202020204" pitchFamily="34" charset="0"/>
            <a:cs typeface="Arial" panose="020B0604020202020204" pitchFamily="34" charset="0"/>
          </a:endParaRPr>
        </a:p>
      </dgm:t>
    </dgm:pt>
    <dgm:pt modelId="{1C759C56-88ED-4AD2-8B4F-14353E454330}" type="parTrans" cxnId="{05112A92-9E21-45F4-91B6-1B055713217E}">
      <dgm:prSet/>
      <dgm:spPr/>
      <dgm:t>
        <a:bodyPr/>
        <a:lstStyle/>
        <a:p>
          <a:endParaRPr lang="en-MY" sz="1500">
            <a:latin typeface="Arial" panose="020B0604020202020204" pitchFamily="34" charset="0"/>
            <a:cs typeface="Arial" panose="020B0604020202020204" pitchFamily="34" charset="0"/>
          </a:endParaRPr>
        </a:p>
      </dgm:t>
    </dgm:pt>
    <dgm:pt modelId="{7A610B11-F913-4B4B-98A2-0CD4466E2558}" type="sibTrans" cxnId="{05112A92-9E21-45F4-91B6-1B055713217E}">
      <dgm:prSet/>
      <dgm:spPr/>
      <dgm:t>
        <a:bodyPr/>
        <a:lstStyle/>
        <a:p>
          <a:endParaRPr lang="en-MY" sz="1500">
            <a:latin typeface="Arial" panose="020B0604020202020204" pitchFamily="34" charset="0"/>
            <a:cs typeface="Arial" panose="020B0604020202020204" pitchFamily="34" charset="0"/>
          </a:endParaRPr>
        </a:p>
      </dgm:t>
    </dgm:pt>
    <dgm:pt modelId="{DD401291-C2B9-4B0B-82C9-D33C48120FFA}">
      <dgm:prSet phldrT="[Text]" phldr="0" custT="1"/>
      <dgm:spPr/>
      <dgm:t>
        <a:bodyPr/>
        <a:lstStyle/>
        <a:p>
          <a:r>
            <a:rPr lang="en-US" sz="1500" dirty="0">
              <a:latin typeface="Arial" panose="020B0604020202020204" pitchFamily="34" charset="0"/>
              <a:cs typeface="Arial" panose="020B0604020202020204" pitchFamily="34" charset="0"/>
            </a:rPr>
            <a:t>Program Impact Analysis</a:t>
          </a:r>
          <a:endParaRPr lang="en-MY" sz="1500" dirty="0">
            <a:latin typeface="Arial" panose="020B0604020202020204" pitchFamily="34" charset="0"/>
            <a:cs typeface="Arial" panose="020B0604020202020204" pitchFamily="34" charset="0"/>
          </a:endParaRPr>
        </a:p>
      </dgm:t>
    </dgm:pt>
    <dgm:pt modelId="{5EC8FB35-C31A-44DC-B84F-CDF439ACDFB0}" type="parTrans" cxnId="{A895BCF8-72A0-40E9-BAF3-C800E863C911}">
      <dgm:prSet/>
      <dgm:spPr/>
      <dgm:t>
        <a:bodyPr/>
        <a:lstStyle/>
        <a:p>
          <a:endParaRPr lang="en-MY" sz="1500">
            <a:latin typeface="Arial" panose="020B0604020202020204" pitchFamily="34" charset="0"/>
            <a:cs typeface="Arial" panose="020B0604020202020204" pitchFamily="34" charset="0"/>
          </a:endParaRPr>
        </a:p>
      </dgm:t>
    </dgm:pt>
    <dgm:pt modelId="{18BC22A4-84C1-4F2C-ADBA-E52CE4AD56BC}" type="sibTrans" cxnId="{A895BCF8-72A0-40E9-BAF3-C800E863C911}">
      <dgm:prSet/>
      <dgm:spPr/>
      <dgm:t>
        <a:bodyPr/>
        <a:lstStyle/>
        <a:p>
          <a:endParaRPr lang="en-MY" sz="1500">
            <a:latin typeface="Arial" panose="020B0604020202020204" pitchFamily="34" charset="0"/>
            <a:cs typeface="Arial" panose="020B0604020202020204" pitchFamily="34" charset="0"/>
          </a:endParaRPr>
        </a:p>
      </dgm:t>
    </dgm:pt>
    <dgm:pt modelId="{84912CF3-5645-458A-A77F-DB7093CF5749}">
      <dgm:prSet phldrT="[Text]" phldr="0" custT="1"/>
      <dgm:spPr/>
      <dgm:t>
        <a:bodyPr/>
        <a:lstStyle/>
        <a:p>
          <a:r>
            <a:rPr lang="en-US" sz="1500" dirty="0">
              <a:latin typeface="Arial" panose="020B0604020202020204" pitchFamily="34" charset="0"/>
              <a:cs typeface="Arial" panose="020B0604020202020204" pitchFamily="34" charset="0"/>
            </a:rPr>
            <a:t>SME Segment Engine</a:t>
          </a:r>
          <a:endParaRPr lang="en-MY" sz="1500" dirty="0">
            <a:latin typeface="Arial" panose="020B0604020202020204" pitchFamily="34" charset="0"/>
            <a:cs typeface="Arial" panose="020B0604020202020204" pitchFamily="34" charset="0"/>
          </a:endParaRPr>
        </a:p>
      </dgm:t>
    </dgm:pt>
    <dgm:pt modelId="{48283F07-2C37-4FE2-BD8C-B5634D3C576C}" type="parTrans" cxnId="{0B6F0D0E-7644-4A8F-A6B6-992315E368BD}">
      <dgm:prSet/>
      <dgm:spPr/>
      <dgm:t>
        <a:bodyPr/>
        <a:lstStyle/>
        <a:p>
          <a:endParaRPr lang="en-MY" sz="1500">
            <a:latin typeface="Arial" panose="020B0604020202020204" pitchFamily="34" charset="0"/>
            <a:cs typeface="Arial" panose="020B0604020202020204" pitchFamily="34" charset="0"/>
          </a:endParaRPr>
        </a:p>
      </dgm:t>
    </dgm:pt>
    <dgm:pt modelId="{B627BE01-7BDF-40C1-A73E-FA4C62521E4F}" type="sibTrans" cxnId="{0B6F0D0E-7644-4A8F-A6B6-992315E368BD}">
      <dgm:prSet/>
      <dgm:spPr/>
      <dgm:t>
        <a:bodyPr/>
        <a:lstStyle/>
        <a:p>
          <a:endParaRPr lang="en-MY" sz="1500">
            <a:latin typeface="Arial" panose="020B0604020202020204" pitchFamily="34" charset="0"/>
            <a:cs typeface="Arial" panose="020B0604020202020204" pitchFamily="34" charset="0"/>
          </a:endParaRPr>
        </a:p>
      </dgm:t>
    </dgm:pt>
    <dgm:pt modelId="{E8042623-308A-4E7B-AD06-5014B5A9FDEF}">
      <dgm:prSet phldrT="[Text]" phldr="0" custT="1"/>
      <dgm:spPr/>
      <dgm:t>
        <a:bodyPr/>
        <a:lstStyle/>
        <a:p>
          <a:r>
            <a:rPr lang="en-US" sz="1500">
              <a:latin typeface="Arial" panose="020B0604020202020204" pitchFamily="34" charset="0"/>
              <a:cs typeface="Arial" panose="020B0604020202020204" pitchFamily="34" charset="0"/>
            </a:rPr>
            <a:t>Build Early Warning System</a:t>
          </a:r>
          <a:endParaRPr lang="en-MY" sz="1500" dirty="0">
            <a:latin typeface="Arial" panose="020B0604020202020204" pitchFamily="34" charset="0"/>
            <a:cs typeface="Arial" panose="020B0604020202020204" pitchFamily="34" charset="0"/>
          </a:endParaRPr>
        </a:p>
      </dgm:t>
    </dgm:pt>
    <dgm:pt modelId="{479F4BFC-3B5A-461C-8B40-2C49ADEDBC5E}" type="parTrans" cxnId="{CF85D051-38E4-41F6-946E-21F6A16F0D5A}">
      <dgm:prSet/>
      <dgm:spPr/>
      <dgm:t>
        <a:bodyPr/>
        <a:lstStyle/>
        <a:p>
          <a:endParaRPr lang="en-MY" sz="1500">
            <a:latin typeface="Arial" panose="020B0604020202020204" pitchFamily="34" charset="0"/>
            <a:cs typeface="Arial" panose="020B0604020202020204" pitchFamily="34" charset="0"/>
          </a:endParaRPr>
        </a:p>
      </dgm:t>
    </dgm:pt>
    <dgm:pt modelId="{1B60089E-42F9-4849-ABDF-3E0263E697B4}" type="sibTrans" cxnId="{CF85D051-38E4-41F6-946E-21F6A16F0D5A}">
      <dgm:prSet/>
      <dgm:spPr/>
      <dgm:t>
        <a:bodyPr/>
        <a:lstStyle/>
        <a:p>
          <a:endParaRPr lang="en-MY" sz="1500">
            <a:latin typeface="Arial" panose="020B0604020202020204" pitchFamily="34" charset="0"/>
            <a:cs typeface="Arial" panose="020B0604020202020204" pitchFamily="34" charset="0"/>
          </a:endParaRPr>
        </a:p>
      </dgm:t>
    </dgm:pt>
    <dgm:pt modelId="{DB342FA4-AB03-4E5A-9A67-F254409E18CC}">
      <dgm:prSet phldrT="[Text]" phldr="0" custT="1"/>
      <dgm:spPr/>
      <dgm:t>
        <a:bodyPr/>
        <a:lstStyle/>
        <a:p>
          <a:r>
            <a:rPr lang="en-US" sz="1500" dirty="0">
              <a:latin typeface="Arial" panose="020B0604020202020204" pitchFamily="34" charset="0"/>
              <a:cs typeface="Arial" panose="020B0604020202020204" pitchFamily="34" charset="0"/>
            </a:rPr>
            <a:t>Develop SME 360 Platform</a:t>
          </a:r>
          <a:endParaRPr lang="en-MY" sz="1500" dirty="0">
            <a:latin typeface="Arial" panose="020B0604020202020204" pitchFamily="34" charset="0"/>
            <a:cs typeface="Arial" panose="020B0604020202020204" pitchFamily="34" charset="0"/>
          </a:endParaRPr>
        </a:p>
      </dgm:t>
    </dgm:pt>
    <dgm:pt modelId="{58A230DF-9EA1-4EE1-B2C8-F7D47FB6E5D6}" type="parTrans" cxnId="{9709B383-4F01-4E77-8C4B-71B100C13E93}">
      <dgm:prSet/>
      <dgm:spPr/>
      <dgm:t>
        <a:bodyPr/>
        <a:lstStyle/>
        <a:p>
          <a:endParaRPr lang="en-MY" sz="1500">
            <a:latin typeface="Arial" panose="020B0604020202020204" pitchFamily="34" charset="0"/>
            <a:cs typeface="Arial" panose="020B0604020202020204" pitchFamily="34" charset="0"/>
          </a:endParaRPr>
        </a:p>
      </dgm:t>
    </dgm:pt>
    <dgm:pt modelId="{446A9CC9-968B-4918-8F7D-660C38C6C924}" type="sibTrans" cxnId="{9709B383-4F01-4E77-8C4B-71B100C13E93}">
      <dgm:prSet/>
      <dgm:spPr/>
      <dgm:t>
        <a:bodyPr/>
        <a:lstStyle/>
        <a:p>
          <a:endParaRPr lang="en-MY" sz="1500">
            <a:latin typeface="Arial" panose="020B0604020202020204" pitchFamily="34" charset="0"/>
            <a:cs typeface="Arial" panose="020B0604020202020204" pitchFamily="34" charset="0"/>
          </a:endParaRPr>
        </a:p>
      </dgm:t>
    </dgm:pt>
    <dgm:pt modelId="{B4D43709-0D10-4729-B76A-397F05AAD694}" type="pres">
      <dgm:prSet presAssocID="{E7E7573A-61A3-437C-8722-EEEF55345122}" presName="root" presStyleCnt="0">
        <dgm:presLayoutVars>
          <dgm:dir/>
          <dgm:animLvl val="lvl"/>
        </dgm:presLayoutVars>
      </dgm:prSet>
      <dgm:spPr/>
    </dgm:pt>
    <dgm:pt modelId="{7A6C6F89-2D4D-4536-926A-1E4C53489BB7}" type="pres">
      <dgm:prSet presAssocID="{E7E7573A-61A3-437C-8722-EEEF55345122}" presName="divider" presStyleCnt="0"/>
      <dgm:spPr/>
    </dgm:pt>
    <dgm:pt modelId="{2942B139-8F80-4094-B553-653DFA8B1DC2}" type="pres">
      <dgm:prSet presAssocID="{E7E7573A-61A3-437C-8722-EEEF55345122}" presName="rectBar" presStyleLbl="dkBgShp" presStyleIdx="0" presStyleCnt="5"/>
      <dgm:spPr>
        <a:gradFill rotWithShape="0">
          <a:gsLst>
            <a:gs pos="0">
              <a:schemeClr val="accent1">
                <a:tint val="76000"/>
              </a:schemeClr>
            </a:gs>
            <a:gs pos="100000">
              <a:schemeClr val="accent1">
                <a:tint val="76000"/>
              </a:schemeClr>
            </a:gs>
          </a:gsLst>
          <a:lin ang="0" scaled="0"/>
        </a:gradFill>
        <a:ln>
          <a:noFill/>
        </a:ln>
        <a:effectLst/>
      </dgm:spPr>
    </dgm:pt>
    <dgm:pt modelId="{32628E8A-5B2E-497E-AA1E-7EEA37B75C66}" type="pres">
      <dgm:prSet presAssocID="{E7E7573A-61A3-437C-8722-EEEF55345122}" presName="chevronArrow" presStyleLbl="dkBgShp" presStyleIdx="1" presStyleCnt="5"/>
      <dgm:spPr>
        <a:gradFill rotWithShape="0">
          <a:gsLst>
            <a:gs pos="0">
              <a:schemeClr val="accent1">
                <a:tint val="76000"/>
              </a:schemeClr>
            </a:gs>
            <a:gs pos="100000">
              <a:schemeClr val="accent1">
                <a:tint val="76000"/>
              </a:schemeClr>
            </a:gs>
          </a:gsLst>
          <a:lin ang="0" scaled="0"/>
        </a:gradFill>
        <a:ln>
          <a:noFill/>
        </a:ln>
        <a:effectLst/>
      </dgm:spPr>
    </dgm:pt>
    <dgm:pt modelId="{81E040DC-6A8B-4AE2-8ECB-E33D36AC7F17}" type="pres">
      <dgm:prSet presAssocID="{E7E7573A-61A3-437C-8722-EEEF55345122}" presName="nodes" presStyleCnt="0">
        <dgm:presLayoutVars>
          <dgm:chMax/>
          <dgm:chPref/>
          <dgm:animLvl val="lvl"/>
        </dgm:presLayoutVars>
      </dgm:prSet>
      <dgm:spPr/>
    </dgm:pt>
    <dgm:pt modelId="{64D97162-49C2-497B-831D-AB26DA69CEF0}" type="pres">
      <dgm:prSet presAssocID="{BC77102B-E1FB-4ED9-AF48-A37C28577071}" presName="composite" presStyleCnt="0"/>
      <dgm:spPr/>
    </dgm:pt>
    <dgm:pt modelId="{762B9E15-AFB3-478A-BB98-C641F66B68E2}" type="pres">
      <dgm:prSet presAssocID="{BC77102B-E1FB-4ED9-AF48-A37C28577071}" presName="DropPinPlaceHolder" presStyleCnt="0"/>
      <dgm:spPr/>
    </dgm:pt>
    <dgm:pt modelId="{E5270F69-F1E6-41CD-B9B8-E270B7A92BEB}" type="pres">
      <dgm:prSet presAssocID="{BC77102B-E1FB-4ED9-AF48-A37C28577071}" presName="DropPin" presStyleLbl="alignNode1" presStyleIdx="0" presStyleCnt="3"/>
      <dgm:spPr/>
    </dgm:pt>
    <dgm:pt modelId="{BB070BBA-632D-404A-B966-A91A43E2D460}" type="pres">
      <dgm:prSet presAssocID="{BC77102B-E1FB-4ED9-AF48-A37C28577071}" presName="Ellipse" presStyleLbl="fgAcc1" presStyleIdx="0" presStyleCnt="3"/>
      <dgm:spPr/>
    </dgm:pt>
    <dgm:pt modelId="{522B4657-B062-42D2-9AEA-610F81D0EE38}" type="pres">
      <dgm:prSet presAssocID="{BC77102B-E1FB-4ED9-AF48-A37C28577071}" presName="L2TextContainer" presStyleLbl="revTx" presStyleIdx="0" presStyleCnt="6">
        <dgm:presLayoutVars>
          <dgm:bulletEnabled val="1"/>
        </dgm:presLayoutVars>
      </dgm:prSet>
      <dgm:spPr/>
    </dgm:pt>
    <dgm:pt modelId="{F02A5CE8-BF4C-44A6-ABE8-820D9714B88B}" type="pres">
      <dgm:prSet presAssocID="{BC77102B-E1FB-4ED9-AF48-A37C28577071}" presName="L1TextContainer" presStyleLbl="revTx" presStyleIdx="1" presStyleCnt="6">
        <dgm:presLayoutVars>
          <dgm:chMax val="1"/>
          <dgm:chPref val="1"/>
          <dgm:bulletEnabled val="1"/>
        </dgm:presLayoutVars>
      </dgm:prSet>
      <dgm:spPr/>
    </dgm:pt>
    <dgm:pt modelId="{F34489D0-D3CB-4C96-A17D-B61171E6CD05}" type="pres">
      <dgm:prSet presAssocID="{BC77102B-E1FB-4ED9-AF48-A37C28577071}" presName="ConnectLine" presStyleLbl="dkBgShp" presStyleIdx="2" presStyleCnt="5"/>
      <dgm:spPr/>
    </dgm:pt>
    <dgm:pt modelId="{A665F835-1BFD-4FD9-9245-C751D7886D7D}" type="pres">
      <dgm:prSet presAssocID="{BC77102B-E1FB-4ED9-AF48-A37C28577071}" presName="ConnectorPoint" presStyleCnt="0"/>
      <dgm:spPr/>
    </dgm:pt>
    <dgm:pt modelId="{7313F74A-0602-4632-9DBB-E49196FCF1FB}" type="pres">
      <dgm:prSet presAssocID="{BC77102B-E1FB-4ED9-AF48-A37C28577071}" presName="Bullet" presStyleLbl="lnNode1" presStyleIdx="0" presStyleCnt="3"/>
      <dgm:spPr/>
    </dgm:pt>
    <dgm:pt modelId="{5C52ED84-D9B1-47D9-A5BB-DC6EF22B681E}" type="pres">
      <dgm:prSet presAssocID="{BC77102B-E1FB-4ED9-AF48-A37C28577071}" presName="EmptyPlaceHolder" presStyleCnt="0"/>
      <dgm:spPr/>
    </dgm:pt>
    <dgm:pt modelId="{C17DD25D-3F80-497D-A4DC-82A1B7216E5D}" type="pres">
      <dgm:prSet presAssocID="{5BEBC3F4-196B-49C9-8258-43288F77286C}" presName="spaceBetweenRectangles" presStyleCnt="0"/>
      <dgm:spPr/>
    </dgm:pt>
    <dgm:pt modelId="{D7A90D9B-57F2-4ED6-9A8A-3894C58C766C}" type="pres">
      <dgm:prSet presAssocID="{95D3F35E-F765-477C-A25B-A8849DEDF163}" presName="composite" presStyleCnt="0"/>
      <dgm:spPr/>
    </dgm:pt>
    <dgm:pt modelId="{D6392B5B-1090-4F90-AD37-8AC203089490}" type="pres">
      <dgm:prSet presAssocID="{95D3F35E-F765-477C-A25B-A8849DEDF163}" presName="DropPinPlaceHolder" presStyleCnt="0"/>
      <dgm:spPr/>
    </dgm:pt>
    <dgm:pt modelId="{EC9E5C81-84C1-4E61-BE5B-1522465DA959}" type="pres">
      <dgm:prSet presAssocID="{95D3F35E-F765-477C-A25B-A8849DEDF163}" presName="DropPin" presStyleLbl="alignNode1" presStyleIdx="1" presStyleCnt="3"/>
      <dgm:spPr/>
    </dgm:pt>
    <dgm:pt modelId="{9186C093-26DE-4FDE-9A21-D71C5CBFC4AF}" type="pres">
      <dgm:prSet presAssocID="{95D3F35E-F765-477C-A25B-A8849DEDF163}" presName="Ellipse" presStyleLbl="fgAcc1" presStyleIdx="1" presStyleCnt="3"/>
      <dgm:spPr/>
    </dgm:pt>
    <dgm:pt modelId="{28FB40B4-3606-4382-8681-0BBD6C06DBB8}" type="pres">
      <dgm:prSet presAssocID="{95D3F35E-F765-477C-A25B-A8849DEDF163}" presName="L2TextContainer" presStyleLbl="revTx" presStyleIdx="2" presStyleCnt="6">
        <dgm:presLayoutVars>
          <dgm:bulletEnabled val="1"/>
        </dgm:presLayoutVars>
      </dgm:prSet>
      <dgm:spPr/>
    </dgm:pt>
    <dgm:pt modelId="{E3874805-8CF5-4DAD-8137-27FAD0B010FA}" type="pres">
      <dgm:prSet presAssocID="{95D3F35E-F765-477C-A25B-A8849DEDF163}" presName="L1TextContainer" presStyleLbl="revTx" presStyleIdx="3" presStyleCnt="6">
        <dgm:presLayoutVars>
          <dgm:chMax val="1"/>
          <dgm:chPref val="1"/>
          <dgm:bulletEnabled val="1"/>
        </dgm:presLayoutVars>
      </dgm:prSet>
      <dgm:spPr/>
    </dgm:pt>
    <dgm:pt modelId="{1F6FBA75-11F8-44D4-A95F-A54F549E04A4}" type="pres">
      <dgm:prSet presAssocID="{95D3F35E-F765-477C-A25B-A8849DEDF163}" presName="ConnectLine" presStyleLbl="dkBgShp" presStyleIdx="3" presStyleCnt="5"/>
      <dgm:spPr/>
    </dgm:pt>
    <dgm:pt modelId="{38574DCF-0A7C-4B1B-BB9E-498C43BA5AFA}" type="pres">
      <dgm:prSet presAssocID="{95D3F35E-F765-477C-A25B-A8849DEDF163}" presName="ConnectorPoint" presStyleCnt="0"/>
      <dgm:spPr/>
    </dgm:pt>
    <dgm:pt modelId="{747EF938-E5FD-4FFC-8541-B27BCCB7B0B1}" type="pres">
      <dgm:prSet presAssocID="{95D3F35E-F765-477C-A25B-A8849DEDF163}" presName="Bullet" presStyleLbl="lnNode1" presStyleIdx="1" presStyleCnt="3"/>
      <dgm:spPr/>
    </dgm:pt>
    <dgm:pt modelId="{63F957AE-E917-454F-9222-30AE295B81FF}" type="pres">
      <dgm:prSet presAssocID="{95D3F35E-F765-477C-A25B-A8849DEDF163}" presName="EmptyPlaceHolder" presStyleCnt="0"/>
      <dgm:spPr/>
    </dgm:pt>
    <dgm:pt modelId="{150BB792-0620-4ABB-BD21-A6706E8FBF18}" type="pres">
      <dgm:prSet presAssocID="{1AD9D306-6054-42D2-8C8F-9B7F7051CE32}" presName="spaceBetweenRectangles" presStyleCnt="0"/>
      <dgm:spPr/>
    </dgm:pt>
    <dgm:pt modelId="{7C1BE89F-204B-453A-8FD6-CA69C79D7144}" type="pres">
      <dgm:prSet presAssocID="{274C4913-7A9C-4705-9885-DC619CA96A2D}" presName="composite" presStyleCnt="0"/>
      <dgm:spPr/>
    </dgm:pt>
    <dgm:pt modelId="{4CD910A4-6DE7-413F-AF4F-738754253B86}" type="pres">
      <dgm:prSet presAssocID="{274C4913-7A9C-4705-9885-DC619CA96A2D}" presName="DropPinPlaceHolder" presStyleCnt="0"/>
      <dgm:spPr/>
    </dgm:pt>
    <dgm:pt modelId="{5BEE1B21-97B0-4677-A918-BB7631326EF4}" type="pres">
      <dgm:prSet presAssocID="{274C4913-7A9C-4705-9885-DC619CA96A2D}" presName="DropPin" presStyleLbl="alignNode1" presStyleIdx="2" presStyleCnt="3"/>
      <dgm:spPr/>
    </dgm:pt>
    <dgm:pt modelId="{E3E77FD5-2113-406F-90EF-88296B22C3C9}" type="pres">
      <dgm:prSet presAssocID="{274C4913-7A9C-4705-9885-DC619CA96A2D}" presName="Ellipse" presStyleLbl="fgAcc1" presStyleIdx="2" presStyleCnt="3"/>
      <dgm:spPr/>
    </dgm:pt>
    <dgm:pt modelId="{37FE1FD1-4D2E-438F-BC9C-EF6D3DE95D76}" type="pres">
      <dgm:prSet presAssocID="{274C4913-7A9C-4705-9885-DC619CA96A2D}" presName="L2TextContainer" presStyleLbl="revTx" presStyleIdx="4" presStyleCnt="6">
        <dgm:presLayoutVars>
          <dgm:bulletEnabled val="1"/>
        </dgm:presLayoutVars>
      </dgm:prSet>
      <dgm:spPr/>
    </dgm:pt>
    <dgm:pt modelId="{FB46CF9C-5D1E-4648-BE7B-51B1705F9268}" type="pres">
      <dgm:prSet presAssocID="{274C4913-7A9C-4705-9885-DC619CA96A2D}" presName="L1TextContainer" presStyleLbl="revTx" presStyleIdx="5" presStyleCnt="6">
        <dgm:presLayoutVars>
          <dgm:chMax val="1"/>
          <dgm:chPref val="1"/>
          <dgm:bulletEnabled val="1"/>
        </dgm:presLayoutVars>
      </dgm:prSet>
      <dgm:spPr/>
    </dgm:pt>
    <dgm:pt modelId="{3B9AE136-72E6-49B1-81C6-2228239975DF}" type="pres">
      <dgm:prSet presAssocID="{274C4913-7A9C-4705-9885-DC619CA96A2D}" presName="ConnectLine" presStyleLbl="dkBgShp" presStyleIdx="4" presStyleCnt="5"/>
      <dgm:spPr/>
    </dgm:pt>
    <dgm:pt modelId="{33B36979-7ACB-427C-A680-804C3DE24EF7}" type="pres">
      <dgm:prSet presAssocID="{274C4913-7A9C-4705-9885-DC619CA96A2D}" presName="ConnectorPoint" presStyleCnt="0"/>
      <dgm:spPr/>
    </dgm:pt>
    <dgm:pt modelId="{83B06A2F-644A-4E3C-A811-58B145CF9702}" type="pres">
      <dgm:prSet presAssocID="{274C4913-7A9C-4705-9885-DC619CA96A2D}" presName="Bullet" presStyleLbl="lnNode1" presStyleIdx="2" presStyleCnt="3"/>
      <dgm:spPr/>
    </dgm:pt>
    <dgm:pt modelId="{D3DEC6C3-ABD7-4270-9C99-08CE8B3F84DC}" type="pres">
      <dgm:prSet presAssocID="{274C4913-7A9C-4705-9885-DC619CA96A2D}" presName="EmptyPlaceHolder" presStyleCnt="0"/>
      <dgm:spPr/>
    </dgm:pt>
  </dgm:ptLst>
  <dgm:cxnLst>
    <dgm:cxn modelId="{605F7206-FE7C-49F2-A05C-775DE35A5BC9}" type="presOf" srcId="{274C4913-7A9C-4705-9885-DC619CA96A2D}" destId="{FB46CF9C-5D1E-4648-BE7B-51B1705F9268}" srcOrd="0" destOrd="0" presId="urn:microsoft.com/office/officeart/2024/layout/BulletTimeline"/>
    <dgm:cxn modelId="{64D72C0A-3062-4B2E-BD0B-6D5AD610FAD5}" type="presOf" srcId="{DD401291-C2B9-4B0B-82C9-D33C48120FFA}" destId="{28FB40B4-3606-4382-8681-0BBD6C06DBB8}" srcOrd="0" destOrd="2" presId="urn:microsoft.com/office/officeart/2024/layout/BulletTimeline"/>
    <dgm:cxn modelId="{0B6F0D0E-7644-4A8F-A6B6-992315E368BD}" srcId="{95D3F35E-F765-477C-A25B-A8849DEDF163}" destId="{84912CF3-5645-458A-A77F-DB7093CF5749}" srcOrd="3" destOrd="0" parTransId="{48283F07-2C37-4FE2-BD8C-B5634D3C576C}" sibTransId="{B627BE01-7BDF-40C1-A73E-FA4C62521E4F}"/>
    <dgm:cxn modelId="{C7F7CE18-B6F8-4B06-9C08-4592FA65FD99}" type="presOf" srcId="{E8042623-308A-4E7B-AD06-5014B5A9FDEF}" destId="{37FE1FD1-4D2E-438F-BC9C-EF6D3DE95D76}" srcOrd="0" destOrd="1" presId="urn:microsoft.com/office/officeart/2024/layout/BulletTimeline"/>
    <dgm:cxn modelId="{05FC8B1C-D749-4B67-A335-301B849F78EE}" srcId="{274C4913-7A9C-4705-9885-DC619CA96A2D}" destId="{DE0DC4E0-D31B-49D2-851E-55C02F6B62F4}" srcOrd="0" destOrd="0" parTransId="{B6592827-34F1-4CA3-A5D0-5682AAE09A28}" sibTransId="{4C4828CD-EE1C-4937-8CCD-0FC9A9E214AE}"/>
    <dgm:cxn modelId="{52A51F36-AF1C-4A18-8C6F-E45191597223}" type="presOf" srcId="{DB342FA4-AB03-4E5A-9A67-F254409E18CC}" destId="{37FE1FD1-4D2E-438F-BC9C-EF6D3DE95D76}" srcOrd="0" destOrd="2" presId="urn:microsoft.com/office/officeart/2024/layout/BulletTimeline"/>
    <dgm:cxn modelId="{B9A7F439-7786-48C2-A70D-00D0C63942AF}" type="presOf" srcId="{DE0DC4E0-D31B-49D2-851E-55C02F6B62F4}" destId="{37FE1FD1-4D2E-438F-BC9C-EF6D3DE95D76}" srcOrd="0" destOrd="0" presId="urn:microsoft.com/office/officeart/2024/layout/BulletTimeline"/>
    <dgm:cxn modelId="{225BD343-14D9-4DAB-B3F1-1A14B1EF6AA2}" srcId="{E7E7573A-61A3-437C-8722-EEEF55345122}" destId="{BC77102B-E1FB-4ED9-AF48-A37C28577071}" srcOrd="0" destOrd="0" parTransId="{0B3D1C32-6156-40C3-A732-FA21284FA2E1}" sibTransId="{5BEBC3F4-196B-49C9-8258-43288F77286C}"/>
    <dgm:cxn modelId="{CF433069-EEC7-4123-87B5-C17ECDFF45FC}" type="presOf" srcId="{6FF433D8-AFA1-46A5-83DD-98260FFC37C9}" destId="{28FB40B4-3606-4382-8681-0BBD6C06DBB8}" srcOrd="0" destOrd="1" presId="urn:microsoft.com/office/officeart/2024/layout/BulletTimeline"/>
    <dgm:cxn modelId="{CF85D051-38E4-41F6-946E-21F6A16F0D5A}" srcId="{274C4913-7A9C-4705-9885-DC619CA96A2D}" destId="{E8042623-308A-4E7B-AD06-5014B5A9FDEF}" srcOrd="1" destOrd="0" parTransId="{479F4BFC-3B5A-461C-8B40-2C49ADEDBC5E}" sibTransId="{1B60089E-42F9-4849-ABDF-3E0263E697B4}"/>
    <dgm:cxn modelId="{7F4D8F52-9326-4603-9D20-F94C5EF92671}" srcId="{BC77102B-E1FB-4ED9-AF48-A37C28577071}" destId="{44114694-C2C9-429A-AB56-164BD216EF3D}" srcOrd="1" destOrd="0" parTransId="{065905F3-E9A9-44C7-8E9A-9D74647F071B}" sibTransId="{E66C262B-7666-4646-A647-F201B49F5980}"/>
    <dgm:cxn modelId="{4DE6EA55-2577-4699-8A37-1BC89E3FF663}" srcId="{BC77102B-E1FB-4ED9-AF48-A37C28577071}" destId="{BCDDCC9D-90CF-4B17-986F-79294AC83FE2}" srcOrd="0" destOrd="0" parTransId="{9D8E1D03-3B8B-4F28-A0DD-8A02F71FB233}" sibTransId="{CC0D882E-32BA-44EC-8D29-CA1C973E82E9}"/>
    <dgm:cxn modelId="{CF58DC77-C4D2-41E7-B02E-E2CE5CD2A254}" srcId="{95D3F35E-F765-477C-A25B-A8849DEDF163}" destId="{4748EC12-6F11-4449-91E9-E52D5EB8F1BD}" srcOrd="0" destOrd="0" parTransId="{F133F3DC-E3F4-414C-B47D-DC1C20E285E5}" sibTransId="{DC318C33-1B3C-4CA5-AE4E-BC4FEE7E7FD3}"/>
    <dgm:cxn modelId="{45130680-1753-4F31-8938-80694926CCF0}" type="presOf" srcId="{95D3F35E-F765-477C-A25B-A8849DEDF163}" destId="{E3874805-8CF5-4DAD-8137-27FAD0B010FA}" srcOrd="0" destOrd="0" presId="urn:microsoft.com/office/officeart/2024/layout/BulletTimeline"/>
    <dgm:cxn modelId="{9709B383-4F01-4E77-8C4B-71B100C13E93}" srcId="{274C4913-7A9C-4705-9885-DC619CA96A2D}" destId="{DB342FA4-AB03-4E5A-9A67-F254409E18CC}" srcOrd="2" destOrd="0" parTransId="{58A230DF-9EA1-4EE1-B2C8-F7D47FB6E5D6}" sibTransId="{446A9CC9-968B-4918-8F7D-660C38C6C924}"/>
    <dgm:cxn modelId="{48FA678C-DA43-458F-B2A8-C3D79ADA2317}" type="presOf" srcId="{BC77102B-E1FB-4ED9-AF48-A37C28577071}" destId="{F02A5CE8-BF4C-44A6-ABE8-820D9714B88B}" srcOrd="0" destOrd="0" presId="urn:microsoft.com/office/officeart/2024/layout/BulletTimeline"/>
    <dgm:cxn modelId="{270D1E92-E8C4-4147-B780-8CAF0AF3F843}" type="presOf" srcId="{84912CF3-5645-458A-A77F-DB7093CF5749}" destId="{28FB40B4-3606-4382-8681-0BBD6C06DBB8}" srcOrd="0" destOrd="3" presId="urn:microsoft.com/office/officeart/2024/layout/BulletTimeline"/>
    <dgm:cxn modelId="{05112A92-9E21-45F4-91B6-1B055713217E}" srcId="{95D3F35E-F765-477C-A25B-A8849DEDF163}" destId="{6FF433D8-AFA1-46A5-83DD-98260FFC37C9}" srcOrd="1" destOrd="0" parTransId="{1C759C56-88ED-4AD2-8B4F-14353E454330}" sibTransId="{7A610B11-F913-4B4B-98A2-0CD4466E2558}"/>
    <dgm:cxn modelId="{F1614192-3302-4391-B10D-65278723B04D}" type="presOf" srcId="{E7E7573A-61A3-437C-8722-EEEF55345122}" destId="{B4D43709-0D10-4729-B76A-397F05AAD694}" srcOrd="0" destOrd="0" presId="urn:microsoft.com/office/officeart/2024/layout/BulletTimeline"/>
    <dgm:cxn modelId="{3217BBBF-227A-4161-B2FC-67C3B57C8A35}" type="presOf" srcId="{4748EC12-6F11-4449-91E9-E52D5EB8F1BD}" destId="{28FB40B4-3606-4382-8681-0BBD6C06DBB8}" srcOrd="0" destOrd="0" presId="urn:microsoft.com/office/officeart/2024/layout/BulletTimeline"/>
    <dgm:cxn modelId="{73CDE6BF-63DB-41B0-B1DD-489B051D5819}" srcId="{E7E7573A-61A3-437C-8722-EEEF55345122}" destId="{274C4913-7A9C-4705-9885-DC619CA96A2D}" srcOrd="2" destOrd="0" parTransId="{5E02E1EB-EDB9-40D6-8E43-2CE86C60DAE3}" sibTransId="{26500599-A2E1-4D8B-87BB-49329AD698CC}"/>
    <dgm:cxn modelId="{863096D3-1F35-4FFE-A766-16D209B5CC2C}" type="presOf" srcId="{44114694-C2C9-429A-AB56-164BD216EF3D}" destId="{522B4657-B062-42D2-9AEA-610F81D0EE38}" srcOrd="0" destOrd="1" presId="urn:microsoft.com/office/officeart/2024/layout/BulletTimeline"/>
    <dgm:cxn modelId="{6F103FEC-B93B-4AAC-9D50-7DB7E2CAAE6E}" type="presOf" srcId="{BCDDCC9D-90CF-4B17-986F-79294AC83FE2}" destId="{522B4657-B062-42D2-9AEA-610F81D0EE38}" srcOrd="0" destOrd="0" presId="urn:microsoft.com/office/officeart/2024/layout/BulletTimeline"/>
    <dgm:cxn modelId="{B48428EF-3B81-4AF6-8511-329EB9189E33}" srcId="{E7E7573A-61A3-437C-8722-EEEF55345122}" destId="{95D3F35E-F765-477C-A25B-A8849DEDF163}" srcOrd="1" destOrd="0" parTransId="{47AEB00B-0795-4B57-8E1A-F2BDD8A5351F}" sibTransId="{1AD9D306-6054-42D2-8C8F-9B7F7051CE32}"/>
    <dgm:cxn modelId="{A895BCF8-72A0-40E9-BAF3-C800E863C911}" srcId="{95D3F35E-F765-477C-A25B-A8849DEDF163}" destId="{DD401291-C2B9-4B0B-82C9-D33C48120FFA}" srcOrd="2" destOrd="0" parTransId="{5EC8FB35-C31A-44DC-B84F-CDF439ACDFB0}" sibTransId="{18BC22A4-84C1-4F2C-ADBA-E52CE4AD56BC}"/>
    <dgm:cxn modelId="{3C36C613-780D-4EB3-9292-46D69CA1F93A}" type="presParOf" srcId="{B4D43709-0D10-4729-B76A-397F05AAD694}" destId="{7A6C6F89-2D4D-4536-926A-1E4C53489BB7}" srcOrd="0" destOrd="0" presId="urn:microsoft.com/office/officeart/2024/layout/BulletTimeline"/>
    <dgm:cxn modelId="{DA3E5AF3-18FE-46DE-BF23-E27B2C686B8C}" type="presParOf" srcId="{7A6C6F89-2D4D-4536-926A-1E4C53489BB7}" destId="{2942B139-8F80-4094-B553-653DFA8B1DC2}" srcOrd="0" destOrd="0" presId="urn:microsoft.com/office/officeart/2024/layout/BulletTimeline"/>
    <dgm:cxn modelId="{F1CD9B26-C52E-4CD4-A9F2-5DC51F6CA5D7}" type="presParOf" srcId="{7A6C6F89-2D4D-4536-926A-1E4C53489BB7}" destId="{32628E8A-5B2E-497E-AA1E-7EEA37B75C66}" srcOrd="1" destOrd="0" presId="urn:microsoft.com/office/officeart/2024/layout/BulletTimeline"/>
    <dgm:cxn modelId="{5C05D110-A65F-45D4-9906-90FA65E4B68D}" type="presParOf" srcId="{B4D43709-0D10-4729-B76A-397F05AAD694}" destId="{81E040DC-6A8B-4AE2-8ECB-E33D36AC7F17}" srcOrd="1" destOrd="0" presId="urn:microsoft.com/office/officeart/2024/layout/BulletTimeline"/>
    <dgm:cxn modelId="{6A5BE1B5-353E-42A7-9E57-CE1CCEE80CF4}" type="presParOf" srcId="{81E040DC-6A8B-4AE2-8ECB-E33D36AC7F17}" destId="{64D97162-49C2-497B-831D-AB26DA69CEF0}" srcOrd="0" destOrd="0" presId="urn:microsoft.com/office/officeart/2024/layout/BulletTimeline"/>
    <dgm:cxn modelId="{4E35BC69-2AF0-4530-A23A-C65F937A1784}" type="presParOf" srcId="{64D97162-49C2-497B-831D-AB26DA69CEF0}" destId="{762B9E15-AFB3-478A-BB98-C641F66B68E2}" srcOrd="0" destOrd="0" presId="urn:microsoft.com/office/officeart/2024/layout/BulletTimeline"/>
    <dgm:cxn modelId="{1A9C2139-7D0B-47EC-A0C8-DE79A907672E}" type="presParOf" srcId="{762B9E15-AFB3-478A-BB98-C641F66B68E2}" destId="{E5270F69-F1E6-41CD-B9B8-E270B7A92BEB}" srcOrd="0" destOrd="0" presId="urn:microsoft.com/office/officeart/2024/layout/BulletTimeline"/>
    <dgm:cxn modelId="{06071517-2598-48C1-930A-A8FE50680FAE}" type="presParOf" srcId="{762B9E15-AFB3-478A-BB98-C641F66B68E2}" destId="{BB070BBA-632D-404A-B966-A91A43E2D460}" srcOrd="1" destOrd="0" presId="urn:microsoft.com/office/officeart/2024/layout/BulletTimeline"/>
    <dgm:cxn modelId="{CD7CD143-D892-4EDF-89CA-A3FCE98DC757}" type="presParOf" srcId="{64D97162-49C2-497B-831D-AB26DA69CEF0}" destId="{522B4657-B062-42D2-9AEA-610F81D0EE38}" srcOrd="1" destOrd="0" presId="urn:microsoft.com/office/officeart/2024/layout/BulletTimeline"/>
    <dgm:cxn modelId="{09BAE5B0-99C5-479B-8437-21EB4F70A259}" type="presParOf" srcId="{64D97162-49C2-497B-831D-AB26DA69CEF0}" destId="{F02A5CE8-BF4C-44A6-ABE8-820D9714B88B}" srcOrd="2" destOrd="0" presId="urn:microsoft.com/office/officeart/2024/layout/BulletTimeline"/>
    <dgm:cxn modelId="{08B1934D-6A9E-43A3-8FAD-F4366F51C194}" type="presParOf" srcId="{64D97162-49C2-497B-831D-AB26DA69CEF0}" destId="{F34489D0-D3CB-4C96-A17D-B61171E6CD05}" srcOrd="3" destOrd="0" presId="urn:microsoft.com/office/officeart/2024/layout/BulletTimeline"/>
    <dgm:cxn modelId="{02C6545B-6E80-48F1-894E-B8D46DFE43C7}" type="presParOf" srcId="{64D97162-49C2-497B-831D-AB26DA69CEF0}" destId="{A665F835-1BFD-4FD9-9245-C751D7886D7D}" srcOrd="4" destOrd="0" presId="urn:microsoft.com/office/officeart/2024/layout/BulletTimeline"/>
    <dgm:cxn modelId="{0F8C48A5-68B4-4DE3-B275-02524CB5112C}" type="presParOf" srcId="{A665F835-1BFD-4FD9-9245-C751D7886D7D}" destId="{7313F74A-0602-4632-9DBB-E49196FCF1FB}" srcOrd="0" destOrd="0" presId="urn:microsoft.com/office/officeart/2024/layout/BulletTimeline"/>
    <dgm:cxn modelId="{408EAC0F-334A-4FC3-99F7-FA2ADA32576D}" type="presParOf" srcId="{64D97162-49C2-497B-831D-AB26DA69CEF0}" destId="{5C52ED84-D9B1-47D9-A5BB-DC6EF22B681E}" srcOrd="5" destOrd="0" presId="urn:microsoft.com/office/officeart/2024/layout/BulletTimeline"/>
    <dgm:cxn modelId="{29B0B77E-0464-4A03-A924-C2F53ECD4066}" type="presParOf" srcId="{81E040DC-6A8B-4AE2-8ECB-E33D36AC7F17}" destId="{C17DD25D-3F80-497D-A4DC-82A1B7216E5D}" srcOrd="1" destOrd="0" presId="urn:microsoft.com/office/officeart/2024/layout/BulletTimeline"/>
    <dgm:cxn modelId="{882E6E75-DB49-4AA5-A02F-C1FFA569713E}" type="presParOf" srcId="{81E040DC-6A8B-4AE2-8ECB-E33D36AC7F17}" destId="{D7A90D9B-57F2-4ED6-9A8A-3894C58C766C}" srcOrd="2" destOrd="0" presId="urn:microsoft.com/office/officeart/2024/layout/BulletTimeline"/>
    <dgm:cxn modelId="{D599BF48-D6F8-4EBE-8C13-1DA20D149002}" type="presParOf" srcId="{D7A90D9B-57F2-4ED6-9A8A-3894C58C766C}" destId="{D6392B5B-1090-4F90-AD37-8AC203089490}" srcOrd="0" destOrd="0" presId="urn:microsoft.com/office/officeart/2024/layout/BulletTimeline"/>
    <dgm:cxn modelId="{EF545553-A18C-44F2-B4CC-1BC527BFB44A}" type="presParOf" srcId="{D6392B5B-1090-4F90-AD37-8AC203089490}" destId="{EC9E5C81-84C1-4E61-BE5B-1522465DA959}" srcOrd="0" destOrd="0" presId="urn:microsoft.com/office/officeart/2024/layout/BulletTimeline"/>
    <dgm:cxn modelId="{DF3F0197-6CAA-47BB-A8DE-F925916E57B8}" type="presParOf" srcId="{D6392B5B-1090-4F90-AD37-8AC203089490}" destId="{9186C093-26DE-4FDE-9A21-D71C5CBFC4AF}" srcOrd="1" destOrd="0" presId="urn:microsoft.com/office/officeart/2024/layout/BulletTimeline"/>
    <dgm:cxn modelId="{2B1D930C-C1A8-4875-A6EC-B6DC706A3BE5}" type="presParOf" srcId="{D7A90D9B-57F2-4ED6-9A8A-3894C58C766C}" destId="{28FB40B4-3606-4382-8681-0BBD6C06DBB8}" srcOrd="1" destOrd="0" presId="urn:microsoft.com/office/officeart/2024/layout/BulletTimeline"/>
    <dgm:cxn modelId="{34E0B886-4C84-4A70-9B6C-8C9A22C80E58}" type="presParOf" srcId="{D7A90D9B-57F2-4ED6-9A8A-3894C58C766C}" destId="{E3874805-8CF5-4DAD-8137-27FAD0B010FA}" srcOrd="2" destOrd="0" presId="urn:microsoft.com/office/officeart/2024/layout/BulletTimeline"/>
    <dgm:cxn modelId="{CD9785E6-396E-45B1-96DB-5E11ACFD2529}" type="presParOf" srcId="{D7A90D9B-57F2-4ED6-9A8A-3894C58C766C}" destId="{1F6FBA75-11F8-44D4-A95F-A54F549E04A4}" srcOrd="3" destOrd="0" presId="urn:microsoft.com/office/officeart/2024/layout/BulletTimeline"/>
    <dgm:cxn modelId="{5285E549-B7ED-4D28-817A-896FBE852006}" type="presParOf" srcId="{D7A90D9B-57F2-4ED6-9A8A-3894C58C766C}" destId="{38574DCF-0A7C-4B1B-BB9E-498C43BA5AFA}" srcOrd="4" destOrd="0" presId="urn:microsoft.com/office/officeart/2024/layout/BulletTimeline"/>
    <dgm:cxn modelId="{252259B7-9962-4D92-A0A3-A03CBFCCADCA}" type="presParOf" srcId="{38574DCF-0A7C-4B1B-BB9E-498C43BA5AFA}" destId="{747EF938-E5FD-4FFC-8541-B27BCCB7B0B1}" srcOrd="0" destOrd="0" presId="urn:microsoft.com/office/officeart/2024/layout/BulletTimeline"/>
    <dgm:cxn modelId="{02363FDC-D4BD-4E38-B8DA-A881D5EFF63B}" type="presParOf" srcId="{D7A90D9B-57F2-4ED6-9A8A-3894C58C766C}" destId="{63F957AE-E917-454F-9222-30AE295B81FF}" srcOrd="5" destOrd="0" presId="urn:microsoft.com/office/officeart/2024/layout/BulletTimeline"/>
    <dgm:cxn modelId="{9B4990F3-9758-4134-8AB9-8D6D630EE2D8}" type="presParOf" srcId="{81E040DC-6A8B-4AE2-8ECB-E33D36AC7F17}" destId="{150BB792-0620-4ABB-BD21-A6706E8FBF18}" srcOrd="3" destOrd="0" presId="urn:microsoft.com/office/officeart/2024/layout/BulletTimeline"/>
    <dgm:cxn modelId="{279F571C-270B-4A4E-B1F4-7D65686B1E3D}" type="presParOf" srcId="{81E040DC-6A8B-4AE2-8ECB-E33D36AC7F17}" destId="{7C1BE89F-204B-453A-8FD6-CA69C79D7144}" srcOrd="4" destOrd="0" presId="urn:microsoft.com/office/officeart/2024/layout/BulletTimeline"/>
    <dgm:cxn modelId="{06CCD06B-CCC5-49D9-8138-0CBA614D39E4}" type="presParOf" srcId="{7C1BE89F-204B-453A-8FD6-CA69C79D7144}" destId="{4CD910A4-6DE7-413F-AF4F-738754253B86}" srcOrd="0" destOrd="0" presId="urn:microsoft.com/office/officeart/2024/layout/BulletTimeline"/>
    <dgm:cxn modelId="{C7A4BFC0-1D60-4B9F-BB98-0B2D45173F71}" type="presParOf" srcId="{4CD910A4-6DE7-413F-AF4F-738754253B86}" destId="{5BEE1B21-97B0-4677-A918-BB7631326EF4}" srcOrd="0" destOrd="0" presId="urn:microsoft.com/office/officeart/2024/layout/BulletTimeline"/>
    <dgm:cxn modelId="{711FDD7B-8A8D-4C68-AF6D-3D6B2342396B}" type="presParOf" srcId="{4CD910A4-6DE7-413F-AF4F-738754253B86}" destId="{E3E77FD5-2113-406F-90EF-88296B22C3C9}" srcOrd="1" destOrd="0" presId="urn:microsoft.com/office/officeart/2024/layout/BulletTimeline"/>
    <dgm:cxn modelId="{B87E6EE8-B3D4-486C-9014-4EB25A600BDC}" type="presParOf" srcId="{7C1BE89F-204B-453A-8FD6-CA69C79D7144}" destId="{37FE1FD1-4D2E-438F-BC9C-EF6D3DE95D76}" srcOrd="1" destOrd="0" presId="urn:microsoft.com/office/officeart/2024/layout/BulletTimeline"/>
    <dgm:cxn modelId="{769C4519-F5E2-47DE-BD41-44A2EA0BFE61}" type="presParOf" srcId="{7C1BE89F-204B-453A-8FD6-CA69C79D7144}" destId="{FB46CF9C-5D1E-4648-BE7B-51B1705F9268}" srcOrd="2" destOrd="0" presId="urn:microsoft.com/office/officeart/2024/layout/BulletTimeline"/>
    <dgm:cxn modelId="{445F8022-A559-4F90-BE33-06B3639B5A2F}" type="presParOf" srcId="{7C1BE89F-204B-453A-8FD6-CA69C79D7144}" destId="{3B9AE136-72E6-49B1-81C6-2228239975DF}" srcOrd="3" destOrd="0" presId="urn:microsoft.com/office/officeart/2024/layout/BulletTimeline"/>
    <dgm:cxn modelId="{9F3A40E2-32E9-4DEC-8366-4A369FFF7B13}" type="presParOf" srcId="{7C1BE89F-204B-453A-8FD6-CA69C79D7144}" destId="{33B36979-7ACB-427C-A680-804C3DE24EF7}" srcOrd="4" destOrd="0" presId="urn:microsoft.com/office/officeart/2024/layout/BulletTimeline"/>
    <dgm:cxn modelId="{28D9F6F5-FDB7-483F-8769-37BA6C13136E}" type="presParOf" srcId="{33B36979-7ACB-427C-A680-804C3DE24EF7}" destId="{83B06A2F-644A-4E3C-A811-58B145CF9702}" srcOrd="0" destOrd="0" presId="urn:microsoft.com/office/officeart/2024/layout/BulletTimeline"/>
    <dgm:cxn modelId="{177EDA5E-D9BF-4D78-8237-A947D34FA90D}" type="presParOf" srcId="{7C1BE89F-204B-453A-8FD6-CA69C79D7144}" destId="{D3DEC6C3-ABD7-4270-9C99-08CE8B3F84DC}" srcOrd="5" destOrd="0" presId="urn:microsoft.com/office/officeart/2024/layout/Bulle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6BA8CF7-6C30-4D09-BEFF-2D93DBC2EC5F}" type="doc">
      <dgm:prSet loTypeId="urn:microsoft.com/office/officeart/2005/8/layout/rings+Icon" loCatId="relationship" qsTypeId="urn:microsoft.com/office/officeart/2005/8/quickstyle/simple1" qsCatId="simple" csTypeId="urn:microsoft.com/office/officeart/2005/8/colors/accent1_4" csCatId="accent1" phldr="1"/>
      <dgm:spPr/>
      <dgm:t>
        <a:bodyPr/>
        <a:lstStyle/>
        <a:p>
          <a:endParaRPr lang="en-MY"/>
        </a:p>
      </dgm:t>
    </dgm:pt>
    <dgm:pt modelId="{8AE84B22-36ED-41C5-B704-6E3C67A7CF5C}">
      <dgm:prSet phldrT="[Text]" phldr="0" custT="1"/>
      <dgm:spPr/>
      <dgm:t>
        <a:bodyPr/>
        <a:lstStyle/>
        <a:p>
          <a:r>
            <a:rPr lang="en-US" sz="1500" b="1" dirty="0">
              <a:latin typeface="Arial" panose="020B0604020202020204" pitchFamily="34" charset="0"/>
              <a:cs typeface="Arial" panose="020B0604020202020204" pitchFamily="34" charset="0"/>
            </a:rPr>
            <a:t>Layer 1: SME Master Profile</a:t>
          </a:r>
          <a:endParaRPr lang="en-MY" sz="1500" b="1" dirty="0">
            <a:latin typeface="Arial" panose="020B0604020202020204" pitchFamily="34" charset="0"/>
            <a:cs typeface="Arial" panose="020B0604020202020204" pitchFamily="34" charset="0"/>
          </a:endParaRPr>
        </a:p>
      </dgm:t>
    </dgm:pt>
    <dgm:pt modelId="{4E193222-2030-4784-A07B-5A706655C012}" type="parTrans" cxnId="{1787BABA-0435-428C-AD0F-6C0E4AF1020F}">
      <dgm:prSet/>
      <dgm:spPr/>
      <dgm:t>
        <a:bodyPr/>
        <a:lstStyle/>
        <a:p>
          <a:endParaRPr lang="en-MY" sz="1500" b="1">
            <a:latin typeface="Arial" panose="020B0604020202020204" pitchFamily="34" charset="0"/>
            <a:cs typeface="Arial" panose="020B0604020202020204" pitchFamily="34" charset="0"/>
          </a:endParaRPr>
        </a:p>
      </dgm:t>
    </dgm:pt>
    <dgm:pt modelId="{4811F047-96E6-492D-937E-1862D11D1185}" type="sibTrans" cxnId="{1787BABA-0435-428C-AD0F-6C0E4AF1020F}">
      <dgm:prSet/>
      <dgm:spPr/>
      <dgm:t>
        <a:bodyPr/>
        <a:lstStyle/>
        <a:p>
          <a:endParaRPr lang="en-MY" sz="1500" b="1">
            <a:latin typeface="Arial" panose="020B0604020202020204" pitchFamily="34" charset="0"/>
            <a:cs typeface="Arial" panose="020B0604020202020204" pitchFamily="34" charset="0"/>
          </a:endParaRPr>
        </a:p>
      </dgm:t>
    </dgm:pt>
    <dgm:pt modelId="{13B6E3C5-7875-412C-8AFB-EE95348D958B}">
      <dgm:prSet phldrT="[Text]" phldr="0" custT="1"/>
      <dgm:spPr/>
      <dgm:t>
        <a:bodyPr/>
        <a:lstStyle/>
        <a:p>
          <a:r>
            <a:rPr lang="en-US" sz="1500" b="1" dirty="0">
              <a:latin typeface="Arial" panose="020B0604020202020204" pitchFamily="34" charset="0"/>
              <a:cs typeface="Arial" panose="020B0604020202020204" pitchFamily="34" charset="0"/>
            </a:rPr>
            <a:t>Layer 4: EPC Development Data</a:t>
          </a:r>
          <a:endParaRPr lang="en-MY" sz="1500" b="1" dirty="0">
            <a:latin typeface="Arial" panose="020B0604020202020204" pitchFamily="34" charset="0"/>
            <a:cs typeface="Arial" panose="020B0604020202020204" pitchFamily="34" charset="0"/>
          </a:endParaRPr>
        </a:p>
      </dgm:t>
    </dgm:pt>
    <dgm:pt modelId="{77EDB720-C49E-4799-817D-7C8F637F2528}" type="parTrans" cxnId="{E5E607B7-EDA1-4FD8-98D6-F6CBE6B9C8F1}">
      <dgm:prSet/>
      <dgm:spPr/>
      <dgm:t>
        <a:bodyPr/>
        <a:lstStyle/>
        <a:p>
          <a:endParaRPr lang="en-MY" sz="1500" b="1">
            <a:latin typeface="Arial" panose="020B0604020202020204" pitchFamily="34" charset="0"/>
            <a:cs typeface="Arial" panose="020B0604020202020204" pitchFamily="34" charset="0"/>
          </a:endParaRPr>
        </a:p>
      </dgm:t>
    </dgm:pt>
    <dgm:pt modelId="{61A60711-247E-403B-9825-5A9B4E6F2E98}" type="sibTrans" cxnId="{E5E607B7-EDA1-4FD8-98D6-F6CBE6B9C8F1}">
      <dgm:prSet/>
      <dgm:spPr/>
      <dgm:t>
        <a:bodyPr/>
        <a:lstStyle/>
        <a:p>
          <a:endParaRPr lang="en-MY" sz="1500" b="1">
            <a:latin typeface="Arial" panose="020B0604020202020204" pitchFamily="34" charset="0"/>
            <a:cs typeface="Arial" panose="020B0604020202020204" pitchFamily="34" charset="0"/>
          </a:endParaRPr>
        </a:p>
      </dgm:t>
    </dgm:pt>
    <dgm:pt modelId="{56EB1DD6-2010-4CEE-90E4-82FF5F492D2A}">
      <dgm:prSet phldrT="[Text]" phldr="0" custT="1"/>
      <dgm:spPr/>
      <dgm:t>
        <a:bodyPr/>
        <a:lstStyle/>
        <a:p>
          <a:r>
            <a:rPr lang="en-US" sz="1500" b="1" dirty="0">
              <a:latin typeface="Arial" panose="020B0604020202020204" pitchFamily="34" charset="0"/>
              <a:cs typeface="Arial" panose="020B0604020202020204" pitchFamily="34" charset="0"/>
            </a:rPr>
            <a:t>Layer 5: ELSA Assessment Data</a:t>
          </a:r>
          <a:endParaRPr lang="en-MY" sz="1500" b="1" dirty="0">
            <a:latin typeface="Arial" panose="020B0604020202020204" pitchFamily="34" charset="0"/>
            <a:cs typeface="Arial" panose="020B0604020202020204" pitchFamily="34" charset="0"/>
          </a:endParaRPr>
        </a:p>
      </dgm:t>
    </dgm:pt>
    <dgm:pt modelId="{9A7DDEC2-FFB8-4A17-809A-C3C8D0848951}" type="parTrans" cxnId="{ECA5F1EA-0308-4233-816E-9B1C131244B8}">
      <dgm:prSet/>
      <dgm:spPr/>
      <dgm:t>
        <a:bodyPr/>
        <a:lstStyle/>
        <a:p>
          <a:endParaRPr lang="en-MY" sz="1500" b="1">
            <a:latin typeface="Arial" panose="020B0604020202020204" pitchFamily="34" charset="0"/>
            <a:cs typeface="Arial" panose="020B0604020202020204" pitchFamily="34" charset="0"/>
          </a:endParaRPr>
        </a:p>
      </dgm:t>
    </dgm:pt>
    <dgm:pt modelId="{8CB7C716-6BC9-4263-AA80-561BDA96B294}" type="sibTrans" cxnId="{ECA5F1EA-0308-4233-816E-9B1C131244B8}">
      <dgm:prSet/>
      <dgm:spPr/>
      <dgm:t>
        <a:bodyPr/>
        <a:lstStyle/>
        <a:p>
          <a:endParaRPr lang="en-MY" sz="1500" b="1">
            <a:latin typeface="Arial" panose="020B0604020202020204" pitchFamily="34" charset="0"/>
            <a:cs typeface="Arial" panose="020B0604020202020204" pitchFamily="34" charset="0"/>
          </a:endParaRPr>
        </a:p>
      </dgm:t>
    </dgm:pt>
    <dgm:pt modelId="{2A7D1A3D-6FA7-44E4-BFF7-498AD4E049AB}">
      <dgm:prSet phldrT="[Text]" phldr="0" custT="1"/>
      <dgm:spPr/>
      <dgm:t>
        <a:bodyPr/>
        <a:lstStyle/>
        <a:p>
          <a:r>
            <a:rPr lang="en-US" sz="1500" b="1" dirty="0">
              <a:latin typeface="Arial" panose="020B0604020202020204" pitchFamily="34" charset="0"/>
              <a:cs typeface="Arial" panose="020B0604020202020204" pitchFamily="34" charset="0"/>
            </a:rPr>
            <a:t>Layer 7: ESG &amp; Sustainability</a:t>
          </a:r>
          <a:endParaRPr lang="en-MY" sz="1500" b="1" dirty="0">
            <a:latin typeface="Arial" panose="020B0604020202020204" pitchFamily="34" charset="0"/>
            <a:cs typeface="Arial" panose="020B0604020202020204" pitchFamily="34" charset="0"/>
          </a:endParaRPr>
        </a:p>
      </dgm:t>
    </dgm:pt>
    <dgm:pt modelId="{1A4D00E8-ACE7-4510-A1DA-F56DC65C2176}" type="parTrans" cxnId="{30357556-8948-4B31-839F-3695ED7008C8}">
      <dgm:prSet/>
      <dgm:spPr/>
      <dgm:t>
        <a:bodyPr/>
        <a:lstStyle/>
        <a:p>
          <a:endParaRPr lang="en-MY" sz="1500" b="1">
            <a:latin typeface="Arial" panose="020B0604020202020204" pitchFamily="34" charset="0"/>
            <a:cs typeface="Arial" panose="020B0604020202020204" pitchFamily="34" charset="0"/>
          </a:endParaRPr>
        </a:p>
      </dgm:t>
    </dgm:pt>
    <dgm:pt modelId="{9ABB930A-34F4-4BFE-A3E9-4DAFAC7D6323}" type="sibTrans" cxnId="{30357556-8948-4B31-839F-3695ED7008C8}">
      <dgm:prSet/>
      <dgm:spPr/>
      <dgm:t>
        <a:bodyPr/>
        <a:lstStyle/>
        <a:p>
          <a:endParaRPr lang="en-MY" sz="1500" b="1">
            <a:latin typeface="Arial" panose="020B0604020202020204" pitchFamily="34" charset="0"/>
            <a:cs typeface="Arial" panose="020B0604020202020204" pitchFamily="34" charset="0"/>
          </a:endParaRPr>
        </a:p>
      </dgm:t>
    </dgm:pt>
    <dgm:pt modelId="{1C3C6B06-51CA-4F75-BBD2-2BDC4DF4004A}">
      <dgm:prSet phldrT="[Text]" phldr="0" custT="1"/>
      <dgm:spPr/>
    </dgm:pt>
    <dgm:pt modelId="{FF8C5B86-C0BE-40BC-ACA4-013E8871B627}" type="parTrans" cxnId="{6C739F30-2A29-4B62-9E9B-87B287DC7A16}">
      <dgm:prSet/>
      <dgm:spPr/>
      <dgm:t>
        <a:bodyPr/>
        <a:lstStyle/>
        <a:p>
          <a:endParaRPr lang="en-MY" sz="1500" b="1">
            <a:latin typeface="Arial" panose="020B0604020202020204" pitchFamily="34" charset="0"/>
            <a:cs typeface="Arial" panose="020B0604020202020204" pitchFamily="34" charset="0"/>
          </a:endParaRPr>
        </a:p>
      </dgm:t>
    </dgm:pt>
    <dgm:pt modelId="{2B7B0DFE-E83A-47DD-A2D5-EBBCBE4BE2BF}" type="sibTrans" cxnId="{6C739F30-2A29-4B62-9E9B-87B287DC7A16}">
      <dgm:prSet/>
      <dgm:spPr/>
      <dgm:t>
        <a:bodyPr/>
        <a:lstStyle/>
        <a:p>
          <a:endParaRPr lang="en-MY" sz="1500" b="1">
            <a:latin typeface="Arial" panose="020B0604020202020204" pitchFamily="34" charset="0"/>
            <a:cs typeface="Arial" panose="020B0604020202020204" pitchFamily="34" charset="0"/>
          </a:endParaRPr>
        </a:p>
      </dgm:t>
    </dgm:pt>
    <dgm:pt modelId="{449E1FD6-618B-4660-B300-D19B6788275F}">
      <dgm:prSet phldrT="[Text]" phldr="0" custT="1"/>
      <dgm:spPr/>
    </dgm:pt>
    <dgm:pt modelId="{B9CAF1A6-F4FC-4871-981D-B662AB07D694}" type="parTrans" cxnId="{84CCA8EB-E27A-4E4F-869E-6E8E2C63E1CA}">
      <dgm:prSet/>
      <dgm:spPr/>
      <dgm:t>
        <a:bodyPr/>
        <a:lstStyle/>
        <a:p>
          <a:endParaRPr lang="en-MY" sz="1500" b="1">
            <a:latin typeface="Arial" panose="020B0604020202020204" pitchFamily="34" charset="0"/>
            <a:cs typeface="Arial" panose="020B0604020202020204" pitchFamily="34" charset="0"/>
          </a:endParaRPr>
        </a:p>
      </dgm:t>
    </dgm:pt>
    <dgm:pt modelId="{433E7D7A-C211-4BF5-AEBE-2ABBC3A038D6}" type="sibTrans" cxnId="{84CCA8EB-E27A-4E4F-869E-6E8E2C63E1CA}">
      <dgm:prSet/>
      <dgm:spPr/>
      <dgm:t>
        <a:bodyPr/>
        <a:lstStyle/>
        <a:p>
          <a:endParaRPr lang="en-MY" sz="1500" b="1">
            <a:latin typeface="Arial" panose="020B0604020202020204" pitchFamily="34" charset="0"/>
            <a:cs typeface="Arial" panose="020B0604020202020204" pitchFamily="34" charset="0"/>
          </a:endParaRPr>
        </a:p>
      </dgm:t>
    </dgm:pt>
    <dgm:pt modelId="{183D00D1-626E-48E4-AE6C-7310CD4019A8}">
      <dgm:prSet phldrT="[Text]" phldr="0" custT="1"/>
      <dgm:spPr/>
    </dgm:pt>
    <dgm:pt modelId="{89B5D1EA-AD3E-4E68-9046-D68DC0BF6D7A}" type="parTrans" cxnId="{33F7D7C2-C72B-4255-9738-4B68E199B6CF}">
      <dgm:prSet/>
      <dgm:spPr/>
      <dgm:t>
        <a:bodyPr/>
        <a:lstStyle/>
        <a:p>
          <a:endParaRPr lang="en-MY" sz="1500" b="1">
            <a:latin typeface="Arial" panose="020B0604020202020204" pitchFamily="34" charset="0"/>
            <a:cs typeface="Arial" panose="020B0604020202020204" pitchFamily="34" charset="0"/>
          </a:endParaRPr>
        </a:p>
      </dgm:t>
    </dgm:pt>
    <dgm:pt modelId="{9678C6D4-E491-42DB-9D14-7B00F174BF89}" type="sibTrans" cxnId="{33F7D7C2-C72B-4255-9738-4B68E199B6CF}">
      <dgm:prSet/>
      <dgm:spPr/>
      <dgm:t>
        <a:bodyPr/>
        <a:lstStyle/>
        <a:p>
          <a:endParaRPr lang="en-MY" sz="1500" b="1">
            <a:latin typeface="Arial" panose="020B0604020202020204" pitchFamily="34" charset="0"/>
            <a:cs typeface="Arial" panose="020B0604020202020204" pitchFamily="34" charset="0"/>
          </a:endParaRPr>
        </a:p>
      </dgm:t>
    </dgm:pt>
    <dgm:pt modelId="{8596C661-59D5-42A6-84D9-C061AF3BBC17}">
      <dgm:prSet phldrT="[Text]" phldr="0" custT="1"/>
      <dgm:spPr/>
      <dgm:t>
        <a:bodyPr/>
        <a:lstStyle/>
        <a:p>
          <a:r>
            <a:rPr lang="en-US" sz="1500" b="1" dirty="0">
              <a:latin typeface="Arial" panose="020B0604020202020204" pitchFamily="34" charset="0"/>
              <a:cs typeface="Arial" panose="020B0604020202020204" pitchFamily="34" charset="0"/>
            </a:rPr>
            <a:t>Layer 2: Financial Intelligence</a:t>
          </a:r>
          <a:endParaRPr lang="en-MY" sz="1500" b="1" dirty="0">
            <a:latin typeface="Arial" panose="020B0604020202020204" pitchFamily="34" charset="0"/>
            <a:cs typeface="Arial" panose="020B0604020202020204" pitchFamily="34" charset="0"/>
          </a:endParaRPr>
        </a:p>
      </dgm:t>
    </dgm:pt>
    <dgm:pt modelId="{0554E519-DB12-483E-80DA-586977665240}" type="parTrans" cxnId="{7615AFB3-0858-4943-AA5A-CB80BA07B522}">
      <dgm:prSet/>
      <dgm:spPr/>
      <dgm:t>
        <a:bodyPr/>
        <a:lstStyle/>
        <a:p>
          <a:endParaRPr lang="en-MY"/>
        </a:p>
      </dgm:t>
    </dgm:pt>
    <dgm:pt modelId="{19D7B9CB-8C5C-4F7B-BADE-8242073BDE43}" type="sibTrans" cxnId="{7615AFB3-0858-4943-AA5A-CB80BA07B522}">
      <dgm:prSet/>
      <dgm:spPr/>
      <dgm:t>
        <a:bodyPr/>
        <a:lstStyle/>
        <a:p>
          <a:endParaRPr lang="en-MY"/>
        </a:p>
      </dgm:t>
    </dgm:pt>
    <dgm:pt modelId="{DDD4E270-BAC0-4A75-967A-14864BDC3704}">
      <dgm:prSet phldrT="[Text]" phldr="0" custT="1"/>
      <dgm:spPr/>
      <dgm:t>
        <a:bodyPr/>
        <a:lstStyle/>
        <a:p>
          <a:r>
            <a:rPr lang="en-US" sz="1500" b="1">
              <a:latin typeface="Arial" panose="020B0604020202020204" pitchFamily="34" charset="0"/>
              <a:cs typeface="Arial" panose="020B0604020202020204" pitchFamily="34" charset="0"/>
            </a:rPr>
            <a:t>Layer 3: Business Performance Data</a:t>
          </a:r>
          <a:endParaRPr lang="en-MY" sz="1500" b="1" dirty="0">
            <a:latin typeface="Arial" panose="020B0604020202020204" pitchFamily="34" charset="0"/>
            <a:cs typeface="Arial" panose="020B0604020202020204" pitchFamily="34" charset="0"/>
          </a:endParaRPr>
        </a:p>
      </dgm:t>
    </dgm:pt>
    <dgm:pt modelId="{DD6C6B0D-9C0B-4EAF-A25A-15BFD88A0791}" type="parTrans" cxnId="{77476D21-1064-455A-ADE7-6F7B06686799}">
      <dgm:prSet/>
      <dgm:spPr/>
      <dgm:t>
        <a:bodyPr/>
        <a:lstStyle/>
        <a:p>
          <a:endParaRPr lang="en-MY"/>
        </a:p>
      </dgm:t>
    </dgm:pt>
    <dgm:pt modelId="{B3D19715-488C-4560-9ECF-1EAA804AF1C8}" type="sibTrans" cxnId="{77476D21-1064-455A-ADE7-6F7B06686799}">
      <dgm:prSet/>
      <dgm:spPr/>
      <dgm:t>
        <a:bodyPr/>
        <a:lstStyle/>
        <a:p>
          <a:endParaRPr lang="en-MY"/>
        </a:p>
      </dgm:t>
    </dgm:pt>
    <dgm:pt modelId="{DD7F2768-5F10-4E24-8140-A0A0605690C5}">
      <dgm:prSet phldrT="[Text]" phldr="0" custT="1"/>
      <dgm:spPr/>
      <dgm:t>
        <a:bodyPr/>
        <a:lstStyle/>
        <a:p>
          <a:r>
            <a:rPr lang="en-US" sz="1500" b="1">
              <a:latin typeface="Arial" panose="020B0604020202020204" pitchFamily="34" charset="0"/>
              <a:cs typeface="Arial" panose="020B0604020202020204" pitchFamily="34" charset="0"/>
            </a:rPr>
            <a:t>Layer 6: Digitalization Assessment</a:t>
          </a:r>
          <a:endParaRPr lang="en-MY" sz="1500" b="1" dirty="0">
            <a:latin typeface="Arial" panose="020B0604020202020204" pitchFamily="34" charset="0"/>
            <a:cs typeface="Arial" panose="020B0604020202020204" pitchFamily="34" charset="0"/>
          </a:endParaRPr>
        </a:p>
      </dgm:t>
    </dgm:pt>
    <dgm:pt modelId="{DF8F72C1-0E91-49B9-8188-0543AC89A2BE}" type="parTrans" cxnId="{AD733142-C114-43B5-905F-A13FC65C8A6B}">
      <dgm:prSet/>
      <dgm:spPr/>
      <dgm:t>
        <a:bodyPr/>
        <a:lstStyle/>
        <a:p>
          <a:endParaRPr lang="en-MY"/>
        </a:p>
      </dgm:t>
    </dgm:pt>
    <dgm:pt modelId="{481AEF4C-3A4B-4869-882D-13A0FB096173}" type="sibTrans" cxnId="{AD733142-C114-43B5-905F-A13FC65C8A6B}">
      <dgm:prSet/>
      <dgm:spPr/>
      <dgm:t>
        <a:bodyPr/>
        <a:lstStyle/>
        <a:p>
          <a:endParaRPr lang="en-MY"/>
        </a:p>
      </dgm:t>
    </dgm:pt>
    <dgm:pt modelId="{B64D415A-6EE7-4B28-A3A2-F05315E1E755}" type="pres">
      <dgm:prSet presAssocID="{B6BA8CF7-6C30-4D09-BEFF-2D93DBC2EC5F}" presName="Name0" presStyleCnt="0">
        <dgm:presLayoutVars>
          <dgm:chMax val="7"/>
          <dgm:dir/>
          <dgm:resizeHandles val="exact"/>
        </dgm:presLayoutVars>
      </dgm:prSet>
      <dgm:spPr/>
    </dgm:pt>
    <dgm:pt modelId="{F0349DB0-0AE9-4A40-A96A-BE02D24378C6}" type="pres">
      <dgm:prSet presAssocID="{B6BA8CF7-6C30-4D09-BEFF-2D93DBC2EC5F}" presName="ellipse1" presStyleLbl="vennNode1" presStyleIdx="0" presStyleCnt="7">
        <dgm:presLayoutVars>
          <dgm:bulletEnabled val="1"/>
        </dgm:presLayoutVars>
      </dgm:prSet>
      <dgm:spPr/>
    </dgm:pt>
    <dgm:pt modelId="{1AD04EAC-8E99-4516-8308-BB95EA7382B7}" type="pres">
      <dgm:prSet presAssocID="{B6BA8CF7-6C30-4D09-BEFF-2D93DBC2EC5F}" presName="ellipse2" presStyleLbl="vennNode1" presStyleIdx="1" presStyleCnt="7">
        <dgm:presLayoutVars>
          <dgm:bulletEnabled val="1"/>
        </dgm:presLayoutVars>
      </dgm:prSet>
      <dgm:spPr/>
    </dgm:pt>
    <dgm:pt modelId="{FAC15F07-F862-4579-8784-C7DE1149CA67}" type="pres">
      <dgm:prSet presAssocID="{B6BA8CF7-6C30-4D09-BEFF-2D93DBC2EC5F}" presName="ellipse3" presStyleLbl="vennNode1" presStyleIdx="2" presStyleCnt="7">
        <dgm:presLayoutVars>
          <dgm:bulletEnabled val="1"/>
        </dgm:presLayoutVars>
      </dgm:prSet>
      <dgm:spPr/>
    </dgm:pt>
    <dgm:pt modelId="{73E3A090-537B-4AD2-86BF-F7B7690C406E}" type="pres">
      <dgm:prSet presAssocID="{B6BA8CF7-6C30-4D09-BEFF-2D93DBC2EC5F}" presName="ellipse4" presStyleLbl="vennNode1" presStyleIdx="3" presStyleCnt="7">
        <dgm:presLayoutVars>
          <dgm:bulletEnabled val="1"/>
        </dgm:presLayoutVars>
      </dgm:prSet>
      <dgm:spPr/>
    </dgm:pt>
    <dgm:pt modelId="{63B310A5-376D-4632-AE88-DE75DCA98222}" type="pres">
      <dgm:prSet presAssocID="{B6BA8CF7-6C30-4D09-BEFF-2D93DBC2EC5F}" presName="ellipse5" presStyleLbl="vennNode1" presStyleIdx="4" presStyleCnt="7">
        <dgm:presLayoutVars>
          <dgm:bulletEnabled val="1"/>
        </dgm:presLayoutVars>
      </dgm:prSet>
      <dgm:spPr/>
    </dgm:pt>
    <dgm:pt modelId="{04CFFEED-804E-4836-8145-BBD60A53EDF4}" type="pres">
      <dgm:prSet presAssocID="{B6BA8CF7-6C30-4D09-BEFF-2D93DBC2EC5F}" presName="ellipse6" presStyleLbl="vennNode1" presStyleIdx="5" presStyleCnt="7">
        <dgm:presLayoutVars>
          <dgm:bulletEnabled val="1"/>
        </dgm:presLayoutVars>
      </dgm:prSet>
      <dgm:spPr/>
    </dgm:pt>
    <dgm:pt modelId="{AC8BDCF4-DEC2-4542-8661-E493CE46306A}" type="pres">
      <dgm:prSet presAssocID="{B6BA8CF7-6C30-4D09-BEFF-2D93DBC2EC5F}" presName="ellipse7" presStyleLbl="vennNode1" presStyleIdx="6" presStyleCnt="7">
        <dgm:presLayoutVars>
          <dgm:bulletEnabled val="1"/>
        </dgm:presLayoutVars>
      </dgm:prSet>
      <dgm:spPr/>
    </dgm:pt>
  </dgm:ptLst>
  <dgm:cxnLst>
    <dgm:cxn modelId="{342DCA14-E667-4A6B-BB73-D3F85C67E9D6}" type="presOf" srcId="{13B6E3C5-7875-412C-8AFB-EE95348D958B}" destId="{73E3A090-537B-4AD2-86BF-F7B7690C406E}" srcOrd="0" destOrd="0" presId="urn:microsoft.com/office/officeart/2005/8/layout/rings+Icon"/>
    <dgm:cxn modelId="{903EB918-47F1-4183-951B-3C153947382C}" type="presOf" srcId="{56EB1DD6-2010-4CEE-90E4-82FF5F492D2A}" destId="{63B310A5-376D-4632-AE88-DE75DCA98222}" srcOrd="0" destOrd="0" presId="urn:microsoft.com/office/officeart/2005/8/layout/rings+Icon"/>
    <dgm:cxn modelId="{77476D21-1064-455A-ADE7-6F7B06686799}" srcId="{B6BA8CF7-6C30-4D09-BEFF-2D93DBC2EC5F}" destId="{DDD4E270-BAC0-4A75-967A-14864BDC3704}" srcOrd="2" destOrd="0" parTransId="{DD6C6B0D-9C0B-4EAF-A25A-15BFD88A0791}" sibTransId="{B3D19715-488C-4560-9ECF-1EAA804AF1C8}"/>
    <dgm:cxn modelId="{6C739F30-2A29-4B62-9E9B-87B287DC7A16}" srcId="{B6BA8CF7-6C30-4D09-BEFF-2D93DBC2EC5F}" destId="{1C3C6B06-51CA-4F75-BBD2-2BDC4DF4004A}" srcOrd="7" destOrd="0" parTransId="{FF8C5B86-C0BE-40BC-ACA4-013E8871B627}" sibTransId="{2B7B0DFE-E83A-47DD-A2D5-EBBCBE4BE2BF}"/>
    <dgm:cxn modelId="{AD733142-C114-43B5-905F-A13FC65C8A6B}" srcId="{B6BA8CF7-6C30-4D09-BEFF-2D93DBC2EC5F}" destId="{DD7F2768-5F10-4E24-8140-A0A0605690C5}" srcOrd="5" destOrd="0" parTransId="{DF8F72C1-0E91-49B9-8188-0543AC89A2BE}" sibTransId="{481AEF4C-3A4B-4869-882D-13A0FB096173}"/>
    <dgm:cxn modelId="{8702AB46-FEBC-4557-8011-E6F411E5E0D6}" type="presOf" srcId="{DD7F2768-5F10-4E24-8140-A0A0605690C5}" destId="{04CFFEED-804E-4836-8145-BBD60A53EDF4}" srcOrd="0" destOrd="0" presId="urn:microsoft.com/office/officeart/2005/8/layout/rings+Icon"/>
    <dgm:cxn modelId="{6A5E646E-448B-4CB8-BEFA-ADD51A4E4AAF}" type="presOf" srcId="{8AE84B22-36ED-41C5-B704-6E3C67A7CF5C}" destId="{F0349DB0-0AE9-4A40-A96A-BE02D24378C6}" srcOrd="0" destOrd="0" presId="urn:microsoft.com/office/officeart/2005/8/layout/rings+Icon"/>
    <dgm:cxn modelId="{30357556-8948-4B31-839F-3695ED7008C8}" srcId="{B6BA8CF7-6C30-4D09-BEFF-2D93DBC2EC5F}" destId="{2A7D1A3D-6FA7-44E4-BFF7-498AD4E049AB}" srcOrd="6" destOrd="0" parTransId="{1A4D00E8-ACE7-4510-A1DA-F56DC65C2176}" sibTransId="{9ABB930A-34F4-4BFE-A3E9-4DAFAC7D6323}"/>
    <dgm:cxn modelId="{623E7C92-2A7A-4E09-9EBC-74BDB2734044}" type="presOf" srcId="{2A7D1A3D-6FA7-44E4-BFF7-498AD4E049AB}" destId="{AC8BDCF4-DEC2-4542-8661-E493CE46306A}" srcOrd="0" destOrd="0" presId="urn:microsoft.com/office/officeart/2005/8/layout/rings+Icon"/>
    <dgm:cxn modelId="{A604B294-8D1D-43F7-985E-385241FEFB56}" type="presOf" srcId="{DDD4E270-BAC0-4A75-967A-14864BDC3704}" destId="{FAC15F07-F862-4579-8784-C7DE1149CA67}" srcOrd="0" destOrd="0" presId="urn:microsoft.com/office/officeart/2005/8/layout/rings+Icon"/>
    <dgm:cxn modelId="{FA24E0AD-B14C-4DC0-8B1E-24C7CFA866F2}" type="presOf" srcId="{8596C661-59D5-42A6-84D9-C061AF3BBC17}" destId="{1AD04EAC-8E99-4516-8308-BB95EA7382B7}" srcOrd="0" destOrd="0" presId="urn:microsoft.com/office/officeart/2005/8/layout/rings+Icon"/>
    <dgm:cxn modelId="{7615AFB3-0858-4943-AA5A-CB80BA07B522}" srcId="{B6BA8CF7-6C30-4D09-BEFF-2D93DBC2EC5F}" destId="{8596C661-59D5-42A6-84D9-C061AF3BBC17}" srcOrd="1" destOrd="0" parTransId="{0554E519-DB12-483E-80DA-586977665240}" sibTransId="{19D7B9CB-8C5C-4F7B-BADE-8242073BDE43}"/>
    <dgm:cxn modelId="{E5E607B7-EDA1-4FD8-98D6-F6CBE6B9C8F1}" srcId="{B6BA8CF7-6C30-4D09-BEFF-2D93DBC2EC5F}" destId="{13B6E3C5-7875-412C-8AFB-EE95348D958B}" srcOrd="3" destOrd="0" parTransId="{77EDB720-C49E-4799-817D-7C8F637F2528}" sibTransId="{61A60711-247E-403B-9825-5A9B4E6F2E98}"/>
    <dgm:cxn modelId="{1787BABA-0435-428C-AD0F-6C0E4AF1020F}" srcId="{B6BA8CF7-6C30-4D09-BEFF-2D93DBC2EC5F}" destId="{8AE84B22-36ED-41C5-B704-6E3C67A7CF5C}" srcOrd="0" destOrd="0" parTransId="{4E193222-2030-4784-A07B-5A706655C012}" sibTransId="{4811F047-96E6-492D-937E-1862D11D1185}"/>
    <dgm:cxn modelId="{33F7D7C2-C72B-4255-9738-4B68E199B6CF}" srcId="{B6BA8CF7-6C30-4D09-BEFF-2D93DBC2EC5F}" destId="{183D00D1-626E-48E4-AE6C-7310CD4019A8}" srcOrd="9" destOrd="0" parTransId="{89B5D1EA-AD3E-4E68-9046-D68DC0BF6D7A}" sibTransId="{9678C6D4-E491-42DB-9D14-7B00F174BF89}"/>
    <dgm:cxn modelId="{A95D90CA-0606-491B-BD0D-4EC088510E73}" type="presOf" srcId="{B6BA8CF7-6C30-4D09-BEFF-2D93DBC2EC5F}" destId="{B64D415A-6EE7-4B28-A3A2-F05315E1E755}" srcOrd="0" destOrd="0" presId="urn:microsoft.com/office/officeart/2005/8/layout/rings+Icon"/>
    <dgm:cxn modelId="{ECA5F1EA-0308-4233-816E-9B1C131244B8}" srcId="{B6BA8CF7-6C30-4D09-BEFF-2D93DBC2EC5F}" destId="{56EB1DD6-2010-4CEE-90E4-82FF5F492D2A}" srcOrd="4" destOrd="0" parTransId="{9A7DDEC2-FFB8-4A17-809A-C3C8D0848951}" sibTransId="{8CB7C716-6BC9-4263-AA80-561BDA96B294}"/>
    <dgm:cxn modelId="{84CCA8EB-E27A-4E4F-869E-6E8E2C63E1CA}" srcId="{B6BA8CF7-6C30-4D09-BEFF-2D93DBC2EC5F}" destId="{449E1FD6-618B-4660-B300-D19B6788275F}" srcOrd="8" destOrd="0" parTransId="{B9CAF1A6-F4FC-4871-981D-B662AB07D694}" sibTransId="{433E7D7A-C211-4BF5-AEBE-2ABBC3A038D6}"/>
    <dgm:cxn modelId="{449BD5AE-D613-421F-A3F7-BB434A8A6CFA}" type="presParOf" srcId="{B64D415A-6EE7-4B28-A3A2-F05315E1E755}" destId="{F0349DB0-0AE9-4A40-A96A-BE02D24378C6}" srcOrd="0" destOrd="0" presId="urn:microsoft.com/office/officeart/2005/8/layout/rings+Icon"/>
    <dgm:cxn modelId="{A08E6557-6520-4F2C-A17C-7CDB26024B70}" type="presParOf" srcId="{B64D415A-6EE7-4B28-A3A2-F05315E1E755}" destId="{1AD04EAC-8E99-4516-8308-BB95EA7382B7}" srcOrd="1" destOrd="0" presId="urn:microsoft.com/office/officeart/2005/8/layout/rings+Icon"/>
    <dgm:cxn modelId="{FE6CB256-95CA-4E36-B715-C0F4AFCB26AF}" type="presParOf" srcId="{B64D415A-6EE7-4B28-A3A2-F05315E1E755}" destId="{FAC15F07-F862-4579-8784-C7DE1149CA67}" srcOrd="2" destOrd="0" presId="urn:microsoft.com/office/officeart/2005/8/layout/rings+Icon"/>
    <dgm:cxn modelId="{3AFF0CEF-65F7-4191-9257-0E4B6DE15CA2}" type="presParOf" srcId="{B64D415A-6EE7-4B28-A3A2-F05315E1E755}" destId="{73E3A090-537B-4AD2-86BF-F7B7690C406E}" srcOrd="3" destOrd="0" presId="urn:microsoft.com/office/officeart/2005/8/layout/rings+Icon"/>
    <dgm:cxn modelId="{E59C2A48-EE2C-4C9E-936D-0B381EA2D32B}" type="presParOf" srcId="{B64D415A-6EE7-4B28-A3A2-F05315E1E755}" destId="{63B310A5-376D-4632-AE88-DE75DCA98222}" srcOrd="4" destOrd="0" presId="urn:microsoft.com/office/officeart/2005/8/layout/rings+Icon"/>
    <dgm:cxn modelId="{CB95ADDE-AC22-494B-8548-160D63C395E4}" type="presParOf" srcId="{B64D415A-6EE7-4B28-A3A2-F05315E1E755}" destId="{04CFFEED-804E-4836-8145-BBD60A53EDF4}" srcOrd="5" destOrd="0" presId="urn:microsoft.com/office/officeart/2005/8/layout/rings+Icon"/>
    <dgm:cxn modelId="{BA317F16-77B0-4734-80AC-CBA38C60F1F3}" type="presParOf" srcId="{B64D415A-6EE7-4B28-A3A2-F05315E1E755}" destId="{AC8BDCF4-DEC2-4542-8661-E493CE46306A}" srcOrd="6"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B57E73-9E47-482D-987B-E3A1C56454D3}">
      <dsp:nvSpPr>
        <dsp:cNvPr id="0" name=""/>
        <dsp:cNvSpPr/>
      </dsp:nvSpPr>
      <dsp:spPr>
        <a:xfrm>
          <a:off x="3224" y="656854"/>
          <a:ext cx="1221139" cy="732683"/>
        </a:xfrm>
        <a:prstGeom prst="roundRect">
          <a:avLst>
            <a:gd name="adj" fmla="val 10000"/>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SME Data</a:t>
          </a:r>
          <a:endParaRPr lang="en-MY" sz="1300" b="1" kern="1200" dirty="0">
            <a:latin typeface="Arial" panose="020B0604020202020204" pitchFamily="34" charset="0"/>
            <a:cs typeface="Arial" panose="020B0604020202020204" pitchFamily="34" charset="0"/>
          </a:endParaRPr>
        </a:p>
      </dsp:txBody>
      <dsp:txXfrm>
        <a:off x="24684" y="678314"/>
        <a:ext cx="1178219" cy="689763"/>
      </dsp:txXfrm>
    </dsp:sp>
    <dsp:sp modelId="{71AFC82A-ADA1-45B2-868F-36BA958550C0}">
      <dsp:nvSpPr>
        <dsp:cNvPr id="0" name=""/>
        <dsp:cNvSpPr/>
      </dsp:nvSpPr>
      <dsp:spPr>
        <a:xfrm>
          <a:off x="1346477" y="871775"/>
          <a:ext cx="258881" cy="302842"/>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MY" sz="1300" b="1" kern="1200">
            <a:latin typeface="Arial" panose="020B0604020202020204" pitchFamily="34" charset="0"/>
            <a:cs typeface="Arial" panose="020B0604020202020204" pitchFamily="34" charset="0"/>
          </a:endParaRPr>
        </a:p>
      </dsp:txBody>
      <dsp:txXfrm>
        <a:off x="1346477" y="932343"/>
        <a:ext cx="181217" cy="181706"/>
      </dsp:txXfrm>
    </dsp:sp>
    <dsp:sp modelId="{AFE49336-F01F-4118-81A5-C423D82F0F16}">
      <dsp:nvSpPr>
        <dsp:cNvPr id="0" name=""/>
        <dsp:cNvSpPr/>
      </dsp:nvSpPr>
      <dsp:spPr>
        <a:xfrm>
          <a:off x="1712819" y="656854"/>
          <a:ext cx="1221139" cy="732683"/>
        </a:xfrm>
        <a:prstGeom prst="roundRect">
          <a:avLst>
            <a:gd name="adj" fmla="val 10000"/>
          </a:avLst>
        </a:prstGeom>
        <a:solidFill>
          <a:schemeClr val="accent1">
            <a:shade val="50000"/>
            <a:hueOff val="168471"/>
            <a:satOff val="-17708"/>
            <a:lumOff val="152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Development Analytics</a:t>
          </a:r>
          <a:endParaRPr lang="en-MY" sz="1300" b="1" kern="1200" dirty="0">
            <a:latin typeface="Arial" panose="020B0604020202020204" pitchFamily="34" charset="0"/>
            <a:cs typeface="Arial" panose="020B0604020202020204" pitchFamily="34" charset="0"/>
          </a:endParaRPr>
        </a:p>
      </dsp:txBody>
      <dsp:txXfrm>
        <a:off x="1734279" y="678314"/>
        <a:ext cx="1178219" cy="689763"/>
      </dsp:txXfrm>
    </dsp:sp>
    <dsp:sp modelId="{DAE57F8C-E643-44AD-9663-76ACC5D751F2}">
      <dsp:nvSpPr>
        <dsp:cNvPr id="0" name=""/>
        <dsp:cNvSpPr/>
      </dsp:nvSpPr>
      <dsp:spPr>
        <a:xfrm>
          <a:off x="3056072" y="871775"/>
          <a:ext cx="258881" cy="302842"/>
        </a:xfrm>
        <a:prstGeom prst="rightArrow">
          <a:avLst>
            <a:gd name="adj1" fmla="val 60000"/>
            <a:gd name="adj2" fmla="val 50000"/>
          </a:avLst>
        </a:prstGeom>
        <a:solidFill>
          <a:schemeClr val="accent1">
            <a:shade val="90000"/>
            <a:hueOff val="199761"/>
            <a:satOff val="-19400"/>
            <a:lumOff val="1634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MY" sz="1300" b="1" kern="1200">
            <a:latin typeface="Arial" panose="020B0604020202020204" pitchFamily="34" charset="0"/>
            <a:cs typeface="Arial" panose="020B0604020202020204" pitchFamily="34" charset="0"/>
          </a:endParaRPr>
        </a:p>
      </dsp:txBody>
      <dsp:txXfrm>
        <a:off x="3056072" y="932343"/>
        <a:ext cx="181217" cy="181706"/>
      </dsp:txXfrm>
    </dsp:sp>
    <dsp:sp modelId="{28C5FD12-C874-4A53-BDD1-EAD9AF595432}">
      <dsp:nvSpPr>
        <dsp:cNvPr id="0" name=""/>
        <dsp:cNvSpPr/>
      </dsp:nvSpPr>
      <dsp:spPr>
        <a:xfrm>
          <a:off x="3422414" y="656854"/>
          <a:ext cx="1221139" cy="732683"/>
        </a:xfrm>
        <a:prstGeom prst="roundRect">
          <a:avLst>
            <a:gd name="adj" fmla="val 10000"/>
          </a:avLst>
        </a:prstGeom>
        <a:solidFill>
          <a:schemeClr val="accent1">
            <a:shade val="50000"/>
            <a:hueOff val="336942"/>
            <a:satOff val="-35416"/>
            <a:lumOff val="305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Development Insights</a:t>
          </a:r>
          <a:endParaRPr lang="en-MY" sz="1300" b="1" kern="1200" dirty="0">
            <a:latin typeface="Arial" panose="020B0604020202020204" pitchFamily="34" charset="0"/>
            <a:cs typeface="Arial" panose="020B0604020202020204" pitchFamily="34" charset="0"/>
          </a:endParaRPr>
        </a:p>
      </dsp:txBody>
      <dsp:txXfrm>
        <a:off x="3443874" y="678314"/>
        <a:ext cx="1178219" cy="689763"/>
      </dsp:txXfrm>
    </dsp:sp>
    <dsp:sp modelId="{9DC37516-64D2-494B-A1C2-27CE7F59F7FA}">
      <dsp:nvSpPr>
        <dsp:cNvPr id="0" name=""/>
        <dsp:cNvSpPr/>
      </dsp:nvSpPr>
      <dsp:spPr>
        <a:xfrm>
          <a:off x="4765668" y="871775"/>
          <a:ext cx="258881" cy="302842"/>
        </a:xfrm>
        <a:prstGeom prst="rightArrow">
          <a:avLst>
            <a:gd name="adj1" fmla="val 60000"/>
            <a:gd name="adj2" fmla="val 50000"/>
          </a:avLst>
        </a:prstGeom>
        <a:solidFill>
          <a:schemeClr val="accent1">
            <a:shade val="90000"/>
            <a:hueOff val="399521"/>
            <a:satOff val="-38801"/>
            <a:lumOff val="3267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MY" sz="1300" b="1" kern="1200">
            <a:latin typeface="Arial" panose="020B0604020202020204" pitchFamily="34" charset="0"/>
            <a:cs typeface="Arial" panose="020B0604020202020204" pitchFamily="34" charset="0"/>
          </a:endParaRPr>
        </a:p>
      </dsp:txBody>
      <dsp:txXfrm>
        <a:off x="4765668" y="932343"/>
        <a:ext cx="181217" cy="181706"/>
      </dsp:txXfrm>
    </dsp:sp>
    <dsp:sp modelId="{1D2B3AA0-808C-450E-A962-862E24C7CAD2}">
      <dsp:nvSpPr>
        <dsp:cNvPr id="0" name=""/>
        <dsp:cNvSpPr/>
      </dsp:nvSpPr>
      <dsp:spPr>
        <a:xfrm>
          <a:off x="5132009" y="656854"/>
          <a:ext cx="1221139" cy="732683"/>
        </a:xfrm>
        <a:prstGeom prst="roundRect">
          <a:avLst>
            <a:gd name="adj" fmla="val 10000"/>
          </a:avLst>
        </a:prstGeom>
        <a:solidFill>
          <a:schemeClr val="accent1">
            <a:shade val="50000"/>
            <a:hueOff val="505413"/>
            <a:satOff val="-53124"/>
            <a:lumOff val="4584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Management Decision</a:t>
          </a:r>
          <a:endParaRPr lang="en-MY" sz="1300" b="1" kern="1200" dirty="0">
            <a:latin typeface="Arial" panose="020B0604020202020204" pitchFamily="34" charset="0"/>
            <a:cs typeface="Arial" panose="020B0604020202020204" pitchFamily="34" charset="0"/>
          </a:endParaRPr>
        </a:p>
      </dsp:txBody>
      <dsp:txXfrm>
        <a:off x="5153469" y="678314"/>
        <a:ext cx="1178219" cy="689763"/>
      </dsp:txXfrm>
    </dsp:sp>
    <dsp:sp modelId="{0FF05CAF-BE40-4135-951D-4B2064E9E701}">
      <dsp:nvSpPr>
        <dsp:cNvPr id="0" name=""/>
        <dsp:cNvSpPr/>
      </dsp:nvSpPr>
      <dsp:spPr>
        <a:xfrm>
          <a:off x="6475263" y="871775"/>
          <a:ext cx="258881" cy="302842"/>
        </a:xfrm>
        <a:prstGeom prst="rightArrow">
          <a:avLst>
            <a:gd name="adj1" fmla="val 60000"/>
            <a:gd name="adj2" fmla="val 50000"/>
          </a:avLst>
        </a:prstGeom>
        <a:solidFill>
          <a:schemeClr val="accent1">
            <a:shade val="90000"/>
            <a:hueOff val="599282"/>
            <a:satOff val="-58201"/>
            <a:lumOff val="490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MY" sz="1300" b="1" kern="1200">
            <a:latin typeface="Arial" panose="020B0604020202020204" pitchFamily="34" charset="0"/>
            <a:cs typeface="Arial" panose="020B0604020202020204" pitchFamily="34" charset="0"/>
          </a:endParaRPr>
        </a:p>
      </dsp:txBody>
      <dsp:txXfrm>
        <a:off x="6475263" y="932343"/>
        <a:ext cx="181217" cy="181706"/>
      </dsp:txXfrm>
    </dsp:sp>
    <dsp:sp modelId="{0ABAD203-A497-45FA-88B2-E6838860B9B7}">
      <dsp:nvSpPr>
        <dsp:cNvPr id="0" name=""/>
        <dsp:cNvSpPr/>
      </dsp:nvSpPr>
      <dsp:spPr>
        <a:xfrm>
          <a:off x="6841604" y="656854"/>
          <a:ext cx="1221139" cy="732683"/>
        </a:xfrm>
        <a:prstGeom prst="roundRect">
          <a:avLst>
            <a:gd name="adj" fmla="val 10000"/>
          </a:avLst>
        </a:prstGeom>
        <a:solidFill>
          <a:schemeClr val="accent1">
            <a:shade val="50000"/>
            <a:hueOff val="505413"/>
            <a:satOff val="-53124"/>
            <a:lumOff val="4584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Targeted Intervention</a:t>
          </a:r>
          <a:endParaRPr lang="en-MY" sz="1300" b="1" kern="1200" dirty="0">
            <a:latin typeface="Arial" panose="020B0604020202020204" pitchFamily="34" charset="0"/>
            <a:cs typeface="Arial" panose="020B0604020202020204" pitchFamily="34" charset="0"/>
          </a:endParaRPr>
        </a:p>
      </dsp:txBody>
      <dsp:txXfrm>
        <a:off x="6863064" y="678314"/>
        <a:ext cx="1178219" cy="689763"/>
      </dsp:txXfrm>
    </dsp:sp>
    <dsp:sp modelId="{1FC126C8-5081-4CEA-BCCF-814040945575}">
      <dsp:nvSpPr>
        <dsp:cNvPr id="0" name=""/>
        <dsp:cNvSpPr/>
      </dsp:nvSpPr>
      <dsp:spPr>
        <a:xfrm>
          <a:off x="8184858" y="871775"/>
          <a:ext cx="258881" cy="302842"/>
        </a:xfrm>
        <a:prstGeom prst="rightArrow">
          <a:avLst>
            <a:gd name="adj1" fmla="val 60000"/>
            <a:gd name="adj2" fmla="val 50000"/>
          </a:avLst>
        </a:prstGeom>
        <a:solidFill>
          <a:schemeClr val="accent1">
            <a:shade val="90000"/>
            <a:hueOff val="399521"/>
            <a:satOff val="-38801"/>
            <a:lumOff val="3267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MY" sz="1300" b="1" kern="1200">
            <a:latin typeface="Arial" panose="020B0604020202020204" pitchFamily="34" charset="0"/>
            <a:cs typeface="Arial" panose="020B0604020202020204" pitchFamily="34" charset="0"/>
          </a:endParaRPr>
        </a:p>
      </dsp:txBody>
      <dsp:txXfrm>
        <a:off x="8184858" y="932343"/>
        <a:ext cx="181217" cy="181706"/>
      </dsp:txXfrm>
    </dsp:sp>
    <dsp:sp modelId="{0F95BA9E-377A-40C4-B82A-F332ABE3CC39}">
      <dsp:nvSpPr>
        <dsp:cNvPr id="0" name=""/>
        <dsp:cNvSpPr/>
      </dsp:nvSpPr>
      <dsp:spPr>
        <a:xfrm>
          <a:off x="8551199" y="656854"/>
          <a:ext cx="1221139" cy="732683"/>
        </a:xfrm>
        <a:prstGeom prst="roundRect">
          <a:avLst>
            <a:gd name="adj" fmla="val 10000"/>
          </a:avLst>
        </a:prstGeom>
        <a:solidFill>
          <a:schemeClr val="accent1">
            <a:shade val="50000"/>
            <a:hueOff val="336942"/>
            <a:satOff val="-35416"/>
            <a:lumOff val="305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SME Improvement</a:t>
          </a:r>
          <a:endParaRPr lang="en-MY" sz="1300" b="1" kern="1200" dirty="0">
            <a:latin typeface="Arial" panose="020B0604020202020204" pitchFamily="34" charset="0"/>
            <a:cs typeface="Arial" panose="020B0604020202020204" pitchFamily="34" charset="0"/>
          </a:endParaRPr>
        </a:p>
      </dsp:txBody>
      <dsp:txXfrm>
        <a:off x="8572659" y="678314"/>
        <a:ext cx="1178219" cy="689763"/>
      </dsp:txXfrm>
    </dsp:sp>
    <dsp:sp modelId="{449ED625-5DEA-42E9-B1C4-286BE49BACD4}">
      <dsp:nvSpPr>
        <dsp:cNvPr id="0" name=""/>
        <dsp:cNvSpPr/>
      </dsp:nvSpPr>
      <dsp:spPr>
        <a:xfrm>
          <a:off x="9894453" y="871775"/>
          <a:ext cx="258881" cy="302842"/>
        </a:xfrm>
        <a:prstGeom prst="rightArrow">
          <a:avLst>
            <a:gd name="adj1" fmla="val 60000"/>
            <a:gd name="adj2" fmla="val 50000"/>
          </a:avLst>
        </a:prstGeom>
        <a:solidFill>
          <a:schemeClr val="accent1">
            <a:shade val="90000"/>
            <a:hueOff val="199761"/>
            <a:satOff val="-19400"/>
            <a:lumOff val="1634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MY" sz="1300" b="1" kern="1200">
            <a:latin typeface="Arial" panose="020B0604020202020204" pitchFamily="34" charset="0"/>
            <a:cs typeface="Arial" panose="020B0604020202020204" pitchFamily="34" charset="0"/>
          </a:endParaRPr>
        </a:p>
      </dsp:txBody>
      <dsp:txXfrm>
        <a:off x="9894453" y="932343"/>
        <a:ext cx="181217" cy="181706"/>
      </dsp:txXfrm>
    </dsp:sp>
    <dsp:sp modelId="{9F94C9EA-046F-4009-BDD6-BDBC152E9138}">
      <dsp:nvSpPr>
        <dsp:cNvPr id="0" name=""/>
        <dsp:cNvSpPr/>
      </dsp:nvSpPr>
      <dsp:spPr>
        <a:xfrm>
          <a:off x="10260795" y="656854"/>
          <a:ext cx="1221139" cy="732683"/>
        </a:xfrm>
        <a:prstGeom prst="roundRect">
          <a:avLst>
            <a:gd name="adj" fmla="val 10000"/>
          </a:avLst>
        </a:prstGeom>
        <a:solidFill>
          <a:schemeClr val="accent1">
            <a:shade val="50000"/>
            <a:hueOff val="168471"/>
            <a:satOff val="-17708"/>
            <a:lumOff val="152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anose="020B0604020202020204" pitchFamily="34" charset="0"/>
              <a:cs typeface="Arial" panose="020B0604020202020204" pitchFamily="34" charset="0"/>
            </a:rPr>
            <a:t>New Development Data</a:t>
          </a:r>
          <a:endParaRPr lang="en-MY" sz="1300" b="1" kern="1200" dirty="0">
            <a:latin typeface="Arial" panose="020B0604020202020204" pitchFamily="34" charset="0"/>
            <a:cs typeface="Arial" panose="020B0604020202020204" pitchFamily="34" charset="0"/>
          </a:endParaRPr>
        </a:p>
      </dsp:txBody>
      <dsp:txXfrm>
        <a:off x="10282255" y="678314"/>
        <a:ext cx="1178219" cy="689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3A67D4-EAD2-4DD4-A555-346E1564250A}">
      <dsp:nvSpPr>
        <dsp:cNvPr id="0" name=""/>
        <dsp:cNvSpPr/>
      </dsp:nvSpPr>
      <dsp:spPr>
        <a:xfrm>
          <a:off x="8449336" y="1108799"/>
          <a:ext cx="1746345" cy="4435200"/>
        </a:xfrm>
        <a:prstGeom prst="wedgeRectCallout">
          <a:avLst>
            <a:gd name="adj1" fmla="val 0"/>
            <a:gd name="adj2" fmla="val 0"/>
          </a:avLst>
        </a:prstGeom>
        <a:solidFill>
          <a:schemeClr val="bg2">
            <a:lumMod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533400">
            <a:lnSpc>
              <a:spcPct val="90000"/>
            </a:lnSpc>
            <a:spcBef>
              <a:spcPct val="0"/>
            </a:spcBef>
            <a:spcAft>
              <a:spcPct val="35000"/>
            </a:spcAft>
            <a:buNone/>
          </a:pPr>
          <a:r>
            <a:rPr lang="en-MY" sz="1200" kern="1200" dirty="0">
              <a:latin typeface="Arial" panose="020B0604020202020204" pitchFamily="34" charset="0"/>
              <a:cs typeface="Arial" panose="020B0604020202020204" pitchFamily="34" charset="0"/>
            </a:rPr>
            <a:t>.</a:t>
          </a:r>
          <a:r>
            <a:rPr lang="en-MY" sz="1200" b="1" kern="1200" dirty="0">
              <a:latin typeface="Arial" panose="020B0604020202020204" pitchFamily="34" charset="0"/>
              <a:cs typeface="Arial" panose="020B0604020202020204" pitchFamily="34" charset="0"/>
            </a:rPr>
            <a:t>Provide forward-looking intelligence.</a:t>
          </a:r>
        </a:p>
        <a:p>
          <a:pPr marL="0" lvl="0" indent="0" algn="l" defTabSz="533400">
            <a:lnSpc>
              <a:spcPct val="90000"/>
            </a:lnSpc>
            <a:spcBef>
              <a:spcPct val="0"/>
            </a:spcBef>
            <a:spcAft>
              <a:spcPct val="35000"/>
            </a:spcAft>
            <a:buNone/>
          </a:pPr>
          <a:endParaRPr lang="en-MY" sz="1200" kern="1200" dirty="0">
            <a:latin typeface="Arial" panose="020B0604020202020204" pitchFamily="34" charset="0"/>
            <a:cs typeface="Arial" panose="020B0604020202020204" pitchFamily="34" charset="0"/>
          </a:endParaRPr>
        </a:p>
        <a:p>
          <a:pPr marL="0" lvl="0" indent="0" algn="l" defTabSz="533400">
            <a:lnSpc>
              <a:spcPct val="90000"/>
            </a:lnSpc>
            <a:spcBef>
              <a:spcPct val="0"/>
            </a:spcBef>
            <a:spcAft>
              <a:spcPct val="35000"/>
            </a:spcAft>
            <a:buNone/>
          </a:pPr>
          <a:r>
            <a:rPr lang="en-MY" sz="1200" kern="1200" dirty="0">
              <a:latin typeface="Arial" panose="020B0604020202020204" pitchFamily="34" charset="0"/>
              <a:cs typeface="Arial" panose="020B0604020202020204" pitchFamily="34" charset="0"/>
            </a:rPr>
            <a:t>Examples:</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Emerging sectors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High-growth industries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Future skills demand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Market opportunities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SME trends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Policy insights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Development scenarios</a:t>
          </a:r>
        </a:p>
        <a:p>
          <a:pPr marL="0" lvl="0" indent="0" algn="l" defTabSz="533400">
            <a:lnSpc>
              <a:spcPct val="90000"/>
            </a:lnSpc>
            <a:spcBef>
              <a:spcPct val="0"/>
            </a:spcBef>
            <a:spcAft>
              <a:spcPct val="35000"/>
            </a:spcAft>
            <a:buFont typeface="Arial" panose="020B0604020202020204" pitchFamily="34" charset="0"/>
            <a:buNone/>
          </a:pPr>
          <a:endParaRPr lang="en-MY" sz="1200" kern="1200" dirty="0">
            <a:latin typeface="Arial" panose="020B0604020202020204" pitchFamily="34" charset="0"/>
            <a:cs typeface="Arial" panose="020B0604020202020204" pitchFamily="34" charset="0"/>
          </a:endParaRPr>
        </a:p>
      </dsp:txBody>
      <dsp:txXfrm>
        <a:off x="8671011" y="1108799"/>
        <a:ext cx="1524670" cy="4435200"/>
      </dsp:txXfrm>
    </dsp:sp>
    <dsp:sp modelId="{10146E06-74EE-4949-8750-ABF1E686AB1D}">
      <dsp:nvSpPr>
        <dsp:cNvPr id="0" name=""/>
        <dsp:cNvSpPr/>
      </dsp:nvSpPr>
      <dsp:spPr>
        <a:xfrm>
          <a:off x="8449336" y="0"/>
          <a:ext cx="1746345" cy="1108800"/>
        </a:xfrm>
        <a:prstGeom prst="rect">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577850">
            <a:lnSpc>
              <a:spcPct val="90000"/>
            </a:lnSpc>
            <a:spcBef>
              <a:spcPct val="0"/>
            </a:spcBef>
            <a:spcAft>
              <a:spcPct val="35000"/>
            </a:spcAft>
            <a:buNone/>
          </a:pPr>
          <a:r>
            <a:rPr lang="en-MY" sz="1300" b="1" kern="1200" dirty="0">
              <a:latin typeface="Arial" panose="020B0604020202020204" pitchFamily="34" charset="0"/>
              <a:cs typeface="Arial" panose="020B0604020202020204" pitchFamily="34" charset="0"/>
            </a:rPr>
            <a:t>5. Strategic Development Insights</a:t>
          </a:r>
        </a:p>
      </dsp:txBody>
      <dsp:txXfrm>
        <a:off x="8449336" y="0"/>
        <a:ext cx="1746345" cy="1108800"/>
      </dsp:txXfrm>
    </dsp:sp>
    <dsp:sp modelId="{EADB562E-F03F-493F-8BD0-54A7B98FA027}">
      <dsp:nvSpPr>
        <dsp:cNvPr id="0" name=""/>
        <dsp:cNvSpPr/>
      </dsp:nvSpPr>
      <dsp:spPr>
        <a:xfrm>
          <a:off x="6707354" y="1108799"/>
          <a:ext cx="1746345" cy="4158000"/>
        </a:xfrm>
        <a:prstGeom prst="wedgeRectCallout">
          <a:avLst>
            <a:gd name="adj1" fmla="val 62500"/>
            <a:gd name="adj2" fmla="val 20830"/>
          </a:avLst>
        </a:prstGeom>
        <a:solidFill>
          <a:schemeClr val="bg2">
            <a:lumMod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533400">
            <a:lnSpc>
              <a:spcPct val="90000"/>
            </a:lnSpc>
            <a:spcBef>
              <a:spcPct val="0"/>
            </a:spcBef>
            <a:spcAft>
              <a:spcPct val="35000"/>
            </a:spcAft>
            <a:buNone/>
          </a:pPr>
          <a:r>
            <a:rPr lang="en-MY" sz="1200" b="1" kern="1200" dirty="0">
              <a:latin typeface="Arial" panose="020B0604020202020204" pitchFamily="34" charset="0"/>
              <a:cs typeface="Arial" panose="020B0604020202020204" pitchFamily="34" charset="0"/>
            </a:rPr>
            <a:t>Monitor the health of the SDS portfolio.</a:t>
          </a:r>
        </a:p>
        <a:p>
          <a:pPr marL="0" lvl="0" indent="0" algn="l" defTabSz="533400">
            <a:lnSpc>
              <a:spcPct val="90000"/>
            </a:lnSpc>
            <a:spcBef>
              <a:spcPct val="0"/>
            </a:spcBef>
            <a:spcAft>
              <a:spcPct val="35000"/>
            </a:spcAft>
            <a:buNone/>
          </a:pPr>
          <a:endParaRPr lang="en-MY" sz="1200" kern="1200" dirty="0">
            <a:latin typeface="Arial" panose="020B0604020202020204" pitchFamily="34" charset="0"/>
            <a:cs typeface="Arial" panose="020B0604020202020204" pitchFamily="34" charset="0"/>
          </a:endParaRPr>
        </a:p>
        <a:p>
          <a:pPr marL="0" lvl="0" indent="0" algn="l" defTabSz="533400">
            <a:lnSpc>
              <a:spcPct val="90000"/>
            </a:lnSpc>
            <a:spcBef>
              <a:spcPct val="0"/>
            </a:spcBef>
            <a:spcAft>
              <a:spcPct val="35000"/>
            </a:spcAft>
            <a:buNone/>
          </a:pPr>
          <a:r>
            <a:rPr lang="en-MY" sz="1200" kern="1200" dirty="0">
              <a:latin typeface="Arial" panose="020B0604020202020204" pitchFamily="34" charset="0"/>
              <a:cs typeface="Arial" panose="020B0604020202020204" pitchFamily="34" charset="0"/>
            </a:rPr>
            <a:t>Examples:</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Tenant performance across Entrepreneur Premises Centres (EPCs)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Coaching effectiveness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Programme participation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Graduation rates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SME progression across stages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Sector performance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Geographic performance</a:t>
          </a:r>
        </a:p>
      </dsp:txBody>
      <dsp:txXfrm>
        <a:off x="6929029" y="1108799"/>
        <a:ext cx="1524670" cy="4158000"/>
      </dsp:txXfrm>
    </dsp:sp>
    <dsp:sp modelId="{8E50EFD5-F863-4E8A-A60A-FA5EA8865C91}">
      <dsp:nvSpPr>
        <dsp:cNvPr id="0" name=""/>
        <dsp:cNvSpPr/>
      </dsp:nvSpPr>
      <dsp:spPr>
        <a:xfrm>
          <a:off x="6707354" y="138600"/>
          <a:ext cx="1746345" cy="970200"/>
        </a:xfrm>
        <a:prstGeom prst="rect">
          <a:avLst/>
        </a:prstGeom>
        <a:solidFill>
          <a:schemeClr val="accent1">
            <a:shade val="50000"/>
            <a:hueOff val="235860"/>
            <a:satOff val="-24791"/>
            <a:lumOff val="213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577850">
            <a:lnSpc>
              <a:spcPct val="90000"/>
            </a:lnSpc>
            <a:spcBef>
              <a:spcPct val="0"/>
            </a:spcBef>
            <a:spcAft>
              <a:spcPct val="35000"/>
            </a:spcAft>
            <a:buNone/>
          </a:pPr>
          <a:r>
            <a:rPr lang="en-MY" sz="1300" b="1" kern="1200" dirty="0">
              <a:latin typeface="Arial" panose="020B0604020202020204" pitchFamily="34" charset="0"/>
              <a:cs typeface="Arial" panose="020B0604020202020204" pitchFamily="34" charset="0"/>
            </a:rPr>
            <a:t>4. Development Portfolio Analytics</a:t>
          </a:r>
        </a:p>
      </dsp:txBody>
      <dsp:txXfrm>
        <a:off x="6707354" y="138600"/>
        <a:ext cx="1746345" cy="970200"/>
      </dsp:txXfrm>
    </dsp:sp>
    <dsp:sp modelId="{42699047-88CB-483F-A2CC-EC68ADB16247}">
      <dsp:nvSpPr>
        <dsp:cNvPr id="0" name=""/>
        <dsp:cNvSpPr/>
      </dsp:nvSpPr>
      <dsp:spPr>
        <a:xfrm>
          <a:off x="4961008" y="1108799"/>
          <a:ext cx="1746345" cy="3880800"/>
        </a:xfrm>
        <a:prstGeom prst="wedgeRectCallout">
          <a:avLst>
            <a:gd name="adj1" fmla="val 62500"/>
            <a:gd name="adj2" fmla="val 20830"/>
          </a:avLst>
        </a:prstGeom>
        <a:solidFill>
          <a:schemeClr val="bg2">
            <a:lumMod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533400">
            <a:lnSpc>
              <a:spcPct val="90000"/>
            </a:lnSpc>
            <a:spcBef>
              <a:spcPct val="0"/>
            </a:spcBef>
            <a:spcAft>
              <a:spcPct val="35000"/>
            </a:spcAft>
            <a:buNone/>
          </a:pPr>
          <a:r>
            <a:rPr lang="en-MY" sz="1200" b="1" kern="1200" dirty="0">
              <a:latin typeface="Arial" panose="020B0604020202020204" pitchFamily="34" charset="0"/>
              <a:cs typeface="Arial" panose="020B0604020202020204" pitchFamily="34" charset="0"/>
            </a:rPr>
            <a:t>Support Industry Engagement with evidence-based insights.</a:t>
          </a:r>
        </a:p>
        <a:p>
          <a:pPr marL="0" lvl="0" indent="0" algn="l" defTabSz="533400">
            <a:lnSpc>
              <a:spcPct val="90000"/>
            </a:lnSpc>
            <a:spcBef>
              <a:spcPct val="0"/>
            </a:spcBef>
            <a:spcAft>
              <a:spcPct val="35000"/>
            </a:spcAft>
            <a:buNone/>
          </a:pPr>
          <a:endParaRPr lang="en-MY" sz="1200" kern="1200" dirty="0">
            <a:latin typeface="Arial" panose="020B0604020202020204" pitchFamily="34" charset="0"/>
            <a:cs typeface="Arial" panose="020B0604020202020204" pitchFamily="34" charset="0"/>
          </a:endParaRPr>
        </a:p>
        <a:p>
          <a:pPr marL="0" lvl="0" indent="0" algn="l" defTabSz="533400">
            <a:lnSpc>
              <a:spcPct val="90000"/>
            </a:lnSpc>
            <a:spcBef>
              <a:spcPct val="0"/>
            </a:spcBef>
            <a:spcAft>
              <a:spcPct val="35000"/>
            </a:spcAft>
            <a:buNone/>
          </a:pPr>
          <a:r>
            <a:rPr lang="en-MY" sz="1200" kern="1200" dirty="0">
              <a:latin typeface="Arial" panose="020B0604020202020204" pitchFamily="34" charset="0"/>
              <a:cs typeface="Arial" panose="020B0604020202020204" pitchFamily="34" charset="0"/>
            </a:rPr>
            <a:t>Examples:</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Supply chain mapping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Industry cluster analysis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Ecosystem gap analysis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Strategic partner mapping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Value chain opportunities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Regional SME ecosystem analysis</a:t>
          </a:r>
        </a:p>
      </dsp:txBody>
      <dsp:txXfrm>
        <a:off x="5182684" y="1108799"/>
        <a:ext cx="1524670" cy="3880800"/>
      </dsp:txXfrm>
    </dsp:sp>
    <dsp:sp modelId="{E91F11B0-D073-4747-ACEB-8EF24A14661D}">
      <dsp:nvSpPr>
        <dsp:cNvPr id="0" name=""/>
        <dsp:cNvSpPr/>
      </dsp:nvSpPr>
      <dsp:spPr>
        <a:xfrm>
          <a:off x="4961008" y="281635"/>
          <a:ext cx="1746345" cy="831600"/>
        </a:xfrm>
        <a:prstGeom prst="rect">
          <a:avLst/>
        </a:prstGeom>
        <a:solidFill>
          <a:schemeClr val="accent1">
            <a:shade val="50000"/>
            <a:hueOff val="471719"/>
            <a:satOff val="-49582"/>
            <a:lumOff val="427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577850">
            <a:lnSpc>
              <a:spcPct val="90000"/>
            </a:lnSpc>
            <a:spcBef>
              <a:spcPct val="0"/>
            </a:spcBef>
            <a:spcAft>
              <a:spcPct val="35000"/>
            </a:spcAft>
            <a:buNone/>
          </a:pPr>
          <a:r>
            <a:rPr lang="en-MY" sz="1300" b="1" kern="1200" dirty="0">
              <a:latin typeface="Arial" panose="020B0604020202020204" pitchFamily="34" charset="0"/>
              <a:cs typeface="Arial" panose="020B0604020202020204" pitchFamily="34" charset="0"/>
            </a:rPr>
            <a:t>3. Ecosystem Intelligence</a:t>
          </a:r>
        </a:p>
      </dsp:txBody>
      <dsp:txXfrm>
        <a:off x="4961008" y="281635"/>
        <a:ext cx="1746345" cy="831600"/>
      </dsp:txXfrm>
    </dsp:sp>
    <dsp:sp modelId="{8663426B-BF61-4D03-B380-5F63CB4F568E}">
      <dsp:nvSpPr>
        <dsp:cNvPr id="0" name=""/>
        <dsp:cNvSpPr/>
      </dsp:nvSpPr>
      <dsp:spPr>
        <a:xfrm>
          <a:off x="3214663" y="1108799"/>
          <a:ext cx="1746345" cy="3603600"/>
        </a:xfrm>
        <a:prstGeom prst="wedgeRectCallout">
          <a:avLst>
            <a:gd name="adj1" fmla="val 62500"/>
            <a:gd name="adj2" fmla="val 20830"/>
          </a:avLst>
        </a:prstGeom>
        <a:solidFill>
          <a:schemeClr val="bg2">
            <a:lumMod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533400">
            <a:lnSpc>
              <a:spcPct val="90000"/>
            </a:lnSpc>
            <a:spcBef>
              <a:spcPct val="0"/>
            </a:spcBef>
            <a:spcAft>
              <a:spcPct val="35000"/>
            </a:spcAft>
            <a:buNone/>
          </a:pPr>
          <a:r>
            <a:rPr lang="en-MY" sz="1200" b="1" kern="1200" dirty="0">
              <a:latin typeface="Arial" panose="020B0604020202020204" pitchFamily="34" charset="0"/>
              <a:cs typeface="Arial" panose="020B0604020202020204" pitchFamily="34" charset="0"/>
            </a:rPr>
            <a:t>Evaluate the effectiveness of developmental programmes.</a:t>
          </a:r>
        </a:p>
        <a:p>
          <a:pPr marL="0" lvl="0" indent="0" algn="l" defTabSz="533400">
            <a:lnSpc>
              <a:spcPct val="90000"/>
            </a:lnSpc>
            <a:spcBef>
              <a:spcPct val="0"/>
            </a:spcBef>
            <a:spcAft>
              <a:spcPct val="35000"/>
            </a:spcAft>
            <a:buNone/>
          </a:pPr>
          <a:endParaRPr lang="en-MY" sz="1200" kern="1200" dirty="0">
            <a:latin typeface="Arial" panose="020B0604020202020204" pitchFamily="34" charset="0"/>
            <a:cs typeface="Arial" panose="020B0604020202020204" pitchFamily="34" charset="0"/>
          </a:endParaRPr>
        </a:p>
        <a:p>
          <a:pPr marL="0" lvl="0" indent="0" algn="l" defTabSz="533400">
            <a:lnSpc>
              <a:spcPct val="90000"/>
            </a:lnSpc>
            <a:spcBef>
              <a:spcPct val="0"/>
            </a:spcBef>
            <a:spcAft>
              <a:spcPct val="35000"/>
            </a:spcAft>
            <a:buNone/>
          </a:pPr>
          <a:r>
            <a:rPr lang="en-MY" sz="1200" kern="1200" dirty="0">
              <a:latin typeface="Arial" panose="020B0604020202020204" pitchFamily="34" charset="0"/>
              <a:cs typeface="Arial" panose="020B0604020202020204" pitchFamily="34" charset="0"/>
            </a:rPr>
            <a:t>Examples:</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Which advisory programmes work best?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Which coaching models deliver the strongest results?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Which industries achieve the highest growth?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Which interventions should be expanded or redesigned</a:t>
          </a:r>
          <a:r>
            <a:rPr lang="en-MY" sz="900" kern="1200" dirty="0">
              <a:latin typeface="Arial" panose="020B0604020202020204" pitchFamily="34" charset="0"/>
              <a:cs typeface="Arial" panose="020B0604020202020204" pitchFamily="34" charset="0"/>
            </a:rPr>
            <a:t>?</a:t>
          </a:r>
        </a:p>
      </dsp:txBody>
      <dsp:txXfrm>
        <a:off x="3436338" y="1108799"/>
        <a:ext cx="1524670" cy="3603600"/>
      </dsp:txXfrm>
    </dsp:sp>
    <dsp:sp modelId="{BFF3A1DE-9457-4354-84DD-28996295AC86}">
      <dsp:nvSpPr>
        <dsp:cNvPr id="0" name=""/>
        <dsp:cNvSpPr/>
      </dsp:nvSpPr>
      <dsp:spPr>
        <a:xfrm>
          <a:off x="3214663" y="415800"/>
          <a:ext cx="1746345" cy="693000"/>
        </a:xfrm>
        <a:prstGeom prst="rect">
          <a:avLst/>
        </a:prstGeom>
        <a:solidFill>
          <a:schemeClr val="accent1">
            <a:shade val="50000"/>
            <a:hueOff val="471719"/>
            <a:satOff val="-49582"/>
            <a:lumOff val="427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577850">
            <a:lnSpc>
              <a:spcPct val="90000"/>
            </a:lnSpc>
            <a:spcBef>
              <a:spcPct val="0"/>
            </a:spcBef>
            <a:spcAft>
              <a:spcPct val="35000"/>
            </a:spcAft>
            <a:buNone/>
          </a:pPr>
          <a:r>
            <a:rPr lang="en-MY" sz="1300" b="1" kern="1200" dirty="0">
              <a:latin typeface="Arial" panose="020B0604020202020204" pitchFamily="34" charset="0"/>
              <a:cs typeface="Arial" panose="020B0604020202020204" pitchFamily="34" charset="0"/>
            </a:rPr>
            <a:t>2. Programme Performance Analytics</a:t>
          </a:r>
        </a:p>
      </dsp:txBody>
      <dsp:txXfrm>
        <a:off x="3214663" y="415800"/>
        <a:ext cx="1746345" cy="693000"/>
      </dsp:txXfrm>
    </dsp:sp>
    <dsp:sp modelId="{C66887D7-3C4F-461A-8E73-7181F095CC56}">
      <dsp:nvSpPr>
        <dsp:cNvPr id="0" name=""/>
        <dsp:cNvSpPr/>
      </dsp:nvSpPr>
      <dsp:spPr>
        <a:xfrm>
          <a:off x="1496739" y="1105490"/>
          <a:ext cx="1727991" cy="3564004"/>
        </a:xfrm>
        <a:prstGeom prst="wedgeRectCallout">
          <a:avLst>
            <a:gd name="adj1" fmla="val 62500"/>
            <a:gd name="adj2" fmla="val 20830"/>
          </a:avLst>
        </a:prstGeom>
        <a:solidFill>
          <a:schemeClr val="bg2">
            <a:lumMod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533400">
            <a:lnSpc>
              <a:spcPct val="90000"/>
            </a:lnSpc>
            <a:spcBef>
              <a:spcPct val="0"/>
            </a:spcBef>
            <a:spcAft>
              <a:spcPct val="35000"/>
            </a:spcAft>
            <a:buNone/>
          </a:pPr>
          <a:r>
            <a:rPr lang="en-MY" sz="1200" b="1" kern="1200" dirty="0">
              <a:latin typeface="Arial" panose="020B0604020202020204" pitchFamily="34" charset="0"/>
              <a:cs typeface="Arial" panose="020B0604020202020204" pitchFamily="34" charset="0"/>
            </a:rPr>
            <a:t>Track how SMEs progress throughout their development journey.</a:t>
          </a:r>
        </a:p>
        <a:p>
          <a:pPr marL="0" lvl="0" indent="0" algn="l" defTabSz="533400">
            <a:lnSpc>
              <a:spcPct val="90000"/>
            </a:lnSpc>
            <a:spcBef>
              <a:spcPct val="0"/>
            </a:spcBef>
            <a:spcAft>
              <a:spcPct val="35000"/>
            </a:spcAft>
            <a:buNone/>
          </a:pPr>
          <a:endParaRPr lang="en-MY" sz="1200" kern="1200" dirty="0">
            <a:latin typeface="Arial" panose="020B0604020202020204" pitchFamily="34" charset="0"/>
            <a:cs typeface="Arial" panose="020B0604020202020204" pitchFamily="34" charset="0"/>
          </a:endParaRPr>
        </a:p>
        <a:p>
          <a:pPr marL="0" lvl="0" indent="0" algn="l" defTabSz="533400">
            <a:lnSpc>
              <a:spcPct val="90000"/>
            </a:lnSpc>
            <a:spcBef>
              <a:spcPct val="0"/>
            </a:spcBef>
            <a:spcAft>
              <a:spcPct val="35000"/>
            </a:spcAft>
            <a:buNone/>
          </a:pPr>
          <a:r>
            <a:rPr lang="en-MY" sz="1200" kern="1200" dirty="0">
              <a:latin typeface="Arial" panose="020B0604020202020204" pitchFamily="34" charset="0"/>
              <a:cs typeface="Arial" panose="020B0604020202020204" pitchFamily="34" charset="0"/>
            </a:rPr>
            <a:t>Examples include:</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SME maturity assessment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Growth stage profiling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Readiness assessments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Business capability gaps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Graduation readiness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a:latin typeface="Arial" panose="020B0604020202020204" pitchFamily="34" charset="0"/>
              <a:cs typeface="Arial" panose="020B0604020202020204" pitchFamily="34" charset="0"/>
            </a:rPr>
            <a:t>Export readiness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Digital readiness </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Arial" panose="020B0604020202020204" pitchFamily="34" charset="0"/>
              <a:cs typeface="Arial" panose="020B0604020202020204" pitchFamily="34" charset="0"/>
            </a:rPr>
            <a:t>ESG readiness</a:t>
          </a:r>
        </a:p>
      </dsp:txBody>
      <dsp:txXfrm>
        <a:off x="1716084" y="1105490"/>
        <a:ext cx="1508646" cy="3564004"/>
      </dsp:txXfrm>
    </dsp:sp>
    <dsp:sp modelId="{0900FCF2-7D45-4CE8-904D-8E4A7821FBD1}">
      <dsp:nvSpPr>
        <dsp:cNvPr id="0" name=""/>
        <dsp:cNvSpPr/>
      </dsp:nvSpPr>
      <dsp:spPr>
        <a:xfrm>
          <a:off x="1497202" y="554399"/>
          <a:ext cx="1746345" cy="554400"/>
        </a:xfrm>
        <a:prstGeom prst="rect">
          <a:avLst/>
        </a:prstGeom>
        <a:solidFill>
          <a:schemeClr val="accent1">
            <a:shade val="50000"/>
            <a:hueOff val="235860"/>
            <a:satOff val="-24791"/>
            <a:lumOff val="213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577850">
            <a:lnSpc>
              <a:spcPct val="90000"/>
            </a:lnSpc>
            <a:spcBef>
              <a:spcPct val="0"/>
            </a:spcBef>
            <a:spcAft>
              <a:spcPct val="35000"/>
            </a:spcAft>
            <a:buNone/>
          </a:pPr>
          <a:r>
            <a:rPr lang="en-MY" sz="1300" b="1" kern="1200" dirty="0">
              <a:latin typeface="Arial" panose="020B0604020202020204" pitchFamily="34" charset="0"/>
              <a:cs typeface="Arial" panose="020B0604020202020204" pitchFamily="34" charset="0"/>
            </a:rPr>
            <a:t>1. SME Development Intelligence</a:t>
          </a:r>
        </a:p>
      </dsp:txBody>
      <dsp:txXfrm>
        <a:off x="1497202" y="554399"/>
        <a:ext cx="1746345" cy="554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2B139-8F80-4094-B553-653DFA8B1DC2}">
      <dsp:nvSpPr>
        <dsp:cNvPr id="0" name=""/>
        <dsp:cNvSpPr/>
      </dsp:nvSpPr>
      <dsp:spPr>
        <a:xfrm>
          <a:off x="0" y="2523610"/>
          <a:ext cx="11455115" cy="5098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32628E8A-5B2E-497E-AA1E-7EEA37B75C66}">
      <dsp:nvSpPr>
        <dsp:cNvPr id="0" name=""/>
        <dsp:cNvSpPr/>
      </dsp:nvSpPr>
      <dsp:spPr>
        <a:xfrm>
          <a:off x="11195227" y="2345173"/>
          <a:ext cx="305892" cy="407856"/>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522B4657-B062-42D2-9AEA-610F81D0EE38}">
      <dsp:nvSpPr>
        <dsp:cNvPr id="0" name=""/>
        <dsp:cNvSpPr/>
      </dsp:nvSpPr>
      <dsp:spPr>
        <a:xfrm>
          <a:off x="652569" y="1162390"/>
          <a:ext cx="4772964" cy="1182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kern="1200" dirty="0">
              <a:latin typeface="Arial" panose="020B0604020202020204" pitchFamily="34" charset="0"/>
              <a:cs typeface="Arial" panose="020B0604020202020204" pitchFamily="34" charset="0"/>
            </a:rPr>
            <a:t>Establish SME Data Warehouse</a:t>
          </a:r>
          <a:endParaRPr lang="en-MY" sz="1500" kern="1200" dirty="0">
            <a:latin typeface="Arial" panose="020B0604020202020204" pitchFamily="34" charset="0"/>
            <a:cs typeface="Arial" panose="020B0604020202020204" pitchFamily="34" charset="0"/>
          </a:endParaRPr>
        </a:p>
        <a:p>
          <a:pPr marL="0" lvl="0" indent="0" algn="l" defTabSz="666750">
            <a:lnSpc>
              <a:spcPct val="90000"/>
            </a:lnSpc>
            <a:spcBef>
              <a:spcPct val="0"/>
            </a:spcBef>
            <a:spcAft>
              <a:spcPct val="35000"/>
            </a:spcAft>
            <a:buFont typeface="Arial" panose="020B0604020202020204" pitchFamily="34" charset="0"/>
            <a:buNone/>
          </a:pPr>
          <a:r>
            <a:rPr lang="en-US" sz="1500" kern="1200" dirty="0">
              <a:latin typeface="Arial" panose="020B0604020202020204" pitchFamily="34" charset="0"/>
              <a:cs typeface="Arial" panose="020B0604020202020204" pitchFamily="34" charset="0"/>
            </a:rPr>
            <a:t>Develop SME Development Index </a:t>
          </a:r>
          <a:endParaRPr lang="en-MY" sz="1500" kern="1200" dirty="0">
            <a:latin typeface="Arial" panose="020B0604020202020204" pitchFamily="34" charset="0"/>
            <a:cs typeface="Arial" panose="020B0604020202020204" pitchFamily="34" charset="0"/>
          </a:endParaRPr>
        </a:p>
      </dsp:txBody>
      <dsp:txXfrm>
        <a:off x="652569" y="1162390"/>
        <a:ext cx="4772964" cy="1182783"/>
      </dsp:txXfrm>
    </dsp:sp>
    <dsp:sp modelId="{F02A5CE8-BF4C-44A6-ABE8-820D9714B88B}">
      <dsp:nvSpPr>
        <dsp:cNvPr id="0" name=""/>
        <dsp:cNvSpPr/>
      </dsp:nvSpPr>
      <dsp:spPr>
        <a:xfrm>
          <a:off x="652569" y="550605"/>
          <a:ext cx="4772964" cy="611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latin typeface="Arial" panose="020B0604020202020204" pitchFamily="34" charset="0"/>
              <a:cs typeface="Arial" panose="020B0604020202020204" pitchFamily="34" charset="0"/>
            </a:rPr>
            <a:t>Year 1: Build The Foundation</a:t>
          </a:r>
          <a:endParaRPr lang="en-MY" sz="1500" kern="1200" dirty="0">
            <a:latin typeface="Arial" panose="020B0604020202020204" pitchFamily="34" charset="0"/>
            <a:cs typeface="Arial" panose="020B0604020202020204" pitchFamily="34" charset="0"/>
          </a:endParaRPr>
        </a:p>
      </dsp:txBody>
      <dsp:txXfrm>
        <a:off x="652569" y="550605"/>
        <a:ext cx="4772964" cy="611784"/>
      </dsp:txXfrm>
    </dsp:sp>
    <dsp:sp modelId="{F34489D0-D3CB-4C96-A17D-B61171E6CD05}">
      <dsp:nvSpPr>
        <dsp:cNvPr id="0" name=""/>
        <dsp:cNvSpPr/>
      </dsp:nvSpPr>
      <dsp:spPr>
        <a:xfrm>
          <a:off x="305892" y="509820"/>
          <a:ext cx="40785" cy="20392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B40B4-3606-4382-8681-0BBD6C06DBB8}">
      <dsp:nvSpPr>
        <dsp:cNvPr id="0" name=""/>
        <dsp:cNvSpPr/>
      </dsp:nvSpPr>
      <dsp:spPr>
        <a:xfrm>
          <a:off x="3527849" y="3589134"/>
          <a:ext cx="4772964" cy="958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Develop SDS Dashboard</a:t>
          </a:r>
          <a:endParaRPr lang="en-MY" sz="1500" kern="1200" dirty="0">
            <a:latin typeface="Arial" panose="020B0604020202020204" pitchFamily="34" charset="0"/>
            <a:cs typeface="Arial" panose="020B0604020202020204" pitchFamily="34" charset="0"/>
          </a:endParaRPr>
        </a:p>
        <a:p>
          <a:pPr marL="0" lvl="0" indent="0" algn="l"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Data Governance Framework</a:t>
          </a:r>
          <a:endParaRPr lang="en-MY" sz="1500" kern="1200" dirty="0">
            <a:latin typeface="Arial" panose="020B0604020202020204" pitchFamily="34" charset="0"/>
            <a:cs typeface="Arial" panose="020B0604020202020204" pitchFamily="34" charset="0"/>
          </a:endParaRPr>
        </a:p>
        <a:p>
          <a:pPr marL="0" lvl="0" indent="0" algn="l"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Program Impact Analysis</a:t>
          </a:r>
          <a:endParaRPr lang="en-MY" sz="1500" kern="1200" dirty="0">
            <a:latin typeface="Arial" panose="020B0604020202020204" pitchFamily="34" charset="0"/>
            <a:cs typeface="Arial" panose="020B0604020202020204" pitchFamily="34" charset="0"/>
          </a:endParaRPr>
        </a:p>
        <a:p>
          <a:pPr marL="0" lvl="0" indent="0" algn="l"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SME Segment Engine</a:t>
          </a:r>
          <a:endParaRPr lang="en-MY" sz="1500" kern="1200" dirty="0">
            <a:latin typeface="Arial" panose="020B0604020202020204" pitchFamily="34" charset="0"/>
            <a:cs typeface="Arial" panose="020B0604020202020204" pitchFamily="34" charset="0"/>
          </a:endParaRPr>
        </a:p>
      </dsp:txBody>
      <dsp:txXfrm>
        <a:off x="3527849" y="3589134"/>
        <a:ext cx="4772964" cy="958462"/>
      </dsp:txXfrm>
    </dsp:sp>
    <dsp:sp modelId="{E3874805-8CF5-4DAD-8137-27FAD0B010FA}">
      <dsp:nvSpPr>
        <dsp:cNvPr id="0" name=""/>
        <dsp:cNvSpPr/>
      </dsp:nvSpPr>
      <dsp:spPr>
        <a:xfrm>
          <a:off x="3527849" y="2956957"/>
          <a:ext cx="4772964" cy="632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latin typeface="Arial" panose="020B0604020202020204" pitchFamily="34" charset="0"/>
              <a:cs typeface="Arial" panose="020B0604020202020204" pitchFamily="34" charset="0"/>
            </a:rPr>
            <a:t>Year 2: From Data to Reporting</a:t>
          </a:r>
          <a:endParaRPr lang="en-MY" sz="1500" kern="1200" dirty="0">
            <a:latin typeface="Arial" panose="020B0604020202020204" pitchFamily="34" charset="0"/>
            <a:cs typeface="Arial" panose="020B0604020202020204" pitchFamily="34" charset="0"/>
          </a:endParaRPr>
        </a:p>
      </dsp:txBody>
      <dsp:txXfrm>
        <a:off x="3527849" y="2956957"/>
        <a:ext cx="4772964" cy="632177"/>
      </dsp:txXfrm>
    </dsp:sp>
    <dsp:sp modelId="{1F6FBA75-11F8-44D4-A95F-A54F549E04A4}">
      <dsp:nvSpPr>
        <dsp:cNvPr id="0" name=""/>
        <dsp:cNvSpPr/>
      </dsp:nvSpPr>
      <dsp:spPr>
        <a:xfrm>
          <a:off x="3181172" y="2549101"/>
          <a:ext cx="40785" cy="20392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13F74A-0602-4632-9DBB-E49196FCF1FB}">
      <dsp:nvSpPr>
        <dsp:cNvPr id="0" name=""/>
        <dsp:cNvSpPr/>
      </dsp:nvSpPr>
      <dsp:spPr>
        <a:xfrm>
          <a:off x="220242" y="2443058"/>
          <a:ext cx="212085" cy="21208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7EF938-E5FD-4FFC-8541-B27BCCB7B0B1}">
      <dsp:nvSpPr>
        <dsp:cNvPr id="0" name=""/>
        <dsp:cNvSpPr/>
      </dsp:nvSpPr>
      <dsp:spPr>
        <a:xfrm>
          <a:off x="3095522" y="2443058"/>
          <a:ext cx="212085" cy="21208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FE1FD1-4D2E-438F-BC9C-EF6D3DE95D76}">
      <dsp:nvSpPr>
        <dsp:cNvPr id="0" name=""/>
        <dsp:cNvSpPr/>
      </dsp:nvSpPr>
      <dsp:spPr>
        <a:xfrm>
          <a:off x="6403129" y="1162390"/>
          <a:ext cx="4772964" cy="1182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Build SME Growth Prediction Models</a:t>
          </a:r>
          <a:endParaRPr lang="en-MY" sz="1500" kern="1200" dirty="0">
            <a:latin typeface="Arial" panose="020B0604020202020204" pitchFamily="34" charset="0"/>
            <a:cs typeface="Arial" panose="020B0604020202020204" pitchFamily="34" charset="0"/>
          </a:endParaRPr>
        </a:p>
        <a:p>
          <a:pPr marL="0" lvl="0" indent="0" algn="l" defTabSz="666750">
            <a:lnSpc>
              <a:spcPct val="90000"/>
            </a:lnSpc>
            <a:spcBef>
              <a:spcPct val="0"/>
            </a:spcBef>
            <a:spcAft>
              <a:spcPct val="35000"/>
            </a:spcAft>
            <a:buNone/>
          </a:pPr>
          <a:r>
            <a:rPr lang="en-US" sz="1500" kern="1200">
              <a:latin typeface="Arial" panose="020B0604020202020204" pitchFamily="34" charset="0"/>
              <a:cs typeface="Arial" panose="020B0604020202020204" pitchFamily="34" charset="0"/>
            </a:rPr>
            <a:t>Build Early Warning System</a:t>
          </a:r>
          <a:endParaRPr lang="en-MY" sz="1500" kern="1200" dirty="0">
            <a:latin typeface="Arial" panose="020B0604020202020204" pitchFamily="34" charset="0"/>
            <a:cs typeface="Arial" panose="020B0604020202020204" pitchFamily="34" charset="0"/>
          </a:endParaRPr>
        </a:p>
        <a:p>
          <a:pPr marL="0" lvl="0" indent="0" algn="l"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Develop SME 360 Platform</a:t>
          </a:r>
          <a:endParaRPr lang="en-MY" sz="1500" kern="1200" dirty="0">
            <a:latin typeface="Arial" panose="020B0604020202020204" pitchFamily="34" charset="0"/>
            <a:cs typeface="Arial" panose="020B0604020202020204" pitchFamily="34" charset="0"/>
          </a:endParaRPr>
        </a:p>
      </dsp:txBody>
      <dsp:txXfrm>
        <a:off x="6403129" y="1162390"/>
        <a:ext cx="4772964" cy="1182783"/>
      </dsp:txXfrm>
    </dsp:sp>
    <dsp:sp modelId="{FB46CF9C-5D1E-4648-BE7B-51B1705F9268}">
      <dsp:nvSpPr>
        <dsp:cNvPr id="0" name=""/>
        <dsp:cNvSpPr/>
      </dsp:nvSpPr>
      <dsp:spPr>
        <a:xfrm>
          <a:off x="6403129" y="550605"/>
          <a:ext cx="4772964" cy="611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defRPr b="1"/>
          </a:pPr>
          <a:r>
            <a:rPr lang="en-US" sz="1500" kern="1200" dirty="0">
              <a:latin typeface="Arial" panose="020B0604020202020204" pitchFamily="34" charset="0"/>
              <a:cs typeface="Arial" panose="020B0604020202020204" pitchFamily="34" charset="0"/>
            </a:rPr>
            <a:t>Year 3: SME Intelligence</a:t>
          </a:r>
          <a:endParaRPr lang="en-MY" sz="1500" kern="1200" dirty="0">
            <a:latin typeface="Arial" panose="020B0604020202020204" pitchFamily="34" charset="0"/>
            <a:cs typeface="Arial" panose="020B0604020202020204" pitchFamily="34" charset="0"/>
          </a:endParaRPr>
        </a:p>
      </dsp:txBody>
      <dsp:txXfrm>
        <a:off x="6403129" y="550605"/>
        <a:ext cx="4772964" cy="611784"/>
      </dsp:txXfrm>
    </dsp:sp>
    <dsp:sp modelId="{3B9AE136-72E6-49B1-81C6-2228239975DF}">
      <dsp:nvSpPr>
        <dsp:cNvPr id="0" name=""/>
        <dsp:cNvSpPr/>
      </dsp:nvSpPr>
      <dsp:spPr>
        <a:xfrm>
          <a:off x="6056452" y="509820"/>
          <a:ext cx="40785" cy="2039281"/>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B06A2F-644A-4E3C-A811-58B145CF9702}">
      <dsp:nvSpPr>
        <dsp:cNvPr id="0" name=""/>
        <dsp:cNvSpPr/>
      </dsp:nvSpPr>
      <dsp:spPr>
        <a:xfrm>
          <a:off x="5970802" y="2443058"/>
          <a:ext cx="212085" cy="21208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49DB0-0AE9-4A40-A96A-BE02D24378C6}">
      <dsp:nvSpPr>
        <dsp:cNvPr id="0" name=""/>
        <dsp:cNvSpPr/>
      </dsp:nvSpPr>
      <dsp:spPr>
        <a:xfrm>
          <a:off x="1557492" y="0"/>
          <a:ext cx="2124228" cy="2124264"/>
        </a:xfrm>
        <a:prstGeom prst="ellipse">
          <a:avLst/>
        </a:prstGeom>
        <a:solidFill>
          <a:schemeClr val="accent1">
            <a:shade val="80000"/>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Arial" panose="020B0604020202020204" pitchFamily="34" charset="0"/>
              <a:cs typeface="Arial" panose="020B0604020202020204" pitchFamily="34" charset="0"/>
            </a:rPr>
            <a:t>Layer 1: SME Master Profile</a:t>
          </a:r>
          <a:endParaRPr lang="en-MY" sz="1500" b="1" kern="1200" dirty="0">
            <a:latin typeface="Arial" panose="020B0604020202020204" pitchFamily="34" charset="0"/>
            <a:cs typeface="Arial" panose="020B0604020202020204" pitchFamily="34" charset="0"/>
          </a:endParaRPr>
        </a:p>
      </dsp:txBody>
      <dsp:txXfrm>
        <a:off x="1868578" y="311091"/>
        <a:ext cx="1502056" cy="1502082"/>
      </dsp:txXfrm>
    </dsp:sp>
    <dsp:sp modelId="{1AD04EAC-8E99-4516-8308-BB95EA7382B7}">
      <dsp:nvSpPr>
        <dsp:cNvPr id="0" name=""/>
        <dsp:cNvSpPr/>
      </dsp:nvSpPr>
      <dsp:spPr>
        <a:xfrm>
          <a:off x="2645131" y="1563054"/>
          <a:ext cx="2124228" cy="2124264"/>
        </a:xfrm>
        <a:prstGeom prst="ellipse">
          <a:avLst/>
        </a:prstGeom>
        <a:solidFill>
          <a:schemeClr val="accent1">
            <a:shade val="80000"/>
            <a:alpha val="50000"/>
            <a:hueOff val="171269"/>
            <a:satOff val="-16836"/>
            <a:lumOff val="144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Arial" panose="020B0604020202020204" pitchFamily="34" charset="0"/>
              <a:cs typeface="Arial" panose="020B0604020202020204" pitchFamily="34" charset="0"/>
            </a:rPr>
            <a:t>Layer 2: Financial Intelligence</a:t>
          </a:r>
          <a:endParaRPr lang="en-MY" sz="1500" b="1" kern="1200" dirty="0">
            <a:latin typeface="Arial" panose="020B0604020202020204" pitchFamily="34" charset="0"/>
            <a:cs typeface="Arial" panose="020B0604020202020204" pitchFamily="34" charset="0"/>
          </a:endParaRPr>
        </a:p>
      </dsp:txBody>
      <dsp:txXfrm>
        <a:off x="2956217" y="1874145"/>
        <a:ext cx="1502056" cy="1502082"/>
      </dsp:txXfrm>
    </dsp:sp>
    <dsp:sp modelId="{FAC15F07-F862-4579-8784-C7DE1149CA67}">
      <dsp:nvSpPr>
        <dsp:cNvPr id="0" name=""/>
        <dsp:cNvSpPr/>
      </dsp:nvSpPr>
      <dsp:spPr>
        <a:xfrm>
          <a:off x="3733636" y="0"/>
          <a:ext cx="2124228" cy="2124264"/>
        </a:xfrm>
        <a:prstGeom prst="ellipse">
          <a:avLst/>
        </a:prstGeom>
        <a:solidFill>
          <a:schemeClr val="accent1">
            <a:shade val="80000"/>
            <a:alpha val="50000"/>
            <a:hueOff val="342538"/>
            <a:satOff val="-33671"/>
            <a:lumOff val="289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latin typeface="Arial" panose="020B0604020202020204" pitchFamily="34" charset="0"/>
              <a:cs typeface="Arial" panose="020B0604020202020204" pitchFamily="34" charset="0"/>
            </a:rPr>
            <a:t>Layer 3: Business Performance Data</a:t>
          </a:r>
          <a:endParaRPr lang="en-MY" sz="1500" b="1" kern="1200" dirty="0">
            <a:latin typeface="Arial" panose="020B0604020202020204" pitchFamily="34" charset="0"/>
            <a:cs typeface="Arial" panose="020B0604020202020204" pitchFamily="34" charset="0"/>
          </a:endParaRPr>
        </a:p>
      </dsp:txBody>
      <dsp:txXfrm>
        <a:off x="4044722" y="311091"/>
        <a:ext cx="1502056" cy="1502082"/>
      </dsp:txXfrm>
    </dsp:sp>
    <dsp:sp modelId="{73E3A090-537B-4AD2-86BF-F7B7690C406E}">
      <dsp:nvSpPr>
        <dsp:cNvPr id="0" name=""/>
        <dsp:cNvSpPr/>
      </dsp:nvSpPr>
      <dsp:spPr>
        <a:xfrm>
          <a:off x="4821276" y="1563054"/>
          <a:ext cx="2124228" cy="2124264"/>
        </a:xfrm>
        <a:prstGeom prst="ellipse">
          <a:avLst/>
        </a:prstGeom>
        <a:solidFill>
          <a:schemeClr val="accent1">
            <a:shade val="80000"/>
            <a:alpha val="50000"/>
            <a:hueOff val="513807"/>
            <a:satOff val="-50507"/>
            <a:lumOff val="433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Arial" panose="020B0604020202020204" pitchFamily="34" charset="0"/>
              <a:cs typeface="Arial" panose="020B0604020202020204" pitchFamily="34" charset="0"/>
            </a:rPr>
            <a:t>Layer 4: EPC Development Data</a:t>
          </a:r>
          <a:endParaRPr lang="en-MY" sz="1500" b="1" kern="1200" dirty="0">
            <a:latin typeface="Arial" panose="020B0604020202020204" pitchFamily="34" charset="0"/>
            <a:cs typeface="Arial" panose="020B0604020202020204" pitchFamily="34" charset="0"/>
          </a:endParaRPr>
        </a:p>
      </dsp:txBody>
      <dsp:txXfrm>
        <a:off x="5132362" y="1874145"/>
        <a:ext cx="1502056" cy="1502082"/>
      </dsp:txXfrm>
    </dsp:sp>
    <dsp:sp modelId="{63B310A5-376D-4632-AE88-DE75DCA98222}">
      <dsp:nvSpPr>
        <dsp:cNvPr id="0" name=""/>
        <dsp:cNvSpPr/>
      </dsp:nvSpPr>
      <dsp:spPr>
        <a:xfrm>
          <a:off x="5909781" y="0"/>
          <a:ext cx="2124228" cy="2124264"/>
        </a:xfrm>
        <a:prstGeom prst="ellipse">
          <a:avLst/>
        </a:prstGeom>
        <a:solidFill>
          <a:schemeClr val="accent1">
            <a:shade val="80000"/>
            <a:alpha val="50000"/>
            <a:hueOff val="513807"/>
            <a:satOff val="-50507"/>
            <a:lumOff val="433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Arial" panose="020B0604020202020204" pitchFamily="34" charset="0"/>
              <a:cs typeface="Arial" panose="020B0604020202020204" pitchFamily="34" charset="0"/>
            </a:rPr>
            <a:t>Layer 5: ELSA Assessment Data</a:t>
          </a:r>
          <a:endParaRPr lang="en-MY" sz="1500" b="1" kern="1200" dirty="0">
            <a:latin typeface="Arial" panose="020B0604020202020204" pitchFamily="34" charset="0"/>
            <a:cs typeface="Arial" panose="020B0604020202020204" pitchFamily="34" charset="0"/>
          </a:endParaRPr>
        </a:p>
      </dsp:txBody>
      <dsp:txXfrm>
        <a:off x="6220867" y="311091"/>
        <a:ext cx="1502056" cy="1502082"/>
      </dsp:txXfrm>
    </dsp:sp>
    <dsp:sp modelId="{04CFFEED-804E-4836-8145-BBD60A53EDF4}">
      <dsp:nvSpPr>
        <dsp:cNvPr id="0" name=""/>
        <dsp:cNvSpPr/>
      </dsp:nvSpPr>
      <dsp:spPr>
        <a:xfrm>
          <a:off x="6997421" y="1563054"/>
          <a:ext cx="2124228" cy="2124264"/>
        </a:xfrm>
        <a:prstGeom prst="ellipse">
          <a:avLst/>
        </a:prstGeom>
        <a:solidFill>
          <a:schemeClr val="accent1">
            <a:shade val="80000"/>
            <a:alpha val="50000"/>
            <a:hueOff val="342538"/>
            <a:satOff val="-33671"/>
            <a:lumOff val="2893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latin typeface="Arial" panose="020B0604020202020204" pitchFamily="34" charset="0"/>
              <a:cs typeface="Arial" panose="020B0604020202020204" pitchFamily="34" charset="0"/>
            </a:rPr>
            <a:t>Layer 6: Digitalization Assessment</a:t>
          </a:r>
          <a:endParaRPr lang="en-MY" sz="1500" b="1" kern="1200" dirty="0">
            <a:latin typeface="Arial" panose="020B0604020202020204" pitchFamily="34" charset="0"/>
            <a:cs typeface="Arial" panose="020B0604020202020204" pitchFamily="34" charset="0"/>
          </a:endParaRPr>
        </a:p>
      </dsp:txBody>
      <dsp:txXfrm>
        <a:off x="7308507" y="1874145"/>
        <a:ext cx="1502056" cy="1502082"/>
      </dsp:txXfrm>
    </dsp:sp>
    <dsp:sp modelId="{AC8BDCF4-DEC2-4542-8661-E493CE46306A}">
      <dsp:nvSpPr>
        <dsp:cNvPr id="0" name=""/>
        <dsp:cNvSpPr/>
      </dsp:nvSpPr>
      <dsp:spPr>
        <a:xfrm>
          <a:off x="8085926" y="0"/>
          <a:ext cx="2124228" cy="2124264"/>
        </a:xfrm>
        <a:prstGeom prst="ellipse">
          <a:avLst/>
        </a:prstGeom>
        <a:solidFill>
          <a:schemeClr val="accent1">
            <a:shade val="80000"/>
            <a:alpha val="50000"/>
            <a:hueOff val="171269"/>
            <a:satOff val="-16836"/>
            <a:lumOff val="144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Arial" panose="020B0604020202020204" pitchFamily="34" charset="0"/>
              <a:cs typeface="Arial" panose="020B0604020202020204" pitchFamily="34" charset="0"/>
            </a:rPr>
            <a:t>Layer 7: ESG &amp; Sustainability</a:t>
          </a:r>
          <a:endParaRPr lang="en-MY" sz="1500" b="1" kern="1200" dirty="0">
            <a:latin typeface="Arial" panose="020B0604020202020204" pitchFamily="34" charset="0"/>
            <a:cs typeface="Arial" panose="020B0604020202020204" pitchFamily="34" charset="0"/>
          </a:endParaRPr>
        </a:p>
      </dsp:txBody>
      <dsp:txXfrm>
        <a:off x="8397012" y="311091"/>
        <a:ext cx="1502056" cy="15020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97162B-6E7C-485A-AF44-A161B20FAAB7}" type="datetimeFigureOut">
              <a:rPr lang="en-MY" smtClean="0"/>
              <a:t>22/9/2026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001F2-3A98-498C-B2AA-269ECE988FA2}" type="slidenum">
              <a:rPr lang="en-MY" smtClean="0"/>
              <a:t>‹#›</a:t>
            </a:fld>
            <a:endParaRPr lang="en-MY"/>
          </a:p>
        </p:txBody>
      </p:sp>
    </p:spTree>
    <p:extLst>
      <p:ext uri="{BB962C8B-B14F-4D97-AF65-F5344CB8AC3E}">
        <p14:creationId xmlns:p14="http://schemas.microsoft.com/office/powerpoint/2010/main" val="2641376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308E9-A450-B524-1CAF-A14C7CCCE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EADEC-24EE-6312-4877-66E7E85CA97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AAEE7DF-AE02-346F-4F03-6B2899F6B3EE}"/>
              </a:ext>
            </a:extLst>
          </p:cNvPr>
          <p:cNvSpPr>
            <a:spLocks noGrp="1"/>
          </p:cNvSpPr>
          <p:nvPr>
            <p:ph type="body" idx="1"/>
          </p:nvPr>
        </p:nvSpPr>
        <p:spPr/>
        <p:txBody>
          <a:bodyPr/>
          <a:lstStyle/>
          <a:p>
            <a:r>
              <a:rPr lang="en-US">
                <a:ea typeface="Calibri"/>
                <a:cs typeface="Calibri"/>
              </a:rPr>
              <a:t>To change to like portfolio format</a:t>
            </a:r>
            <a:endParaRPr lang="en-US"/>
          </a:p>
          <a:p>
            <a:r>
              <a:rPr lang="en-US">
                <a:ea typeface="Calibri"/>
                <a:cs typeface="Calibri"/>
              </a:rPr>
              <a:t>SME Portfolio only %</a:t>
            </a:r>
          </a:p>
          <a:p>
            <a:r>
              <a:rPr lang="en-US">
                <a:ea typeface="Calibri"/>
                <a:cs typeface="Calibri"/>
              </a:rPr>
              <a:t>R&amp;R – YTD NOC &amp; RM Bil</a:t>
            </a:r>
          </a:p>
          <a:p>
            <a:r>
              <a:rPr lang="en-US">
                <a:ea typeface="Calibri"/>
                <a:cs typeface="Calibri"/>
              </a:rPr>
              <a:t>Change the blue to Orange </a:t>
            </a:r>
            <a:endParaRPr lang="en-US"/>
          </a:p>
        </p:txBody>
      </p:sp>
      <p:sp>
        <p:nvSpPr>
          <p:cNvPr id="4" name="Footer Placeholder 3">
            <a:extLst>
              <a:ext uri="{FF2B5EF4-FFF2-40B4-BE49-F238E27FC236}">
                <a16:creationId xmlns:a16="http://schemas.microsoft.com/office/drawing/2014/main" id="{96EA12A0-8704-9361-4F58-25521519F985}"/>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32BC8FE3-B18E-4CC1-A925-F5173343DD46}"/>
              </a:ext>
            </a:extLst>
          </p:cNvPr>
          <p:cNvSpPr>
            <a:spLocks noGrp="1"/>
          </p:cNvSpPr>
          <p:nvPr>
            <p:ph type="sldNum" sz="quarter" idx="5"/>
          </p:nvPr>
        </p:nvSpPr>
        <p:spPr/>
        <p:txBody>
          <a:bodyPr/>
          <a:lstStyle/>
          <a:p>
            <a:fld id="{8F0BB729-97B2-459F-8B4D-C295435AE5D2}" type="slidenum">
              <a:rPr lang="en-US" smtClean="0"/>
              <a:pPr/>
              <a:t>1</a:t>
            </a:fld>
            <a:endParaRPr lang="en-US"/>
          </a:p>
        </p:txBody>
      </p:sp>
    </p:spTree>
    <p:extLst>
      <p:ext uri="{BB962C8B-B14F-4D97-AF65-F5344CB8AC3E}">
        <p14:creationId xmlns:p14="http://schemas.microsoft.com/office/powerpoint/2010/main" val="1340655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F1FE-62C5-EB4A-4338-CC8E43EED8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B65A51A8-CE35-982E-86E0-7E56E7D459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7C45CF35-3437-4749-2538-62A231FE8FA7}"/>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5" name="Footer Placeholder 4">
            <a:extLst>
              <a:ext uri="{FF2B5EF4-FFF2-40B4-BE49-F238E27FC236}">
                <a16:creationId xmlns:a16="http://schemas.microsoft.com/office/drawing/2014/main" id="{3B4EE715-758A-4372-167D-618F6E91A62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DF9A18A-9658-AE0B-0ECB-FFAC49CE0DE2}"/>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2319874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D668A-5A2F-17BB-54EF-333FD0BAC143}"/>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7737EC8C-234B-21DA-FFE0-4F69ED480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8960E60-B5FB-9112-815A-4E53DAC7CF7F}"/>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5" name="Footer Placeholder 4">
            <a:extLst>
              <a:ext uri="{FF2B5EF4-FFF2-40B4-BE49-F238E27FC236}">
                <a16:creationId xmlns:a16="http://schemas.microsoft.com/office/drawing/2014/main" id="{5804E487-621B-C702-E1F4-A31073B903A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5B429BE-8049-569B-99E0-CF04EB13704B}"/>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85855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5882B-FC18-7A47-0D81-330E90E606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0174E262-D246-0A34-77F5-D1600B02F3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729643-3D87-4B25-1C23-0EDFCB5334D2}"/>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5" name="Footer Placeholder 4">
            <a:extLst>
              <a:ext uri="{FF2B5EF4-FFF2-40B4-BE49-F238E27FC236}">
                <a16:creationId xmlns:a16="http://schemas.microsoft.com/office/drawing/2014/main" id="{00227264-A17D-4F40-737F-C99DAA0A824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3FBCAA0-E0E4-5771-54F0-2D8F02A8E6EE}"/>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927429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08E9-6B4E-E11E-35B9-C86B666B04B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A75CAB80-04B0-4E4E-0DED-C077175732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B02ED5EC-8337-E369-EE60-EE400F80B4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063D376A-A263-8EE2-B979-A3234815AE42}"/>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6" name="Footer Placeholder 5">
            <a:extLst>
              <a:ext uri="{FF2B5EF4-FFF2-40B4-BE49-F238E27FC236}">
                <a16:creationId xmlns:a16="http://schemas.microsoft.com/office/drawing/2014/main" id="{00146D8F-7D9E-DEDC-AE4D-09FD314CD08D}"/>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DEE49528-02DF-C49B-4AD9-FBC66CCCA22D}"/>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3447598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5E590-D3CB-9B57-45B6-182C55CF9275}"/>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CCBD403B-0889-C918-ECEC-CDF6DBDB4D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3392BB-9535-338E-9BAA-FE723E4C01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4CD04B89-A287-6AF6-9673-F2E3F43362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4F4C9-9605-1791-3C44-27756F0FF8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76E59E39-7148-0BFF-8039-D4AA9B1B4382}"/>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8" name="Footer Placeholder 7">
            <a:extLst>
              <a:ext uri="{FF2B5EF4-FFF2-40B4-BE49-F238E27FC236}">
                <a16:creationId xmlns:a16="http://schemas.microsoft.com/office/drawing/2014/main" id="{C4BF4570-F33E-DB2A-95E3-7698C2486E74}"/>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7C09F181-BF94-C788-84A6-DAA0009E70FD}"/>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2555641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FE4D-741E-F890-6D57-6D84E0B5037D}"/>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FA1F798F-349C-CDFF-1A3D-F682BB9925C5}"/>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4" name="Footer Placeholder 3">
            <a:extLst>
              <a:ext uri="{FF2B5EF4-FFF2-40B4-BE49-F238E27FC236}">
                <a16:creationId xmlns:a16="http://schemas.microsoft.com/office/drawing/2014/main" id="{BC2898D3-3091-049E-C210-FBAB8D8E60BC}"/>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48E22235-B6C0-BC6C-7197-3C0D9A5458F4}"/>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2767347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62E4E9-596B-3A2B-6A41-EFB06D833D5B}"/>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3" name="Footer Placeholder 2">
            <a:extLst>
              <a:ext uri="{FF2B5EF4-FFF2-40B4-BE49-F238E27FC236}">
                <a16:creationId xmlns:a16="http://schemas.microsoft.com/office/drawing/2014/main" id="{1C7D48DC-7AAC-9AB1-4545-9C2B6AEA1BF1}"/>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CD036E4A-AA60-88E0-DA51-1CA78DB97F39}"/>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3757591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AA671-972E-12F2-30D9-4570877A0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DD3EFCBA-831A-0CD0-DC8F-661995FA73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DB9EC4BE-C328-E2FF-070F-CBD8E60C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CDB646-2F87-1104-F18A-EA09F28AF720}"/>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6" name="Footer Placeholder 5">
            <a:extLst>
              <a:ext uri="{FF2B5EF4-FFF2-40B4-BE49-F238E27FC236}">
                <a16:creationId xmlns:a16="http://schemas.microsoft.com/office/drawing/2014/main" id="{EAE7E3BD-8F70-450D-6FC2-FD8416A25A8B}"/>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8C75127B-AAC0-5D19-3BDC-FF0020D27E79}"/>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2456973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6855-C933-9BC9-41E4-23EE687D7C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F043FA9D-EBB2-5853-DFB2-621C5DA342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2F9CD30D-4435-74CB-A6C8-6FCCD62DF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F8ACFC-3963-8BF5-8C74-770D3609591A}"/>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6" name="Footer Placeholder 5">
            <a:extLst>
              <a:ext uri="{FF2B5EF4-FFF2-40B4-BE49-F238E27FC236}">
                <a16:creationId xmlns:a16="http://schemas.microsoft.com/office/drawing/2014/main" id="{B47B390D-8239-386E-3387-1640B21E3539}"/>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D151EBA-F205-82AE-6BF6-BE645BE261D7}"/>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3224760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311F2-19DD-70F3-39D4-BDA8FA00F339}"/>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9011C3D9-4A34-3E34-9194-3E98138F1C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F708AFB0-D4EC-1F7B-49D1-4A6FCC944A0E}"/>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5" name="Footer Placeholder 4">
            <a:extLst>
              <a:ext uri="{FF2B5EF4-FFF2-40B4-BE49-F238E27FC236}">
                <a16:creationId xmlns:a16="http://schemas.microsoft.com/office/drawing/2014/main" id="{B61FA06E-BA75-3612-9B79-01347753787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059F373-CFA7-9BD9-B680-D9E218D86A13}"/>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917168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44692C-1397-11F4-7488-6F31BD362B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32D74D28-366A-7D9D-9C34-2574AA75F3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3675DA95-0E42-C2CC-7773-9C17CFFB8755}"/>
              </a:ext>
            </a:extLst>
          </p:cNvPr>
          <p:cNvSpPr>
            <a:spLocks noGrp="1"/>
          </p:cNvSpPr>
          <p:nvPr>
            <p:ph type="dt" sz="half" idx="10"/>
          </p:nvPr>
        </p:nvSpPr>
        <p:spPr/>
        <p:txBody>
          <a:bodyPr/>
          <a:lstStyle/>
          <a:p>
            <a:fld id="{6E19DEFD-8CDA-48C6-A6D5-4A1BA90884AC}" type="datetimeFigureOut">
              <a:rPr lang="en-MY" smtClean="0"/>
              <a:t>22/9/2026</a:t>
            </a:fld>
            <a:endParaRPr lang="en-MY"/>
          </a:p>
        </p:txBody>
      </p:sp>
      <p:sp>
        <p:nvSpPr>
          <p:cNvPr id="5" name="Footer Placeholder 4">
            <a:extLst>
              <a:ext uri="{FF2B5EF4-FFF2-40B4-BE49-F238E27FC236}">
                <a16:creationId xmlns:a16="http://schemas.microsoft.com/office/drawing/2014/main" id="{CCF7B495-0BE7-5548-D2A4-736A36DA054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8AFF050-151E-77B6-9A04-C467FE91B53A}"/>
              </a:ext>
            </a:extLst>
          </p:cNvPr>
          <p:cNvSpPr>
            <a:spLocks noGrp="1"/>
          </p:cNvSpPr>
          <p:nvPr>
            <p:ph type="sldNum" sz="quarter" idx="12"/>
          </p:nvPr>
        </p:nvSpPr>
        <p:spPr/>
        <p:txBody>
          <a:bodyPr/>
          <a:lstStyle/>
          <a:p>
            <a:fld id="{6DE17ABE-C99C-477A-B038-190C6690F853}" type="slidenum">
              <a:rPr lang="en-MY" smtClean="0"/>
              <a:t>‹#›</a:t>
            </a:fld>
            <a:endParaRPr lang="en-MY"/>
          </a:p>
        </p:txBody>
      </p:sp>
    </p:spTree>
    <p:extLst>
      <p:ext uri="{BB962C8B-B14F-4D97-AF65-F5344CB8AC3E}">
        <p14:creationId xmlns:p14="http://schemas.microsoft.com/office/powerpoint/2010/main" val="2181348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lank 0">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02A5DE-1652-B127-85C4-F0E2A8479BB1}"/>
              </a:ext>
            </a:extLst>
          </p:cNvPr>
          <p:cNvSpPr/>
          <p:nvPr userDrawn="1"/>
        </p:nvSpPr>
        <p:spPr>
          <a:xfrm>
            <a:off x="1" y="634432"/>
            <a:ext cx="5861050" cy="51430"/>
          </a:xfrm>
          <a:prstGeom prst="rect">
            <a:avLst/>
          </a:prstGeom>
          <a:solidFill>
            <a:srgbClr val="FF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46" baseline="-25000"/>
          </a:p>
        </p:txBody>
      </p:sp>
      <p:sp>
        <p:nvSpPr>
          <p:cNvPr id="3" name="TextBox 2">
            <a:extLst>
              <a:ext uri="{FF2B5EF4-FFF2-40B4-BE49-F238E27FC236}">
                <a16:creationId xmlns:a16="http://schemas.microsoft.com/office/drawing/2014/main" id="{F340E046-6515-67D5-D87A-18C4F7E25122}"/>
              </a:ext>
            </a:extLst>
          </p:cNvPr>
          <p:cNvSpPr txBox="1"/>
          <p:nvPr userDrawn="1"/>
        </p:nvSpPr>
        <p:spPr>
          <a:xfrm>
            <a:off x="3185974" y="6409921"/>
            <a:ext cx="4332157" cy="258532"/>
          </a:xfrm>
          <a:prstGeom prst="rect">
            <a:avLst/>
          </a:prstGeom>
          <a:noFill/>
        </p:spPr>
        <p:txBody>
          <a:bodyPr wrap="square" rtlCol="0">
            <a:spAutoFit/>
          </a:bodyPr>
          <a:lstStyle/>
          <a:p>
            <a:pPr marL="0" marR="0" lvl="0" indent="0" algn="l" defTabSz="822917" rtl="0" eaLnBrk="1" fontAlgn="auto" latinLnBrk="0" hangingPunct="1">
              <a:lnSpc>
                <a:spcPct val="100000"/>
              </a:lnSpc>
              <a:spcBef>
                <a:spcPts val="0"/>
              </a:spcBef>
              <a:spcAft>
                <a:spcPts val="0"/>
              </a:spcAft>
              <a:buClrTx/>
              <a:buSzTx/>
              <a:buFontTx/>
              <a:buNone/>
              <a:tabLst/>
              <a:defRPr/>
            </a:pPr>
            <a:r>
              <a:rPr lang="en-US" sz="1080">
                <a:solidFill>
                  <a:schemeClr val="tx1">
                    <a:lumMod val="75000"/>
                    <a:lumOff val="25000"/>
                  </a:schemeClr>
                </a:solidFill>
                <a:latin typeface="Arial" panose="020B0604020202020204" pitchFamily="34" charset="0"/>
                <a:cs typeface="Arial" panose="020B0604020202020204" pitchFamily="34" charset="0"/>
              </a:rPr>
              <a:t>We Deliver Impact Capital For National Development</a:t>
            </a:r>
            <a:endParaRPr lang="en-GB" sz="1080">
              <a:solidFill>
                <a:schemeClr val="tx1">
                  <a:lumMod val="75000"/>
                  <a:lumOff val="2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291733EA-FDCD-50CE-8BB2-378962246D7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20312" y="5815225"/>
            <a:ext cx="2415267" cy="1355302"/>
          </a:xfrm>
          <a:prstGeom prst="rect">
            <a:avLst/>
          </a:prstGeom>
        </p:spPr>
      </p:pic>
    </p:spTree>
    <p:extLst>
      <p:ext uri="{BB962C8B-B14F-4D97-AF65-F5344CB8AC3E}">
        <p14:creationId xmlns:p14="http://schemas.microsoft.com/office/powerpoint/2010/main" val="264925777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84CBE9-22C7-8ADB-D6A9-3287FACC67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D4B76B3-4C34-DD1B-B7BC-1BC81ADBDF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04D8907-A768-77AD-FB0E-C5D93765B4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19DEFD-8CDA-48C6-A6D5-4A1BA90884AC}" type="datetimeFigureOut">
              <a:rPr lang="en-MY" smtClean="0"/>
              <a:t>22/9/2026</a:t>
            </a:fld>
            <a:endParaRPr lang="en-MY"/>
          </a:p>
        </p:txBody>
      </p:sp>
      <p:sp>
        <p:nvSpPr>
          <p:cNvPr id="5" name="Footer Placeholder 4">
            <a:extLst>
              <a:ext uri="{FF2B5EF4-FFF2-40B4-BE49-F238E27FC236}">
                <a16:creationId xmlns:a16="http://schemas.microsoft.com/office/drawing/2014/main" id="{CB2A5405-8BE5-8311-D22D-2AB76B2460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625E3B47-7374-5EED-064B-7BF27929BA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E17ABE-C99C-477A-B038-190C6690F853}" type="slidenum">
              <a:rPr lang="en-MY" smtClean="0"/>
              <a:t>‹#›</a:t>
            </a:fld>
            <a:endParaRPr lang="en-MY"/>
          </a:p>
        </p:txBody>
      </p:sp>
    </p:spTree>
    <p:extLst>
      <p:ext uri="{BB962C8B-B14F-4D97-AF65-F5344CB8AC3E}">
        <p14:creationId xmlns:p14="http://schemas.microsoft.com/office/powerpoint/2010/main" val="2259021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1B_FA25764D.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F_2C8300A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0_37CC3C0A.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1_21A8B7AC.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12_6F58E2FA.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D0B1-BE9D-2CE5-6680-6D2E71BA903E}"/>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9405AD48-9C9D-E88E-5493-662BD508F07D}"/>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Data Analytics &amp; Insights (DDAI) Operating Model</a:t>
            </a:r>
            <a:endParaRPr lang="en-MY" sz="2025" b="1" dirty="0"/>
          </a:p>
        </p:txBody>
      </p:sp>
      <p:graphicFrame>
        <p:nvGraphicFramePr>
          <p:cNvPr id="2" name="Table 1">
            <a:extLst>
              <a:ext uri="{FF2B5EF4-FFF2-40B4-BE49-F238E27FC236}">
                <a16:creationId xmlns:a16="http://schemas.microsoft.com/office/drawing/2014/main" id="{12A3D8D1-6EB0-25EE-39B2-0B5CBEAC2FED}"/>
              </a:ext>
            </a:extLst>
          </p:cNvPr>
          <p:cNvGraphicFramePr>
            <a:graphicFrameLocks noGrp="1"/>
          </p:cNvGraphicFramePr>
          <p:nvPr>
            <p:extLst>
              <p:ext uri="{D42A27DB-BD31-4B8C-83A1-F6EECF244321}">
                <p14:modId xmlns:p14="http://schemas.microsoft.com/office/powerpoint/2010/main" val="2572282595"/>
              </p:ext>
            </p:extLst>
          </p:nvPr>
        </p:nvGraphicFramePr>
        <p:xfrm>
          <a:off x="232582" y="845396"/>
          <a:ext cx="9871537" cy="3342005"/>
        </p:xfrm>
        <a:graphic>
          <a:graphicData uri="http://schemas.openxmlformats.org/drawingml/2006/table">
            <a:tbl>
              <a:tblPr firstRow="1" bandRow="1">
                <a:tableStyleId>{5940675A-B579-460E-94D1-54222C63F5DA}</a:tableStyleId>
              </a:tblPr>
              <a:tblGrid>
                <a:gridCol w="9871537">
                  <a:extLst>
                    <a:ext uri="{9D8B030D-6E8A-4147-A177-3AD203B41FA5}">
                      <a16:colId xmlns:a16="http://schemas.microsoft.com/office/drawing/2014/main" val="3351806046"/>
                    </a:ext>
                  </a:extLst>
                </a:gridCol>
              </a:tblGrid>
              <a:tr h="370840">
                <a:tc>
                  <a:txBody>
                    <a:bodyPr/>
                    <a:lstStyle/>
                    <a:p>
                      <a:r>
                        <a:rPr lang="en-US" sz="1500" b="1" dirty="0">
                          <a:latin typeface="Arial" panose="020B0604020202020204" pitchFamily="34" charset="0"/>
                          <a:cs typeface="Arial" panose="020B0604020202020204" pitchFamily="34" charset="0"/>
                        </a:rPr>
                        <a:t>Purpose</a:t>
                      </a:r>
                      <a:endParaRPr lang="en-MY" sz="1500" b="1"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02542637"/>
                  </a:ext>
                </a:extLst>
              </a:tr>
              <a:tr h="370840">
                <a:tc>
                  <a:txBody>
                    <a:bodyPr/>
                    <a:lstStyle/>
                    <a:p>
                      <a:pPr algn="just"/>
                      <a:r>
                        <a:rPr lang="en-US" sz="1500" dirty="0">
                          <a:latin typeface="Arial" panose="020B0604020202020204" pitchFamily="34" charset="0"/>
                          <a:cs typeface="Arial" panose="020B0604020202020204" pitchFamily="34" charset="0"/>
                        </a:rPr>
                        <a:t>To generate evidence- based developmental intelligence that enables SME Bank to design, monitor, optimize and continuously improve SME development interventions, programs and eco system initiatives. </a:t>
                      </a:r>
                    </a:p>
                    <a:p>
                      <a:pPr algn="just"/>
                      <a:endParaRPr lang="en-US" sz="1500" dirty="0">
                        <a:latin typeface="Arial" panose="020B0604020202020204" pitchFamily="34" charset="0"/>
                        <a:cs typeface="Arial" panose="020B0604020202020204" pitchFamily="34" charset="0"/>
                      </a:endParaRPr>
                    </a:p>
                    <a:p>
                      <a:pPr algn="just"/>
                      <a:r>
                        <a:rPr lang="en-US" sz="1500" dirty="0">
                          <a:latin typeface="Arial" panose="020B0604020202020204" pitchFamily="34" charset="0"/>
                          <a:cs typeface="Arial" panose="020B0604020202020204" pitchFamily="34" charset="0"/>
                        </a:rPr>
                        <a:t>Rather than focusing on financial reporting, DDAI focuses on </a:t>
                      </a:r>
                      <a:r>
                        <a:rPr lang="en-US" sz="1500" b="1" dirty="0">
                          <a:latin typeface="Arial" panose="020B0604020202020204" pitchFamily="34" charset="0"/>
                          <a:cs typeface="Arial" panose="020B0604020202020204" pitchFamily="34" charset="0"/>
                        </a:rPr>
                        <a:t>SME growth intelligence</a:t>
                      </a:r>
                      <a:r>
                        <a:rPr lang="en-US" sz="1500" dirty="0">
                          <a:latin typeface="Arial" panose="020B0604020202020204" pitchFamily="34" charset="0"/>
                          <a:cs typeface="Arial" panose="020B0604020202020204" pitchFamily="34" charset="0"/>
                        </a:rPr>
                        <a:t>.</a:t>
                      </a:r>
                      <a:endParaRPr lang="en-MY" sz="15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591002"/>
                  </a:ext>
                </a:extLst>
              </a:tr>
              <a:tr h="370840">
                <a:tc>
                  <a:txBody>
                    <a:bodyPr/>
                    <a:lstStyle/>
                    <a:p>
                      <a:endParaRPr lang="en-MY" sz="15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4835396"/>
                  </a:ext>
                </a:extLst>
              </a:tr>
              <a:tr h="370840">
                <a:tc>
                  <a:txBody>
                    <a:bodyPr/>
                    <a:lstStyle/>
                    <a:p>
                      <a:r>
                        <a:rPr lang="en-US" sz="1500" b="1" dirty="0">
                          <a:latin typeface="Arial" panose="020B0604020202020204" pitchFamily="34" charset="0"/>
                          <a:cs typeface="Arial" panose="020B0604020202020204" pitchFamily="34" charset="0"/>
                        </a:rPr>
                        <a:t>Vision</a:t>
                      </a:r>
                      <a:endParaRPr lang="en-MY" sz="1500" b="1"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94146606"/>
                  </a:ext>
                </a:extLst>
              </a:tr>
              <a:tr h="370840">
                <a:tc>
                  <a:txBody>
                    <a:bodyPr/>
                    <a:lstStyle/>
                    <a:p>
                      <a:pPr algn="just" fontAlgn="t">
                        <a:lnSpc>
                          <a:spcPts val="1500"/>
                        </a:lnSpc>
                        <a:buNone/>
                      </a:pPr>
                      <a:r>
                        <a:rPr lang="en-MY" sz="1500" b="0" i="0" dirty="0">
                          <a:effectLst/>
                          <a:latin typeface="Arial" panose="020B0604020202020204" pitchFamily="34" charset="0"/>
                          <a:cs typeface="Arial" panose="020B0604020202020204" pitchFamily="34" charset="0"/>
                        </a:rPr>
                        <a:t>To establish SME Bank's first integrated SME Intelligence Platform that combines financing, developmental and business capability data to drive evidence-based financing and SME development decisions.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2482346"/>
                  </a:ext>
                </a:extLst>
              </a:tr>
              <a:tr h="370840">
                <a:tc>
                  <a:txBody>
                    <a:bodyPr/>
                    <a:lstStyle/>
                    <a:p>
                      <a:endParaRPr lang="en-MY" sz="1500"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9007212"/>
                  </a:ext>
                </a:extLst>
              </a:tr>
              <a:tr h="370840">
                <a:tc>
                  <a:txBody>
                    <a:bodyPr/>
                    <a:lstStyle/>
                    <a:p>
                      <a:r>
                        <a:rPr lang="en-US" sz="1500" b="1" dirty="0">
                          <a:latin typeface="Arial" panose="020B0604020202020204" pitchFamily="34" charset="0"/>
                          <a:cs typeface="Arial" panose="020B0604020202020204" pitchFamily="34" charset="0"/>
                        </a:rPr>
                        <a:t>Developmental Intelligence Cycle</a:t>
                      </a:r>
                      <a:endParaRPr lang="en-MY" sz="1500" b="1"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3676175"/>
                  </a:ext>
                </a:extLst>
              </a:tr>
            </a:tbl>
          </a:graphicData>
        </a:graphic>
      </p:graphicFrame>
      <p:graphicFrame>
        <p:nvGraphicFramePr>
          <p:cNvPr id="4" name="Diagram 3">
            <a:extLst>
              <a:ext uri="{FF2B5EF4-FFF2-40B4-BE49-F238E27FC236}">
                <a16:creationId xmlns:a16="http://schemas.microsoft.com/office/drawing/2014/main" id="{F474DB1A-A74E-A5DF-5F31-75222456F4C6}"/>
              </a:ext>
            </a:extLst>
          </p:cNvPr>
          <p:cNvGraphicFramePr/>
          <p:nvPr>
            <p:extLst>
              <p:ext uri="{D42A27DB-BD31-4B8C-83A1-F6EECF244321}">
                <p14:modId xmlns:p14="http://schemas.microsoft.com/office/powerpoint/2010/main" val="3077794570"/>
              </p:ext>
            </p:extLst>
          </p:nvPr>
        </p:nvGraphicFramePr>
        <p:xfrm>
          <a:off x="353420" y="3851910"/>
          <a:ext cx="11485159" cy="20463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329586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973DFA3-6D0C-802D-39A8-B7F91C54CB06}"/>
              </a:ext>
            </a:extLst>
          </p:cNvPr>
          <p:cNvGraphicFramePr/>
          <p:nvPr>
            <p:extLst>
              <p:ext uri="{D42A27DB-BD31-4B8C-83A1-F6EECF244321}">
                <p14:modId xmlns:p14="http://schemas.microsoft.com/office/powerpoint/2010/main" val="3260201914"/>
              </p:ext>
            </p:extLst>
          </p:nvPr>
        </p:nvGraphicFramePr>
        <p:xfrm>
          <a:off x="264000" y="765386"/>
          <a:ext cx="11664000" cy="554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1B1A753E-F067-C40B-491D-CD355AE04BB6}"/>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Data Analytics &amp; Insights (DDAI) Core Functions</a:t>
            </a:r>
            <a:endParaRPr lang="en-MY" sz="2025" b="1" dirty="0"/>
          </a:p>
        </p:txBody>
      </p:sp>
    </p:spTree>
    <p:extLst>
      <p:ext uri="{BB962C8B-B14F-4D97-AF65-F5344CB8AC3E}">
        <p14:creationId xmlns:p14="http://schemas.microsoft.com/office/powerpoint/2010/main" val="177236336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A14D9-4C25-3CBB-FFD7-186C498DBC8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36847C7-F644-E1C1-68D8-EDD2C4768DB5}"/>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Data Analytics &amp; Insights (DDAI) – Three- Year Plan</a:t>
            </a:r>
            <a:endParaRPr lang="en-MY" sz="2025" b="1" dirty="0"/>
          </a:p>
        </p:txBody>
      </p:sp>
      <p:graphicFrame>
        <p:nvGraphicFramePr>
          <p:cNvPr id="3" name="Diagram 2">
            <a:extLst>
              <a:ext uri="{FF2B5EF4-FFF2-40B4-BE49-F238E27FC236}">
                <a16:creationId xmlns:a16="http://schemas.microsoft.com/office/drawing/2014/main" id="{D778C987-881A-C037-A92E-70975EC900E8}"/>
              </a:ext>
            </a:extLst>
          </p:cNvPr>
          <p:cNvGraphicFramePr/>
          <p:nvPr>
            <p:extLst>
              <p:ext uri="{D42A27DB-BD31-4B8C-83A1-F6EECF244321}">
                <p14:modId xmlns:p14="http://schemas.microsoft.com/office/powerpoint/2010/main" val="3501041911"/>
              </p:ext>
            </p:extLst>
          </p:nvPr>
        </p:nvGraphicFramePr>
        <p:xfrm>
          <a:off x="477520" y="994410"/>
          <a:ext cx="11501120" cy="5098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722737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7E2D7-8D7B-99C7-0A24-B01CE0DB30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2CB56F7-C5FE-6255-F3C0-2AD86AB9EB98}"/>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Data Analytics &amp; Insights (DDAI) – Three- Year Plan (Year 1)</a:t>
            </a:r>
            <a:endParaRPr lang="en-MY" sz="2025" b="1" dirty="0"/>
          </a:p>
        </p:txBody>
      </p:sp>
      <p:graphicFrame>
        <p:nvGraphicFramePr>
          <p:cNvPr id="2" name="Table 1">
            <a:extLst>
              <a:ext uri="{FF2B5EF4-FFF2-40B4-BE49-F238E27FC236}">
                <a16:creationId xmlns:a16="http://schemas.microsoft.com/office/drawing/2014/main" id="{3114D008-335C-B84F-07CA-E425E537AB2F}"/>
              </a:ext>
            </a:extLst>
          </p:cNvPr>
          <p:cNvGraphicFramePr>
            <a:graphicFrameLocks noGrp="1"/>
          </p:cNvGraphicFramePr>
          <p:nvPr>
            <p:extLst>
              <p:ext uri="{D42A27DB-BD31-4B8C-83A1-F6EECF244321}">
                <p14:modId xmlns:p14="http://schemas.microsoft.com/office/powerpoint/2010/main" val="799185415"/>
              </p:ext>
            </p:extLst>
          </p:nvPr>
        </p:nvGraphicFramePr>
        <p:xfrm>
          <a:off x="369570" y="728504"/>
          <a:ext cx="10515600" cy="4709160"/>
        </p:xfrm>
        <a:graphic>
          <a:graphicData uri="http://schemas.openxmlformats.org/drawingml/2006/table">
            <a:tbl>
              <a:tblPr/>
              <a:tblGrid>
                <a:gridCol w="5257800">
                  <a:extLst>
                    <a:ext uri="{9D8B030D-6E8A-4147-A177-3AD203B41FA5}">
                      <a16:colId xmlns:a16="http://schemas.microsoft.com/office/drawing/2014/main" val="1014842176"/>
                    </a:ext>
                  </a:extLst>
                </a:gridCol>
                <a:gridCol w="5257800">
                  <a:extLst>
                    <a:ext uri="{9D8B030D-6E8A-4147-A177-3AD203B41FA5}">
                      <a16:colId xmlns:a16="http://schemas.microsoft.com/office/drawing/2014/main" val="355100493"/>
                    </a:ext>
                  </a:extLst>
                </a:gridCol>
              </a:tblGrid>
              <a:tr h="0">
                <a:tc gridSpan="2">
                  <a:txBody>
                    <a:bodyPr/>
                    <a:lstStyle/>
                    <a:p>
                      <a:pPr fontAlgn="t">
                        <a:lnSpc>
                          <a:spcPct val="100000"/>
                        </a:lnSpc>
                        <a:buNone/>
                      </a:pPr>
                      <a:r>
                        <a:rPr lang="en-MY" sz="1500" b="1" i="0" dirty="0">
                          <a:effectLst/>
                          <a:latin typeface="Arial" panose="020B0604020202020204" pitchFamily="34" charset="0"/>
                          <a:cs typeface="Arial" panose="020B0604020202020204" pitchFamily="34" charset="0"/>
                        </a:rPr>
                        <a:t>YEAR 1 (2026)</a:t>
                      </a:r>
                    </a:p>
                    <a:p>
                      <a:pPr fontAlgn="t">
                        <a:lnSpc>
                          <a:spcPct val="100000"/>
                        </a:lnSpc>
                        <a:buNone/>
                      </a:pPr>
                      <a:r>
                        <a:rPr lang="en-MY" sz="1500" b="1" i="0" dirty="0">
                          <a:effectLst/>
                          <a:latin typeface="Arial" panose="020B0604020202020204" pitchFamily="34" charset="0"/>
                          <a:cs typeface="Arial" panose="020B0604020202020204" pitchFamily="34" charset="0"/>
                        </a:rPr>
                        <a:t>Theme: Build the Foundation</a:t>
                      </a:r>
                    </a:p>
                    <a:p>
                      <a:pPr fontAlgn="t">
                        <a:lnSpc>
                          <a:spcPct val="100000"/>
                        </a:lnSpc>
                        <a:buNone/>
                      </a:pPr>
                      <a:r>
                        <a:rPr lang="en-MY" sz="1500" b="1" i="0" dirty="0">
                          <a:effectLst/>
                          <a:latin typeface="Arial" panose="020B0604020202020204" pitchFamily="34" charset="0"/>
                          <a:cs typeface="Arial" panose="020B0604020202020204" pitchFamily="34" charset="0"/>
                        </a:rPr>
                        <a:t>Strategic Objective</a:t>
                      </a:r>
                    </a:p>
                    <a:p>
                      <a:pPr fontAlgn="t">
                        <a:lnSpc>
                          <a:spcPct val="100000"/>
                        </a:lnSpc>
                        <a:buNone/>
                      </a:pPr>
                      <a:r>
                        <a:rPr lang="en-MY" sz="1500" b="0" i="0" dirty="0">
                          <a:effectLst/>
                          <a:latin typeface="Arial" panose="020B0604020202020204" pitchFamily="34" charset="0"/>
                          <a:cs typeface="Arial" panose="020B0604020202020204" pitchFamily="34" charset="0"/>
                        </a:rPr>
                        <a:t>Create a single source of truth for all SME customers and programme participants.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lvl="0" indent="0" fontAlgn="t">
                        <a:lnSpc>
                          <a:spcPct val="150000"/>
                        </a:lnSpc>
                        <a:buFont typeface="Arial" panose="020B0604020202020204" pitchFamily="34" charset="0"/>
                        <a:buNone/>
                      </a:pPr>
                      <a:endParaRPr lang="en-MY" sz="1500" b="1" i="0" dirty="0">
                        <a:effectLst/>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208029"/>
                  </a:ext>
                </a:extLst>
              </a:tr>
              <a:tr h="0">
                <a:tc gridSpan="2">
                  <a:txBody>
                    <a:bodyPr/>
                    <a:lstStyle/>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r>
                        <a:rPr lang="en-MY" sz="1500" b="1" i="0" dirty="0">
                          <a:effectLst/>
                          <a:latin typeface="Arial" panose="020B0604020202020204" pitchFamily="34" charset="0"/>
                          <a:cs typeface="Arial" panose="020B0604020202020204" pitchFamily="34" charset="0"/>
                        </a:rPr>
                        <a:t>Key Deliverables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lvl="0" indent="0" fontAlgn="t">
                        <a:lnSpc>
                          <a:spcPct val="150000"/>
                        </a:lnSpc>
                        <a:buFont typeface="Arial" panose="020B0604020202020204" pitchFamily="34" charset="0"/>
                        <a:buNone/>
                      </a:pPr>
                      <a:endParaRPr lang="en-MY" sz="1500" b="1" i="0" dirty="0">
                        <a:effectLst/>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987086"/>
                  </a:ext>
                </a:extLst>
              </a:tr>
              <a:tr h="0">
                <a:tc>
                  <a:txBody>
                    <a:bodyPr/>
                    <a:lstStyle/>
                    <a:p>
                      <a:pPr fontAlgn="t">
                        <a:lnSpc>
                          <a:spcPct val="100000"/>
                        </a:lnSpc>
                        <a:buNone/>
                      </a:pPr>
                      <a:r>
                        <a:rPr lang="en-MY" sz="1500" b="1" i="0" dirty="0">
                          <a:effectLst/>
                          <a:latin typeface="Arial" panose="020B0604020202020204" pitchFamily="34" charset="0"/>
                          <a:cs typeface="Arial" panose="020B0604020202020204" pitchFamily="34" charset="0"/>
                        </a:rPr>
                        <a:t>1. Establish SME Data Warehouse</a:t>
                      </a:r>
                    </a:p>
                    <a:p>
                      <a:pPr fontAlgn="t">
                        <a:lnSpc>
                          <a:spcPct val="100000"/>
                        </a:lnSpc>
                        <a:buNone/>
                      </a:pPr>
                      <a:r>
                        <a:rPr lang="en-MY" sz="1500" b="0" i="0" dirty="0">
                          <a:effectLst/>
                          <a:latin typeface="Arial" panose="020B0604020202020204" pitchFamily="34" charset="0"/>
                          <a:cs typeface="Arial" panose="020B0604020202020204" pitchFamily="34" charset="0"/>
                        </a:rPr>
                        <a:t>Integrate:</a:t>
                      </a:r>
                    </a:p>
                    <a:p>
                      <a:pPr marL="342900" lvl="0" indent="-342900" fontAlgn="t">
                        <a:lnSpc>
                          <a:spcPct val="10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Financing System</a:t>
                      </a:r>
                    </a:p>
                    <a:p>
                      <a:pPr marL="342900" lvl="0" indent="-342900" fontAlgn="t">
                        <a:lnSpc>
                          <a:spcPct val="10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EPC System</a:t>
                      </a:r>
                    </a:p>
                    <a:p>
                      <a:pPr marL="342900" lvl="0" indent="-342900" fontAlgn="t">
                        <a:lnSpc>
                          <a:spcPct val="10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ELSA Platform</a:t>
                      </a:r>
                    </a:p>
                    <a:p>
                      <a:pPr marL="0" lvl="0" indent="0" fontAlgn="t">
                        <a:lnSpc>
                          <a:spcPct val="100000"/>
                        </a:lnSpc>
                        <a:buFont typeface="Arial" panose="020B0604020202020204" pitchFamily="34" charset="0"/>
                        <a:buNone/>
                      </a:pPr>
                      <a:r>
                        <a:rPr lang="en-MY" sz="1500" b="0" i="0" dirty="0">
                          <a:effectLst/>
                          <a:latin typeface="Arial" panose="020B0604020202020204" pitchFamily="34" charset="0"/>
                          <a:cs typeface="Arial" panose="020B0604020202020204" pitchFamily="34" charset="0"/>
                        </a:rPr>
                        <a:t>Target : </a:t>
                      </a:r>
                    </a:p>
                    <a:p>
                      <a:pPr marL="0" lvl="0" indent="0" fontAlgn="t">
                        <a:lnSpc>
                          <a:spcPct val="100000"/>
                        </a:lnSpc>
                        <a:buFont typeface="Arial" panose="020B0604020202020204" pitchFamily="34" charset="0"/>
                        <a:buNone/>
                      </a:pPr>
                      <a:r>
                        <a:rPr lang="en-MY" sz="1500" b="1" i="0" dirty="0">
                          <a:effectLst/>
                          <a:latin typeface="Arial" panose="020B0604020202020204" pitchFamily="34" charset="0"/>
                          <a:cs typeface="Arial" panose="020B0604020202020204" pitchFamily="34" charset="0"/>
                        </a:rPr>
                        <a:t>One unique SME ID across all systems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r>
                        <a:rPr lang="en-US" sz="1500" b="1" i="0" dirty="0">
                          <a:effectLst/>
                          <a:latin typeface="Arial" panose="020B0604020202020204" pitchFamily="34" charset="0"/>
                          <a:cs typeface="Arial" panose="020B0604020202020204" pitchFamily="34" charset="0"/>
                        </a:rPr>
                        <a:t>2</a:t>
                      </a:r>
                      <a:r>
                        <a:rPr lang="en-MY" sz="1500" b="1" i="0" dirty="0">
                          <a:effectLst/>
                          <a:latin typeface="Arial" panose="020B0604020202020204" pitchFamily="34" charset="0"/>
                          <a:cs typeface="Arial" panose="020B0604020202020204" pitchFamily="34" charset="0"/>
                        </a:rPr>
                        <a:t>. Develop SME Development Index (SDI)</a:t>
                      </a:r>
                    </a:p>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r>
                        <a:rPr lang="en-MY" sz="1500" b="0" i="0" dirty="0">
                          <a:effectLst/>
                          <a:latin typeface="Arial" panose="020B0604020202020204" pitchFamily="34" charset="0"/>
                          <a:cs typeface="Arial" panose="020B0604020202020204" pitchFamily="34" charset="0"/>
                        </a:rPr>
                        <a:t>Combine: </a:t>
                      </a:r>
                    </a:p>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endParaRPr lang="en-MY" sz="1500" b="0" i="0" dirty="0">
                        <a:effectLst/>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9938198"/>
                  </a:ext>
                </a:extLst>
              </a:tr>
              <a:tr h="0">
                <a:tc gridSpan="2">
                  <a:txBody>
                    <a:bodyPr/>
                    <a:lstStyle/>
                    <a:p>
                      <a:pPr fontAlgn="t">
                        <a:lnSpc>
                          <a:spcPct val="100000"/>
                        </a:lnSpc>
                        <a:buNone/>
                      </a:pPr>
                      <a:endParaRPr lang="en-MY" sz="1500" b="1" i="0" dirty="0">
                        <a:effectLst/>
                        <a:latin typeface="Arial" panose="020B0604020202020204" pitchFamily="34" charset="0"/>
                        <a:cs typeface="Arial" panose="020B0604020202020204" pitchFamily="34" charset="0"/>
                      </a:endParaRPr>
                    </a:p>
                    <a:p>
                      <a:pPr fontAlgn="t">
                        <a:lnSpc>
                          <a:spcPct val="100000"/>
                        </a:lnSpc>
                        <a:buNone/>
                      </a:pPr>
                      <a:endParaRPr lang="en-MY" sz="1500" b="1" i="0" dirty="0">
                        <a:effectLst/>
                        <a:latin typeface="Arial" panose="020B0604020202020204" pitchFamily="34" charset="0"/>
                        <a:cs typeface="Arial" panose="020B0604020202020204" pitchFamily="34" charset="0"/>
                      </a:endParaRPr>
                    </a:p>
                    <a:p>
                      <a:pPr fontAlgn="t">
                        <a:lnSpc>
                          <a:spcPct val="100000"/>
                        </a:lnSpc>
                        <a:buNone/>
                      </a:pPr>
                      <a:endParaRPr lang="en-MY" sz="1500" b="1" i="0" dirty="0">
                        <a:effectLst/>
                        <a:latin typeface="Arial" panose="020B0604020202020204" pitchFamily="34" charset="0"/>
                        <a:cs typeface="Arial" panose="020B0604020202020204" pitchFamily="34" charset="0"/>
                      </a:endParaRPr>
                    </a:p>
                    <a:p>
                      <a:pPr fontAlgn="t">
                        <a:lnSpc>
                          <a:spcPct val="100000"/>
                        </a:lnSpc>
                        <a:buNone/>
                      </a:pPr>
                      <a:r>
                        <a:rPr lang="en-MY" sz="1500" b="1" i="0" dirty="0">
                          <a:effectLst/>
                          <a:latin typeface="Arial" panose="020B0604020202020204" pitchFamily="34" charset="0"/>
                          <a:cs typeface="Arial" panose="020B0604020202020204" pitchFamily="34" charset="0"/>
                        </a:rPr>
                        <a:t>Year 1 Success Measures</a:t>
                      </a:r>
                    </a:p>
                    <a:p>
                      <a:pPr marL="342900" lvl="0" indent="-342900" fontAlgn="t">
                        <a:lnSpc>
                          <a:spcPct val="10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90% integration of financing, EPC and ELSA data</a:t>
                      </a:r>
                    </a:p>
                    <a:p>
                      <a:pPr marL="342900" lvl="0" indent="-342900" fontAlgn="t">
                        <a:lnSpc>
                          <a:spcPct val="10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One unified SME customer view</a:t>
                      </a:r>
                    </a:p>
                    <a:p>
                      <a:pPr marL="342900" lvl="0" indent="-342900" fontAlgn="t">
                        <a:lnSpc>
                          <a:spcPct val="10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SDI model deployed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fontAlgn="t">
                        <a:lnSpc>
                          <a:spcPts val="1500"/>
                        </a:lnSpc>
                        <a:buNone/>
                      </a:pPr>
                      <a:endParaRPr lang="en-MY" sz="1050" b="0" i="0" dirty="0">
                        <a:effectLst/>
                        <a:latin typeface="Segoe UI" panose="020B05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480900"/>
                  </a:ext>
                </a:extLst>
              </a:tr>
            </a:tbl>
          </a:graphicData>
        </a:graphic>
      </p:graphicFrame>
      <p:graphicFrame>
        <p:nvGraphicFramePr>
          <p:cNvPr id="5" name="Table 4">
            <a:extLst>
              <a:ext uri="{FF2B5EF4-FFF2-40B4-BE49-F238E27FC236}">
                <a16:creationId xmlns:a16="http://schemas.microsoft.com/office/drawing/2014/main" id="{F34AB366-7E75-332F-A73D-138676DA4C87}"/>
              </a:ext>
            </a:extLst>
          </p:cNvPr>
          <p:cNvGraphicFramePr>
            <a:graphicFrameLocks/>
          </p:cNvGraphicFramePr>
          <p:nvPr>
            <p:extLst>
              <p:ext uri="{D42A27DB-BD31-4B8C-83A1-F6EECF244321}">
                <p14:modId xmlns:p14="http://schemas.microsoft.com/office/powerpoint/2010/main" val="3968149905"/>
              </p:ext>
            </p:extLst>
          </p:nvPr>
        </p:nvGraphicFramePr>
        <p:xfrm>
          <a:off x="5753100" y="2560320"/>
          <a:ext cx="2773680" cy="1737360"/>
        </p:xfrm>
        <a:graphic>
          <a:graphicData uri="http://schemas.openxmlformats.org/drawingml/2006/table">
            <a:tbl>
              <a:tblPr firstRow="1" bandRow="1">
                <a:tableStyleId>{5940675A-B579-460E-94D1-54222C63F5DA}</a:tableStyleId>
              </a:tblPr>
              <a:tblGrid>
                <a:gridCol w="1798320">
                  <a:extLst>
                    <a:ext uri="{9D8B030D-6E8A-4147-A177-3AD203B41FA5}">
                      <a16:colId xmlns:a16="http://schemas.microsoft.com/office/drawing/2014/main" val="4195886926"/>
                    </a:ext>
                  </a:extLst>
                </a:gridCol>
                <a:gridCol w="975360">
                  <a:extLst>
                    <a:ext uri="{9D8B030D-6E8A-4147-A177-3AD203B41FA5}">
                      <a16:colId xmlns:a16="http://schemas.microsoft.com/office/drawing/2014/main" val="197375874"/>
                    </a:ext>
                  </a:extLst>
                </a:gridCol>
              </a:tblGrid>
              <a:tr h="216000">
                <a:tc>
                  <a:txBody>
                    <a:bodyPr/>
                    <a:lstStyle/>
                    <a:p>
                      <a:pPr algn="ctr"/>
                      <a:r>
                        <a:rPr lang="en-US" sz="1300" b="1" dirty="0">
                          <a:solidFill>
                            <a:schemeClr val="bg1"/>
                          </a:solidFill>
                          <a:latin typeface="Arial" panose="020B0604020202020204" pitchFamily="34" charset="0"/>
                          <a:cs typeface="Arial" panose="020B0604020202020204" pitchFamily="34" charset="0"/>
                        </a:rPr>
                        <a:t>Component</a:t>
                      </a:r>
                      <a:endParaRPr lang="en-MY" sz="1300" b="1" dirty="0">
                        <a:solidFill>
                          <a:schemeClr val="bg1"/>
                        </a:solidFill>
                        <a:latin typeface="Arial" panose="020B0604020202020204" pitchFamily="34" charset="0"/>
                        <a:cs typeface="Arial" panose="020B0604020202020204" pitchFamily="34" charset="0"/>
                      </a:endParaRPr>
                    </a:p>
                  </a:txBody>
                  <a:tcPr>
                    <a:solidFill>
                      <a:schemeClr val="tx2"/>
                    </a:solidFill>
                  </a:tcPr>
                </a:tc>
                <a:tc>
                  <a:txBody>
                    <a:bodyPr/>
                    <a:lstStyle/>
                    <a:p>
                      <a:pPr algn="ctr"/>
                      <a:r>
                        <a:rPr lang="en-US" sz="1300" b="1" dirty="0">
                          <a:solidFill>
                            <a:schemeClr val="bg1"/>
                          </a:solidFill>
                          <a:latin typeface="Arial" panose="020B0604020202020204" pitchFamily="34" charset="0"/>
                          <a:cs typeface="Arial" panose="020B0604020202020204" pitchFamily="34" charset="0"/>
                        </a:rPr>
                        <a:t>Weight</a:t>
                      </a:r>
                      <a:endParaRPr lang="en-MY" sz="1300" b="1" dirty="0">
                        <a:solidFill>
                          <a:schemeClr val="bg1"/>
                        </a:solidFill>
                        <a:latin typeface="Arial" panose="020B0604020202020204" pitchFamily="34" charset="0"/>
                        <a:cs typeface="Arial" panose="020B0604020202020204" pitchFamily="34" charset="0"/>
                      </a:endParaRPr>
                    </a:p>
                  </a:txBody>
                  <a:tcPr>
                    <a:solidFill>
                      <a:schemeClr val="tx2"/>
                    </a:solidFill>
                  </a:tcPr>
                </a:tc>
                <a:extLst>
                  <a:ext uri="{0D108BD9-81ED-4DB2-BD59-A6C34878D82A}">
                    <a16:rowId xmlns:a16="http://schemas.microsoft.com/office/drawing/2014/main" val="3781601630"/>
                  </a:ext>
                </a:extLst>
              </a:tr>
              <a:tr h="216000">
                <a:tc>
                  <a:txBody>
                    <a:bodyPr/>
                    <a:lstStyle/>
                    <a:p>
                      <a:r>
                        <a:rPr lang="en-US" sz="1300" dirty="0">
                          <a:solidFill>
                            <a:srgbClr val="FF0000"/>
                          </a:solidFill>
                          <a:latin typeface="Arial" panose="020B0604020202020204" pitchFamily="34" charset="0"/>
                          <a:cs typeface="Arial" panose="020B0604020202020204" pitchFamily="34" charset="0"/>
                        </a:rPr>
                        <a:t>Financial Strength</a:t>
                      </a:r>
                      <a:endParaRPr lang="en-MY" sz="1300" dirty="0">
                        <a:solidFill>
                          <a:srgbClr val="FF0000"/>
                        </a:solidFill>
                        <a:latin typeface="Arial" panose="020B0604020202020204" pitchFamily="34" charset="0"/>
                        <a:cs typeface="Arial" panose="020B0604020202020204" pitchFamily="34" charset="0"/>
                      </a:endParaRPr>
                    </a:p>
                  </a:txBody>
                  <a:tcPr/>
                </a:tc>
                <a:tc>
                  <a:txBody>
                    <a:bodyPr/>
                    <a:lstStyle/>
                    <a:p>
                      <a:pPr algn="ctr"/>
                      <a:r>
                        <a:rPr lang="en-US" sz="1300" dirty="0">
                          <a:latin typeface="Arial" panose="020B0604020202020204" pitchFamily="34" charset="0"/>
                          <a:cs typeface="Arial" panose="020B0604020202020204" pitchFamily="34" charset="0"/>
                        </a:rPr>
                        <a:t>30%</a:t>
                      </a:r>
                      <a:endParaRPr lang="en-MY" sz="13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91949623"/>
                  </a:ext>
                </a:extLst>
              </a:tr>
              <a:tr h="216000">
                <a:tc>
                  <a:txBody>
                    <a:bodyPr/>
                    <a:lstStyle/>
                    <a:p>
                      <a:r>
                        <a:rPr lang="en-US" sz="1300" dirty="0">
                          <a:latin typeface="Arial" panose="020B0604020202020204" pitchFamily="34" charset="0"/>
                          <a:cs typeface="Arial" panose="020B0604020202020204" pitchFamily="34" charset="0"/>
                        </a:rPr>
                        <a:t>ELSA Score</a:t>
                      </a:r>
                      <a:endParaRPr lang="en-MY" sz="1300" dirty="0">
                        <a:latin typeface="Arial" panose="020B0604020202020204" pitchFamily="34" charset="0"/>
                        <a:cs typeface="Arial" panose="020B0604020202020204" pitchFamily="34" charset="0"/>
                      </a:endParaRPr>
                    </a:p>
                  </a:txBody>
                  <a:tcPr/>
                </a:tc>
                <a:tc>
                  <a:txBody>
                    <a:bodyPr/>
                    <a:lstStyle/>
                    <a:p>
                      <a:pPr algn="ctr"/>
                      <a:r>
                        <a:rPr lang="en-US" sz="1300" dirty="0">
                          <a:latin typeface="Arial" panose="020B0604020202020204" pitchFamily="34" charset="0"/>
                          <a:cs typeface="Arial" panose="020B0604020202020204" pitchFamily="34" charset="0"/>
                        </a:rPr>
                        <a:t>25%</a:t>
                      </a:r>
                      <a:endParaRPr lang="en-MY" sz="13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87514119"/>
                  </a:ext>
                </a:extLst>
              </a:tr>
              <a:tr h="216000">
                <a:tc>
                  <a:txBody>
                    <a:bodyPr/>
                    <a:lstStyle/>
                    <a:p>
                      <a:r>
                        <a:rPr lang="en-US" sz="1300" dirty="0">
                          <a:solidFill>
                            <a:srgbClr val="FF0000"/>
                          </a:solidFill>
                          <a:latin typeface="Arial" panose="020B0604020202020204" pitchFamily="34" charset="0"/>
                          <a:cs typeface="Arial" panose="020B0604020202020204" pitchFamily="34" charset="0"/>
                        </a:rPr>
                        <a:t>Digital Maturity</a:t>
                      </a:r>
                      <a:endParaRPr lang="en-MY" sz="1300" dirty="0">
                        <a:solidFill>
                          <a:srgbClr val="FF0000"/>
                        </a:solidFill>
                        <a:latin typeface="Arial" panose="020B0604020202020204" pitchFamily="34" charset="0"/>
                        <a:cs typeface="Arial" panose="020B0604020202020204" pitchFamily="34" charset="0"/>
                      </a:endParaRPr>
                    </a:p>
                  </a:txBody>
                  <a:tcPr/>
                </a:tc>
                <a:tc>
                  <a:txBody>
                    <a:bodyPr/>
                    <a:lstStyle/>
                    <a:p>
                      <a:pPr algn="ctr"/>
                      <a:r>
                        <a:rPr lang="en-US" sz="1300" dirty="0">
                          <a:latin typeface="Arial" panose="020B0604020202020204" pitchFamily="34" charset="0"/>
                          <a:cs typeface="Arial" panose="020B0604020202020204" pitchFamily="34" charset="0"/>
                        </a:rPr>
                        <a:t>15%</a:t>
                      </a:r>
                      <a:endParaRPr lang="en-MY" sz="13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35187006"/>
                  </a:ext>
                </a:extLst>
              </a:tr>
              <a:tr h="216000">
                <a:tc>
                  <a:txBody>
                    <a:bodyPr/>
                    <a:lstStyle/>
                    <a:p>
                      <a:r>
                        <a:rPr lang="en-US" sz="1300" dirty="0">
                          <a:latin typeface="Arial" panose="020B0604020202020204" pitchFamily="34" charset="0"/>
                          <a:cs typeface="Arial" panose="020B0604020202020204" pitchFamily="34" charset="0"/>
                        </a:rPr>
                        <a:t>ESG Readiness</a:t>
                      </a:r>
                      <a:endParaRPr lang="en-MY" sz="1300" dirty="0">
                        <a:latin typeface="Arial" panose="020B0604020202020204" pitchFamily="34" charset="0"/>
                        <a:cs typeface="Arial" panose="020B0604020202020204" pitchFamily="34" charset="0"/>
                      </a:endParaRPr>
                    </a:p>
                  </a:txBody>
                  <a:tcPr/>
                </a:tc>
                <a:tc>
                  <a:txBody>
                    <a:bodyPr/>
                    <a:lstStyle/>
                    <a:p>
                      <a:pPr algn="ctr"/>
                      <a:r>
                        <a:rPr lang="en-US" sz="1300" dirty="0">
                          <a:latin typeface="Arial" panose="020B0604020202020204" pitchFamily="34" charset="0"/>
                          <a:cs typeface="Arial" panose="020B0604020202020204" pitchFamily="34" charset="0"/>
                        </a:rPr>
                        <a:t>10%</a:t>
                      </a:r>
                      <a:endParaRPr lang="en-MY" sz="13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56005924"/>
                  </a:ext>
                </a:extLst>
              </a:tr>
              <a:tr h="216000">
                <a:tc>
                  <a:txBody>
                    <a:bodyPr/>
                    <a:lstStyle/>
                    <a:p>
                      <a:r>
                        <a:rPr lang="en-US" sz="1300" dirty="0">
                          <a:latin typeface="Arial" panose="020B0604020202020204" pitchFamily="34" charset="0"/>
                          <a:cs typeface="Arial" panose="020B0604020202020204" pitchFamily="34" charset="0"/>
                        </a:rPr>
                        <a:t>EPC Engagement</a:t>
                      </a:r>
                      <a:endParaRPr lang="en-MY" sz="1300" dirty="0">
                        <a:latin typeface="Arial" panose="020B0604020202020204" pitchFamily="34" charset="0"/>
                        <a:cs typeface="Arial" panose="020B0604020202020204" pitchFamily="34" charset="0"/>
                      </a:endParaRPr>
                    </a:p>
                  </a:txBody>
                  <a:tcPr/>
                </a:tc>
                <a:tc>
                  <a:txBody>
                    <a:bodyPr/>
                    <a:lstStyle/>
                    <a:p>
                      <a:pPr algn="ctr"/>
                      <a:r>
                        <a:rPr lang="en-US" sz="1300" dirty="0">
                          <a:latin typeface="Arial" panose="020B0604020202020204" pitchFamily="34" charset="0"/>
                          <a:cs typeface="Arial" panose="020B0604020202020204" pitchFamily="34" charset="0"/>
                        </a:rPr>
                        <a:t>20%</a:t>
                      </a:r>
                      <a:endParaRPr lang="en-MY" sz="13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69105204"/>
                  </a:ext>
                </a:extLst>
              </a:tr>
            </a:tbl>
          </a:graphicData>
        </a:graphic>
      </p:graphicFrame>
    </p:spTree>
    <p:extLst>
      <p:ext uri="{BB962C8B-B14F-4D97-AF65-F5344CB8AC3E}">
        <p14:creationId xmlns:p14="http://schemas.microsoft.com/office/powerpoint/2010/main" val="4196759117"/>
      </p:ext>
    </p:extLst>
  </p:cSld>
  <p:clrMapOvr>
    <a:masterClrMapping/>
  </p:clrMapOvr>
  <p:transition spd="med"/>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38BFE-C682-5BA7-0AF2-B66DEF2DB9E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55632D9-1390-D726-B34A-13A350A842E0}"/>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a:t>
            </a:r>
            <a:endParaRPr lang="en-MY" sz="2025" b="1" dirty="0"/>
          </a:p>
        </p:txBody>
      </p:sp>
      <p:graphicFrame>
        <p:nvGraphicFramePr>
          <p:cNvPr id="6" name="Diagram 5">
            <a:extLst>
              <a:ext uri="{FF2B5EF4-FFF2-40B4-BE49-F238E27FC236}">
                <a16:creationId xmlns:a16="http://schemas.microsoft.com/office/drawing/2014/main" id="{9596A348-FA29-12F1-BA50-4F8579880C00}"/>
              </a:ext>
            </a:extLst>
          </p:cNvPr>
          <p:cNvGraphicFramePr/>
          <p:nvPr>
            <p:extLst>
              <p:ext uri="{D42A27DB-BD31-4B8C-83A1-F6EECF244321}">
                <p14:modId xmlns:p14="http://schemas.microsoft.com/office/powerpoint/2010/main" val="3580734180"/>
              </p:ext>
            </p:extLst>
          </p:nvPr>
        </p:nvGraphicFramePr>
        <p:xfrm>
          <a:off x="212176" y="1307591"/>
          <a:ext cx="11767647" cy="3687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107107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5CAC5-3DE4-B42F-82E0-30C96E8A39F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4F3B451-EB4E-7F72-C4E9-D0C5FCD79494}"/>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1: SME Master Profile</a:t>
            </a:r>
            <a:endParaRPr lang="en-MY" sz="2025" b="1" dirty="0"/>
          </a:p>
        </p:txBody>
      </p:sp>
      <p:graphicFrame>
        <p:nvGraphicFramePr>
          <p:cNvPr id="3" name="Table 2">
            <a:extLst>
              <a:ext uri="{FF2B5EF4-FFF2-40B4-BE49-F238E27FC236}">
                <a16:creationId xmlns:a16="http://schemas.microsoft.com/office/drawing/2014/main" id="{0956995D-A4EA-5C05-F232-EE0401DDA126}"/>
              </a:ext>
            </a:extLst>
          </p:cNvPr>
          <p:cNvGraphicFramePr>
            <a:graphicFrameLocks noGrp="1"/>
          </p:cNvGraphicFramePr>
          <p:nvPr>
            <p:extLst>
              <p:ext uri="{D42A27DB-BD31-4B8C-83A1-F6EECF244321}">
                <p14:modId xmlns:p14="http://schemas.microsoft.com/office/powerpoint/2010/main" val="1323301302"/>
              </p:ext>
            </p:extLst>
          </p:nvPr>
        </p:nvGraphicFramePr>
        <p:xfrm>
          <a:off x="337271" y="742526"/>
          <a:ext cx="11517458" cy="6101457"/>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Layer 1: SME Master Profile</a:t>
                      </a:r>
                    </a:p>
                    <a:p>
                      <a:pPr fontAlgn="t">
                        <a:lnSpc>
                          <a:spcPct val="150000"/>
                        </a:lnSpc>
                        <a:buNone/>
                      </a:pPr>
                      <a:r>
                        <a:rPr lang="en-MY" sz="1500" b="0" i="0" dirty="0">
                          <a:effectLst/>
                          <a:latin typeface="Arial" panose="020B0604020202020204" pitchFamily="34" charset="0"/>
                          <a:cs typeface="Arial" panose="020B0604020202020204" pitchFamily="34" charset="0"/>
                        </a:rPr>
                        <a:t>This becomes your "single source of truth" for every SME.</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5415657">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Company Information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Company registration number (SSM)</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Business name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Industry (MSIC code)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Sector </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Manufacturing</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Services</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Agriculture</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Construction</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Technology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Years in operation</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Ownership structure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Bumiputera status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Women-owned status</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Youth-owned status</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Location </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State</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District</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Urban/Rural</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SME size category </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Micro</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Small</a:t>
                      </a:r>
                    </a:p>
                    <a:p>
                      <a:pPr marL="742950" lvl="1" indent="-285750" fontAlgn="t">
                        <a:lnSpc>
                          <a:spcPct val="150000"/>
                        </a:lnSpc>
                        <a:buFont typeface="Wingdings" panose="05000000000000000000" pitchFamily="2" charset="2"/>
                        <a:buChar char="q"/>
                      </a:pPr>
                      <a:r>
                        <a:rPr lang="en-MY" sz="1500" b="0" i="0" dirty="0">
                          <a:effectLst/>
                          <a:latin typeface="Arial" panose="020B0604020202020204" pitchFamily="34" charset="0"/>
                          <a:cs typeface="Arial" panose="020B0604020202020204" pitchFamily="34" charset="0"/>
                        </a:rPr>
                        <a:t>Medium</a:t>
                      </a:r>
                      <a:endParaRPr lang="en-MY" sz="1500" b="1" i="0" dirty="0">
                        <a:effectLst/>
                        <a:latin typeface="Arial" panose="020B0604020202020204" pitchFamily="34" charset="0"/>
                        <a:cs typeface="Arial" panose="020B0604020202020204" pitchFamily="34" charset="0"/>
                      </a:endParaRPr>
                    </a:p>
                    <a:p>
                      <a:pPr fontAlgn="t">
                        <a:lnSpc>
                          <a:spcPct val="150000"/>
                        </a:lnSpc>
                        <a:buNone/>
                      </a:pPr>
                      <a:r>
                        <a:rPr lang="en-MY" sz="1500" b="1" i="0" dirty="0">
                          <a:effectLst/>
                          <a:latin typeface="Arial" panose="020B0604020202020204" pitchFamily="34" charset="0"/>
                          <a:cs typeface="Arial" panose="020B0604020202020204" pitchFamily="34" charset="0"/>
                        </a:rPr>
                        <a:t>Key Contacts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Founder</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CEO</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CFO</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Contact details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Succession planning status</a:t>
                      </a:r>
                    </a:p>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746782886"/>
      </p:ext>
    </p:extLst>
  </p:cSld>
  <p:clrMapOvr>
    <a:masterClrMapping/>
  </p:clrMapOvr>
  <p:transition spd="med"/>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1EB5-C30B-4BC9-93A5-7E8F40DE1A7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C90F08B-D19C-469A-8C52-66370A472C06}"/>
              </a:ext>
            </a:extLst>
          </p:cNvPr>
          <p:cNvSpPr txBox="1">
            <a:spLocks/>
          </p:cNvSpPr>
          <p:nvPr/>
        </p:nvSpPr>
        <p:spPr>
          <a:xfrm>
            <a:off x="62403" y="152737"/>
            <a:ext cx="9464040"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2: Financing Intelligence</a:t>
            </a:r>
            <a:endParaRPr lang="en-MY" sz="2025" b="1" dirty="0"/>
          </a:p>
        </p:txBody>
      </p:sp>
      <p:graphicFrame>
        <p:nvGraphicFramePr>
          <p:cNvPr id="3" name="Table 2">
            <a:extLst>
              <a:ext uri="{FF2B5EF4-FFF2-40B4-BE49-F238E27FC236}">
                <a16:creationId xmlns:a16="http://schemas.microsoft.com/office/drawing/2014/main" id="{5233CB04-8A1A-F133-48CC-57C3DA3B1103}"/>
              </a:ext>
            </a:extLst>
          </p:cNvPr>
          <p:cNvGraphicFramePr>
            <a:graphicFrameLocks noGrp="1"/>
          </p:cNvGraphicFramePr>
          <p:nvPr>
            <p:extLst>
              <p:ext uri="{D42A27DB-BD31-4B8C-83A1-F6EECF244321}">
                <p14:modId xmlns:p14="http://schemas.microsoft.com/office/powerpoint/2010/main" val="623668357"/>
              </p:ext>
            </p:extLst>
          </p:nvPr>
        </p:nvGraphicFramePr>
        <p:xfrm>
          <a:off x="337271" y="742526"/>
          <a:ext cx="11517458" cy="6101457"/>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Layer 2: Financing Intelligence</a:t>
                      </a:r>
                    </a:p>
                    <a:p>
                      <a:pPr fontAlgn="t">
                        <a:lnSpc>
                          <a:spcPct val="150000"/>
                        </a:lnSpc>
                        <a:buNone/>
                      </a:pPr>
                      <a:r>
                        <a:rPr lang="en-MY" sz="1500" b="0" i="0" dirty="0">
                          <a:effectLst/>
                          <a:latin typeface="Arial" panose="020B0604020202020204" pitchFamily="34" charset="0"/>
                          <a:cs typeface="Arial" panose="020B0604020202020204" pitchFamily="34" charset="0"/>
                        </a:rPr>
                        <a:t>This becomes our strongest dataset.</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5415657">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Financing Portfolio</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Financing product type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Purpose of financing</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Approved amount</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Disbursed amount</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Tenure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Profit/interest rate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Security/collateral</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Guarantee scheme coverage</a:t>
                      </a:r>
                    </a:p>
                    <a:p>
                      <a:pPr fontAlgn="t">
                        <a:lnSpc>
                          <a:spcPct val="150000"/>
                        </a:lnSpc>
                        <a:buNone/>
                      </a:pPr>
                      <a:r>
                        <a:rPr lang="en-MY" sz="1500" b="1" i="0" dirty="0">
                          <a:effectLst/>
                          <a:latin typeface="Arial" panose="020B0604020202020204" pitchFamily="34" charset="0"/>
                          <a:cs typeface="Arial" panose="020B0604020202020204" pitchFamily="34" charset="0"/>
                        </a:rPr>
                        <a:t>Repayment Behaviour</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Repayment history</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Days past due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Restructuring history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NPL &amp; Delinquency score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Collection activities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Relationship Indicators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Number of facilities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Lifetime value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Cross-selling products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Deposit relationships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Digital banking usage</a:t>
                      </a:r>
                    </a:p>
                    <a:p>
                      <a:pPr marL="0" lvl="0" indent="0" fontAlgn="t">
                        <a:lnSpc>
                          <a:spcPct val="150000"/>
                        </a:lnSpc>
                        <a:buFont typeface="Arial" panose="020B0604020202020204" pitchFamily="34" charset="0"/>
                        <a:buNone/>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936131594"/>
      </p:ext>
    </p:extLst>
  </p:cSld>
  <p:clrMapOvr>
    <a:masterClrMapping/>
  </p:clrMapOvr>
  <p:transition spd="med"/>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41F07-4C6B-5C31-D21B-86D90725DF8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C8B181-17DC-2C6A-5F75-D428131985EB}"/>
              </a:ext>
            </a:extLst>
          </p:cNvPr>
          <p:cNvSpPr txBox="1">
            <a:spLocks/>
          </p:cNvSpPr>
          <p:nvPr/>
        </p:nvSpPr>
        <p:spPr>
          <a:xfrm>
            <a:off x="62402" y="152737"/>
            <a:ext cx="1017887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3: Business Performance Data</a:t>
            </a:r>
            <a:endParaRPr lang="en-MY" sz="2025" b="1" dirty="0"/>
          </a:p>
        </p:txBody>
      </p:sp>
      <p:graphicFrame>
        <p:nvGraphicFramePr>
          <p:cNvPr id="3" name="Table 2">
            <a:extLst>
              <a:ext uri="{FF2B5EF4-FFF2-40B4-BE49-F238E27FC236}">
                <a16:creationId xmlns:a16="http://schemas.microsoft.com/office/drawing/2014/main" id="{2C1DEA3C-B478-712C-303A-F4D730DB34F2}"/>
              </a:ext>
            </a:extLst>
          </p:cNvPr>
          <p:cNvGraphicFramePr>
            <a:graphicFrameLocks noGrp="1"/>
          </p:cNvGraphicFramePr>
          <p:nvPr>
            <p:extLst>
              <p:ext uri="{D42A27DB-BD31-4B8C-83A1-F6EECF244321}">
                <p14:modId xmlns:p14="http://schemas.microsoft.com/office/powerpoint/2010/main" val="3070676687"/>
              </p:ext>
            </p:extLst>
          </p:nvPr>
        </p:nvGraphicFramePr>
        <p:xfrm>
          <a:off x="337271" y="788246"/>
          <a:ext cx="11517458" cy="5920740"/>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Layer 3: Business Performance Data</a:t>
                      </a:r>
                    </a:p>
                    <a:p>
                      <a:pPr fontAlgn="t">
                        <a:lnSpc>
                          <a:spcPct val="150000"/>
                        </a:lnSpc>
                        <a:buNone/>
                      </a:pPr>
                      <a:r>
                        <a:rPr lang="en-MY" sz="1500" b="0" i="0" dirty="0">
                          <a:effectLst/>
                          <a:latin typeface="Arial" panose="020B0604020202020204" pitchFamily="34" charset="0"/>
                          <a:cs typeface="Arial" panose="020B0604020202020204" pitchFamily="34" charset="0"/>
                        </a:rPr>
                        <a:t>This most critical component but hardest to acquire.</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Financial Metrics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Revenue</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Revenue growth</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EBITDA</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Net profit</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Gross margin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Operating margin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Cash balance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Debt-to-equity ratio</a:t>
                      </a:r>
                    </a:p>
                    <a:p>
                      <a:pPr fontAlgn="t">
                        <a:lnSpc>
                          <a:spcPct val="150000"/>
                        </a:lnSpc>
                        <a:buNone/>
                      </a:pPr>
                      <a:r>
                        <a:rPr lang="en-MY" sz="1500" b="1" i="0" dirty="0">
                          <a:effectLst/>
                          <a:latin typeface="Arial" panose="020B0604020202020204" pitchFamily="34" charset="0"/>
                          <a:cs typeface="Arial" panose="020B0604020202020204" pitchFamily="34" charset="0"/>
                        </a:rPr>
                        <a:t>Business Metrics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Number of employees</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Employee growth</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Export &amp; Domestic sales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Number of branches</a:t>
                      </a:r>
                    </a:p>
                    <a:p>
                      <a:pPr marL="342900" lvl="0" indent="-342900" fontAlgn="t">
                        <a:lnSpc>
                          <a:spcPct val="150000"/>
                        </a:lnSpc>
                        <a:buFont typeface="Arial" panose="020B0604020202020204" pitchFamily="34" charset="0"/>
                        <a:buChar char="•"/>
                      </a:pPr>
                      <a:r>
                        <a:rPr lang="en-MY" sz="1500" b="0" i="0" dirty="0">
                          <a:solidFill>
                            <a:srgbClr val="FF0000"/>
                          </a:solidFill>
                          <a:effectLst/>
                          <a:latin typeface="Arial" panose="020B0604020202020204" pitchFamily="34" charset="0"/>
                          <a:cs typeface="Arial" panose="020B0604020202020204" pitchFamily="34" charset="0"/>
                        </a:rPr>
                        <a:t>Market share estimate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Productivity Indicators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Revenue per employee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Asset turnover</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Inventory turnover</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Capacity utilization</a:t>
                      </a:r>
                    </a:p>
                    <a:p>
                      <a:pPr marL="0" lvl="0" indent="0" fontAlgn="t">
                        <a:lnSpc>
                          <a:spcPct val="150000"/>
                        </a:lnSpc>
                        <a:buFont typeface="Arial" panose="020B0604020202020204" pitchFamily="34" charset="0"/>
                        <a:buNone/>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564705196"/>
      </p:ext>
    </p:extLst>
  </p:cSld>
  <p:clrMapOvr>
    <a:masterClrMapping/>
  </p:clrMapOvr>
  <p:transition spd="med"/>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6A00-6493-C311-504E-41BD685BB83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D68E2C0-4135-EFFF-210D-38D58A98D2D7}"/>
              </a:ext>
            </a:extLst>
          </p:cNvPr>
          <p:cNvSpPr txBox="1">
            <a:spLocks/>
          </p:cNvSpPr>
          <p:nvPr/>
        </p:nvSpPr>
        <p:spPr>
          <a:xfrm>
            <a:off x="62402" y="152737"/>
            <a:ext cx="1017887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4: EPC Development Data</a:t>
            </a:r>
            <a:endParaRPr lang="en-MY" sz="2025" b="1" dirty="0"/>
          </a:p>
        </p:txBody>
      </p:sp>
      <p:graphicFrame>
        <p:nvGraphicFramePr>
          <p:cNvPr id="3" name="Table 2">
            <a:extLst>
              <a:ext uri="{FF2B5EF4-FFF2-40B4-BE49-F238E27FC236}">
                <a16:creationId xmlns:a16="http://schemas.microsoft.com/office/drawing/2014/main" id="{9353D6F9-2BDD-443A-E209-3672004AB094}"/>
              </a:ext>
            </a:extLst>
          </p:cNvPr>
          <p:cNvGraphicFramePr>
            <a:graphicFrameLocks noGrp="1"/>
          </p:cNvGraphicFramePr>
          <p:nvPr>
            <p:extLst>
              <p:ext uri="{D42A27DB-BD31-4B8C-83A1-F6EECF244321}">
                <p14:modId xmlns:p14="http://schemas.microsoft.com/office/powerpoint/2010/main" val="705625619"/>
              </p:ext>
            </p:extLst>
          </p:nvPr>
        </p:nvGraphicFramePr>
        <p:xfrm>
          <a:off x="337271" y="788246"/>
          <a:ext cx="11517458" cy="5920740"/>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500" b="1" dirty="0">
                          <a:latin typeface="Arial" panose="020B0604020202020204" pitchFamily="34" charset="0"/>
                          <a:cs typeface="Arial" panose="020B0604020202020204" pitchFamily="34" charset="0"/>
                        </a:rPr>
                        <a:t>Layer 4: EPC Development Data</a:t>
                      </a:r>
                      <a:endParaRPr lang="en-MY" sz="1500" b="1" i="0" dirty="0">
                        <a:effectLst/>
                        <a:latin typeface="Arial" panose="020B0604020202020204" pitchFamily="34" charset="0"/>
                        <a:cs typeface="Arial" panose="020B0604020202020204" pitchFamily="34" charset="0"/>
                      </a:endParaRPr>
                    </a:p>
                    <a:p>
                      <a:pPr fontAlgn="t">
                        <a:lnSpc>
                          <a:spcPct val="150000"/>
                        </a:lnSpc>
                        <a:buNone/>
                      </a:pPr>
                      <a:r>
                        <a:rPr lang="en-MY" sz="1500" b="0" i="0" dirty="0">
                          <a:effectLst/>
                          <a:latin typeface="Arial" panose="020B0604020202020204" pitchFamily="34" charset="0"/>
                          <a:cs typeface="Arial" panose="020B0604020202020204" pitchFamily="34" charset="0"/>
                        </a:rPr>
                        <a:t>This data is where SDS can be differentiated from other analytics.</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Programme Participation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EPC registration date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Programmes attended</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Hours of training</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Coaching sessions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Advisory engagements</a:t>
                      </a:r>
                    </a:p>
                    <a:p>
                      <a:pPr fontAlgn="t">
                        <a:lnSpc>
                          <a:spcPct val="150000"/>
                        </a:lnSpc>
                        <a:buNone/>
                      </a:pPr>
                      <a:r>
                        <a:rPr lang="en-MY" sz="1500" b="1" i="0" dirty="0">
                          <a:effectLst/>
                          <a:latin typeface="Arial" panose="020B0604020202020204" pitchFamily="34" charset="0"/>
                          <a:cs typeface="Arial" panose="020B0604020202020204" pitchFamily="34" charset="0"/>
                        </a:rPr>
                        <a:t>Intervention Tracking</a:t>
                      </a:r>
                    </a:p>
                    <a:p>
                      <a:pPr marL="28575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Intervention type</a:t>
                      </a:r>
                    </a:p>
                    <a:p>
                      <a:pPr marL="28575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Intervention cost</a:t>
                      </a:r>
                    </a:p>
                    <a:p>
                      <a:pPr marL="28575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Date</a:t>
                      </a:r>
                    </a:p>
                    <a:p>
                      <a:pPr marL="28575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Consultant assigned </a:t>
                      </a:r>
                    </a:p>
                    <a:p>
                      <a:pPr marL="28575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Completion status</a:t>
                      </a:r>
                    </a:p>
                    <a:p>
                      <a:pPr marL="0" indent="0" fontAlgn="t">
                        <a:lnSpc>
                          <a:spcPct val="150000"/>
                        </a:lnSpc>
                        <a:buFont typeface="Arial" panose="020B0604020202020204" pitchFamily="34" charset="0"/>
                        <a:buNone/>
                      </a:pPr>
                      <a:r>
                        <a:rPr lang="en-MY" sz="1500" b="0" i="0" dirty="0">
                          <a:effectLst/>
                          <a:latin typeface="Arial" panose="020B0604020202020204" pitchFamily="34" charset="0"/>
                          <a:cs typeface="Arial" panose="020B0604020202020204" pitchFamily="34" charset="0"/>
                        </a:rPr>
                        <a:t>Example:</a:t>
                      </a:r>
                    </a:p>
                    <a:p>
                      <a:pPr marL="0" indent="0" fontAlgn="t">
                        <a:lnSpc>
                          <a:spcPct val="150000"/>
                        </a:lnSpc>
                        <a:buFont typeface="Arial" panose="020B0604020202020204" pitchFamily="34" charset="0"/>
                        <a:buNone/>
                      </a:pPr>
                      <a:r>
                        <a:rPr lang="en-MY" sz="1500" b="0" i="0" dirty="0">
                          <a:effectLst/>
                          <a:latin typeface="Arial" panose="020B0604020202020204" pitchFamily="34" charset="0"/>
                          <a:cs typeface="Arial" panose="020B0604020202020204" pitchFamily="34" charset="0"/>
                        </a:rPr>
                        <a:t>“SMEs receiving export readiness coaching experienced 18% higher revenue growth.”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Capability Development</a:t>
                      </a:r>
                    </a:p>
                    <a:p>
                      <a:pPr fontAlgn="t">
                        <a:lnSpc>
                          <a:spcPct val="150000"/>
                        </a:lnSpc>
                        <a:buNone/>
                      </a:pPr>
                      <a:r>
                        <a:rPr lang="en-MY" sz="1500" b="0" i="0" dirty="0">
                          <a:effectLst/>
                          <a:latin typeface="Arial" panose="020B0604020202020204" pitchFamily="34" charset="0"/>
                          <a:cs typeface="Arial" panose="020B0604020202020204" pitchFamily="34" charset="0"/>
                        </a:rPr>
                        <a:t>Score each SME before and after intervention.</a:t>
                      </a:r>
                    </a:p>
                    <a:p>
                      <a:pPr fontAlgn="t">
                        <a:lnSpc>
                          <a:spcPct val="150000"/>
                        </a:lnSpc>
                        <a:buNone/>
                      </a:pPr>
                      <a:r>
                        <a:rPr lang="en-MY" sz="1500" b="0" i="0" dirty="0">
                          <a:effectLst/>
                          <a:latin typeface="Arial" panose="020B0604020202020204" pitchFamily="34" charset="0"/>
                          <a:cs typeface="Arial" panose="020B0604020202020204" pitchFamily="34" charset="0"/>
                        </a:rPr>
                        <a:t>Examples:</a:t>
                      </a:r>
                    </a:p>
                    <a:p>
                      <a:pPr fontAlgn="t">
                        <a:lnSpc>
                          <a:spcPct val="150000"/>
                        </a:lnSpc>
                        <a:buNone/>
                      </a:pPr>
                      <a:endParaRPr lang="en-MY" sz="1500" b="0" i="0" dirty="0">
                        <a:effectLst/>
                        <a:latin typeface="Arial" panose="020B0604020202020204" pitchFamily="34" charset="0"/>
                        <a:cs typeface="Arial" panose="020B0604020202020204" pitchFamily="34" charset="0"/>
                      </a:endParaRPr>
                    </a:p>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graphicFrame>
        <p:nvGraphicFramePr>
          <p:cNvPr id="2" name="Table 1">
            <a:extLst>
              <a:ext uri="{FF2B5EF4-FFF2-40B4-BE49-F238E27FC236}">
                <a16:creationId xmlns:a16="http://schemas.microsoft.com/office/drawing/2014/main" id="{A28005C1-8510-EBA1-5526-EC90E701B13E}"/>
              </a:ext>
            </a:extLst>
          </p:cNvPr>
          <p:cNvGraphicFramePr>
            <a:graphicFrameLocks noGrp="1"/>
          </p:cNvGraphicFramePr>
          <p:nvPr>
            <p:extLst>
              <p:ext uri="{D42A27DB-BD31-4B8C-83A1-F6EECF244321}">
                <p14:modId xmlns:p14="http://schemas.microsoft.com/office/powerpoint/2010/main" val="3354615196"/>
              </p:ext>
            </p:extLst>
          </p:nvPr>
        </p:nvGraphicFramePr>
        <p:xfrm>
          <a:off x="6177280" y="2685626"/>
          <a:ext cx="5515610" cy="2560320"/>
        </p:xfrm>
        <a:graphic>
          <a:graphicData uri="http://schemas.openxmlformats.org/drawingml/2006/table">
            <a:tbl>
              <a:tblPr firstRow="1" bandRow="1">
                <a:tableStyleId>{5940675A-B579-460E-94D1-54222C63F5DA}</a:tableStyleId>
              </a:tblPr>
              <a:tblGrid>
                <a:gridCol w="2757805">
                  <a:extLst>
                    <a:ext uri="{9D8B030D-6E8A-4147-A177-3AD203B41FA5}">
                      <a16:colId xmlns:a16="http://schemas.microsoft.com/office/drawing/2014/main" val="2248367735"/>
                    </a:ext>
                  </a:extLst>
                </a:gridCol>
                <a:gridCol w="2757805">
                  <a:extLst>
                    <a:ext uri="{9D8B030D-6E8A-4147-A177-3AD203B41FA5}">
                      <a16:colId xmlns:a16="http://schemas.microsoft.com/office/drawing/2014/main" val="3685407430"/>
                    </a:ext>
                  </a:extLst>
                </a:gridCol>
              </a:tblGrid>
              <a:tr h="252000">
                <a:tc>
                  <a:txBody>
                    <a:bodyPr/>
                    <a:lstStyle/>
                    <a:p>
                      <a:pPr algn="ctr"/>
                      <a:r>
                        <a:rPr lang="en-US" sz="1500" b="1" dirty="0">
                          <a:solidFill>
                            <a:schemeClr val="bg1"/>
                          </a:solidFill>
                          <a:latin typeface="Arial" panose="020B0604020202020204" pitchFamily="34" charset="0"/>
                          <a:cs typeface="Arial" panose="020B0604020202020204" pitchFamily="34" charset="0"/>
                        </a:rPr>
                        <a:t>Dimension</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tc>
                  <a:txBody>
                    <a:bodyPr/>
                    <a:lstStyle/>
                    <a:p>
                      <a:pPr algn="ctr"/>
                      <a:r>
                        <a:rPr lang="en-US" sz="1500" b="1" dirty="0">
                          <a:solidFill>
                            <a:schemeClr val="bg1"/>
                          </a:solidFill>
                          <a:latin typeface="Arial" panose="020B0604020202020204" pitchFamily="34" charset="0"/>
                          <a:cs typeface="Arial" panose="020B0604020202020204" pitchFamily="34" charset="0"/>
                        </a:rPr>
                        <a:t>Score</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extLst>
                  <a:ext uri="{0D108BD9-81ED-4DB2-BD59-A6C34878D82A}">
                    <a16:rowId xmlns:a16="http://schemas.microsoft.com/office/drawing/2014/main" val="1017002006"/>
                  </a:ext>
                </a:extLst>
              </a:tr>
              <a:tr h="252000">
                <a:tc>
                  <a:txBody>
                    <a:bodyPr/>
                    <a:lstStyle/>
                    <a:p>
                      <a:r>
                        <a:rPr lang="en-US" sz="1500" dirty="0">
                          <a:latin typeface="Arial" panose="020B0604020202020204" pitchFamily="34" charset="0"/>
                          <a:cs typeface="Arial" panose="020B0604020202020204" pitchFamily="34" charset="0"/>
                        </a:rPr>
                        <a:t>Leadership</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1-10</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53375732"/>
                  </a:ext>
                </a:extLst>
              </a:tr>
              <a:tr h="252000">
                <a:tc>
                  <a:txBody>
                    <a:bodyPr/>
                    <a:lstStyle/>
                    <a:p>
                      <a:r>
                        <a:rPr lang="en-US" sz="1500" dirty="0">
                          <a:latin typeface="Arial" panose="020B0604020202020204" pitchFamily="34" charset="0"/>
                          <a:cs typeface="Arial" panose="020B0604020202020204" pitchFamily="34" charset="0"/>
                        </a:rPr>
                        <a:t>Financial Management</a:t>
                      </a:r>
                      <a:endParaRPr lang="en-MY" sz="1500" dirty="0">
                        <a:latin typeface="Arial" panose="020B0604020202020204" pitchFamily="34" charset="0"/>
                        <a:cs typeface="Arial" panose="020B0604020202020204" pitchFamily="34" charset="0"/>
                      </a:endParaRPr>
                    </a:p>
                  </a:txBody>
                  <a:tcPr anchor="ctr"/>
                </a:tc>
                <a:tc>
                  <a:txBody>
                    <a:bodyPr/>
                    <a:lstStyle/>
                    <a:p>
                      <a:pPr algn="ct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1-10</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13856125"/>
                  </a:ext>
                </a:extLst>
              </a:tr>
              <a:tr h="252000">
                <a:tc>
                  <a:txBody>
                    <a:bodyPr/>
                    <a:lstStyle/>
                    <a:p>
                      <a:r>
                        <a:rPr lang="en-US" sz="1500" dirty="0">
                          <a:latin typeface="Arial" panose="020B0604020202020204" pitchFamily="34" charset="0"/>
                          <a:cs typeface="Arial" panose="020B0604020202020204" pitchFamily="34" charset="0"/>
                        </a:rPr>
                        <a:t>Governance</a:t>
                      </a:r>
                      <a:endParaRPr lang="en-MY" sz="1500" dirty="0">
                        <a:latin typeface="Arial" panose="020B0604020202020204" pitchFamily="34" charset="0"/>
                        <a:cs typeface="Arial" panose="020B0604020202020204" pitchFamily="34" charset="0"/>
                      </a:endParaRPr>
                    </a:p>
                  </a:txBody>
                  <a:tcPr anchor="ctr"/>
                </a:tc>
                <a:tc>
                  <a:txBody>
                    <a:bodyPr/>
                    <a:lstStyle/>
                    <a:p>
                      <a:pPr algn="ct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1-10</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020093196"/>
                  </a:ext>
                </a:extLst>
              </a:tr>
              <a:tr h="252000">
                <a:tc>
                  <a:txBody>
                    <a:bodyPr/>
                    <a:lstStyle/>
                    <a:p>
                      <a:r>
                        <a:rPr lang="en-US" sz="1500" dirty="0">
                          <a:latin typeface="Arial" panose="020B0604020202020204" pitchFamily="34" charset="0"/>
                          <a:cs typeface="Arial" panose="020B0604020202020204" pitchFamily="34" charset="0"/>
                        </a:rPr>
                        <a:t>Digitalization</a:t>
                      </a:r>
                      <a:endParaRPr lang="en-MY" sz="1500" dirty="0">
                        <a:latin typeface="Arial" panose="020B0604020202020204" pitchFamily="34" charset="0"/>
                        <a:cs typeface="Arial" panose="020B0604020202020204" pitchFamily="34" charset="0"/>
                      </a:endParaRPr>
                    </a:p>
                  </a:txBody>
                  <a:tcPr anchor="ctr"/>
                </a:tc>
                <a:tc>
                  <a:txBody>
                    <a:bodyPr/>
                    <a:lstStyle/>
                    <a:p>
                      <a:pPr algn="ctr"/>
                      <a:r>
                        <a:rPr kumimoji="0" lang="en-US"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1-10</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57222189"/>
                  </a:ext>
                </a:extLst>
              </a:tr>
              <a:tr h="252000">
                <a:tc>
                  <a:txBody>
                    <a:bodyPr/>
                    <a:lstStyle/>
                    <a:p>
                      <a:r>
                        <a:rPr lang="en-US" sz="1500" dirty="0">
                          <a:latin typeface="Arial" panose="020B0604020202020204" pitchFamily="34" charset="0"/>
                          <a:cs typeface="Arial" panose="020B0604020202020204" pitchFamily="34" charset="0"/>
                        </a:rPr>
                        <a:t>Marketing</a:t>
                      </a:r>
                      <a:endParaRPr lang="en-MY" sz="1500" dirty="0">
                        <a:latin typeface="Arial" panose="020B0604020202020204" pitchFamily="34" charset="0"/>
                        <a:cs typeface="Arial" panose="020B0604020202020204" pitchFamily="34" charset="0"/>
                      </a:endParaRPr>
                    </a:p>
                  </a:txBody>
                  <a:tcPr anchor="ctr"/>
                </a:tc>
                <a:tc>
                  <a:txBody>
                    <a:bodyPr/>
                    <a:lstStyle/>
                    <a:p>
                      <a:pPr algn="ctr"/>
                      <a:r>
                        <a:rPr kumimoji="0" lang="en-US"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1-10</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86923714"/>
                  </a:ext>
                </a:extLst>
              </a:tr>
              <a:tr h="252000">
                <a:tc>
                  <a:txBody>
                    <a:bodyPr/>
                    <a:lstStyle/>
                    <a:p>
                      <a:r>
                        <a:rPr lang="en-US" sz="1500" dirty="0">
                          <a:latin typeface="Arial" panose="020B0604020202020204" pitchFamily="34" charset="0"/>
                          <a:cs typeface="Arial" panose="020B0604020202020204" pitchFamily="34" charset="0"/>
                        </a:rPr>
                        <a:t>Export Readiness</a:t>
                      </a:r>
                      <a:endParaRPr lang="en-MY" sz="1500" dirty="0">
                        <a:latin typeface="Arial" panose="020B0604020202020204" pitchFamily="34" charset="0"/>
                        <a:cs typeface="Arial" panose="020B0604020202020204" pitchFamily="34" charset="0"/>
                      </a:endParaRPr>
                    </a:p>
                  </a:txBody>
                  <a:tcPr anchor="ctr"/>
                </a:tc>
                <a:tc>
                  <a:txBody>
                    <a:bodyPr/>
                    <a:lstStyle/>
                    <a:p>
                      <a:pPr algn="ct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1-10</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99225636"/>
                  </a:ext>
                </a:extLst>
              </a:tr>
              <a:tr h="252000">
                <a:tc>
                  <a:txBody>
                    <a:bodyPr/>
                    <a:lstStyle/>
                    <a:p>
                      <a:r>
                        <a:rPr lang="en-US" sz="1500" b="1" dirty="0">
                          <a:solidFill>
                            <a:schemeClr val="bg1"/>
                          </a:solidFill>
                          <a:latin typeface="Arial" panose="020B0604020202020204" pitchFamily="34" charset="0"/>
                          <a:cs typeface="Arial" panose="020B0604020202020204" pitchFamily="34" charset="0"/>
                        </a:rPr>
                        <a:t>Intervention Score</a:t>
                      </a:r>
                      <a:endParaRPr lang="en-MY" sz="1500" b="1" dirty="0">
                        <a:solidFill>
                          <a:schemeClr val="bg1"/>
                        </a:solidFill>
                        <a:latin typeface="Arial" panose="020B0604020202020204" pitchFamily="34" charset="0"/>
                        <a:cs typeface="Arial" panose="020B0604020202020204" pitchFamily="34" charset="0"/>
                      </a:endParaRPr>
                    </a:p>
                  </a:txBody>
                  <a:tcPr anchor="ctr">
                    <a:solidFill>
                      <a:schemeClr val="tx1">
                        <a:lumMod val="75000"/>
                        <a:lumOff val="25000"/>
                      </a:schemeClr>
                    </a:solidFill>
                  </a:tcPr>
                </a:tc>
                <a:tc>
                  <a:txBody>
                    <a:bodyPr/>
                    <a:lstStyle/>
                    <a:p>
                      <a:pPr algn="ctr"/>
                      <a:r>
                        <a:rPr lang="en-US" sz="1500" b="1" dirty="0">
                          <a:solidFill>
                            <a:schemeClr val="bg1"/>
                          </a:solidFill>
                          <a:latin typeface="Arial" panose="020B0604020202020204" pitchFamily="34" charset="0"/>
                          <a:cs typeface="Arial" panose="020B0604020202020204" pitchFamily="34" charset="0"/>
                        </a:rPr>
                        <a:t>0-100%</a:t>
                      </a:r>
                      <a:endParaRPr lang="en-MY" sz="1500" b="1" dirty="0">
                        <a:solidFill>
                          <a:schemeClr val="bg1"/>
                        </a:solidFill>
                        <a:latin typeface="Arial" panose="020B0604020202020204" pitchFamily="34" charset="0"/>
                        <a:cs typeface="Arial" panose="020B0604020202020204" pitchFamily="34" charset="0"/>
                      </a:endParaRPr>
                    </a:p>
                  </a:txBody>
                  <a:tcPr anchor="ctr">
                    <a:solidFill>
                      <a:schemeClr val="tx1">
                        <a:lumMod val="75000"/>
                        <a:lumOff val="25000"/>
                      </a:schemeClr>
                    </a:solidFill>
                  </a:tcPr>
                </a:tc>
                <a:extLst>
                  <a:ext uri="{0D108BD9-81ED-4DB2-BD59-A6C34878D82A}">
                    <a16:rowId xmlns:a16="http://schemas.microsoft.com/office/drawing/2014/main" val="1437155939"/>
                  </a:ext>
                </a:extLst>
              </a:tr>
            </a:tbl>
          </a:graphicData>
        </a:graphic>
      </p:graphicFrame>
    </p:spTree>
    <p:extLst>
      <p:ext uri="{BB962C8B-B14F-4D97-AF65-F5344CB8AC3E}">
        <p14:creationId xmlns:p14="http://schemas.microsoft.com/office/powerpoint/2010/main" val="1868096250"/>
      </p:ext>
    </p:extLst>
  </p:cSld>
  <p:clrMapOvr>
    <a:masterClrMapping/>
  </p:clrMapOvr>
  <p:transition spd="med"/>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F854-2241-DD34-C700-488A1C26B81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9B28213-EC08-B02A-BA3A-4DB5923F5034}"/>
              </a:ext>
            </a:extLst>
          </p:cNvPr>
          <p:cNvSpPr txBox="1">
            <a:spLocks/>
          </p:cNvSpPr>
          <p:nvPr/>
        </p:nvSpPr>
        <p:spPr>
          <a:xfrm>
            <a:off x="62402" y="152737"/>
            <a:ext cx="1017887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5: ELSA Assessment Data</a:t>
            </a:r>
            <a:endParaRPr lang="en-MY" sz="2025" b="1" dirty="0"/>
          </a:p>
        </p:txBody>
      </p:sp>
      <p:graphicFrame>
        <p:nvGraphicFramePr>
          <p:cNvPr id="3" name="Table 2">
            <a:extLst>
              <a:ext uri="{FF2B5EF4-FFF2-40B4-BE49-F238E27FC236}">
                <a16:creationId xmlns:a16="http://schemas.microsoft.com/office/drawing/2014/main" id="{1C357659-4E74-4DB0-7EE0-A9092D25D28D}"/>
              </a:ext>
            </a:extLst>
          </p:cNvPr>
          <p:cNvGraphicFramePr>
            <a:graphicFrameLocks noGrp="1"/>
          </p:cNvGraphicFramePr>
          <p:nvPr>
            <p:extLst>
              <p:ext uri="{D42A27DB-BD31-4B8C-83A1-F6EECF244321}">
                <p14:modId xmlns:p14="http://schemas.microsoft.com/office/powerpoint/2010/main" val="3387743143"/>
              </p:ext>
            </p:extLst>
          </p:nvPr>
        </p:nvGraphicFramePr>
        <p:xfrm>
          <a:off x="337271" y="730672"/>
          <a:ext cx="11517458" cy="4800600"/>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600" b="1" dirty="0"/>
                        <a:t>Layer 5: ELSA Assessment Data</a:t>
                      </a:r>
                    </a:p>
                    <a:p>
                      <a:pPr fontAlgn="t">
                        <a:lnSpc>
                          <a:spcPct val="150000"/>
                        </a:lnSpc>
                        <a:buNone/>
                      </a:pPr>
                      <a:r>
                        <a:rPr lang="en-US" sz="1500" b="0" i="0" dirty="0">
                          <a:effectLst/>
                          <a:latin typeface="Arial" panose="020B0604020202020204" pitchFamily="34" charset="0"/>
                          <a:cs typeface="Arial" panose="020B0604020202020204" pitchFamily="34" charset="0"/>
                        </a:rPr>
                        <a:t>ELSA should be SDS SME health score engine.</a:t>
                      </a: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Assessment Dimensions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Financial Health</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Market Position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Operations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HR Capability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Governance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ESG Readiness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Digital Maturity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Innovation Capability</a:t>
                      </a:r>
                    </a:p>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fontAlgn="t">
                        <a:lnSpc>
                          <a:spcPct val="150000"/>
                        </a:lnSpc>
                        <a:buFont typeface="Arial" panose="020B0604020202020204" pitchFamily="34" charset="0"/>
                        <a:buNone/>
                      </a:pPr>
                      <a:r>
                        <a:rPr lang="en-MY" sz="1500" b="1" i="0" dirty="0">
                          <a:effectLst/>
                          <a:latin typeface="Arial" panose="020B0604020202020204" pitchFamily="34" charset="0"/>
                          <a:cs typeface="Arial" panose="020B0604020202020204" pitchFamily="34" charset="0"/>
                        </a:rPr>
                        <a:t>Scores:</a:t>
                      </a:r>
                    </a:p>
                    <a:p>
                      <a:pPr marL="0" lvl="0" indent="0" fontAlgn="t">
                        <a:lnSpc>
                          <a:spcPct val="150000"/>
                        </a:lnSpc>
                        <a:buFont typeface="Arial" panose="020B0604020202020204" pitchFamily="34" charset="0"/>
                        <a:buNone/>
                      </a:pPr>
                      <a:r>
                        <a:rPr lang="en-MY" sz="1500" b="0" i="0" dirty="0">
                          <a:effectLst/>
                          <a:latin typeface="Arial" panose="020B0604020202020204" pitchFamily="34" charset="0"/>
                          <a:cs typeface="Arial" panose="020B0604020202020204" pitchFamily="34" charset="0"/>
                        </a:rPr>
                        <a:t>Store: </a:t>
                      </a:r>
                    </a:p>
                    <a:p>
                      <a:pPr marL="285750" lvl="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Raw score</a:t>
                      </a:r>
                    </a:p>
                    <a:p>
                      <a:pPr marL="285750" lvl="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Weighted score</a:t>
                      </a:r>
                    </a:p>
                    <a:p>
                      <a:pPr marL="285750" lvl="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Benchmark score</a:t>
                      </a:r>
                    </a:p>
                    <a:p>
                      <a:pPr marL="285750" lvl="0" indent="-28575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Assessment score</a:t>
                      </a:r>
                    </a:p>
                    <a:p>
                      <a:pPr marL="0" lvl="0" indent="0" fontAlgn="t">
                        <a:lnSpc>
                          <a:spcPct val="150000"/>
                        </a:lnSpc>
                        <a:buFont typeface="Arial" panose="020B0604020202020204" pitchFamily="34" charset="0"/>
                        <a:buNone/>
                      </a:pPr>
                      <a:endParaRPr lang="en-MY" sz="1500" b="0" i="0" dirty="0">
                        <a:effectLst/>
                        <a:latin typeface="Arial" panose="020B0604020202020204" pitchFamily="34" charset="0"/>
                        <a:cs typeface="Arial" panose="020B0604020202020204" pitchFamily="34" charset="0"/>
                      </a:endParaRPr>
                    </a:p>
                    <a:p>
                      <a:pPr marL="0" lvl="0" indent="0" fontAlgn="t">
                        <a:lnSpc>
                          <a:spcPct val="150000"/>
                        </a:lnSpc>
                        <a:buFont typeface="Arial" panose="020B0604020202020204" pitchFamily="34" charset="0"/>
                        <a:buNone/>
                      </a:pPr>
                      <a:r>
                        <a:rPr lang="en-MY" sz="1500" b="1" i="0" dirty="0">
                          <a:effectLst/>
                          <a:latin typeface="Arial" panose="020B0604020202020204" pitchFamily="34" charset="0"/>
                          <a:cs typeface="Arial" panose="020B0604020202020204" pitchFamily="34" charset="0"/>
                        </a:rPr>
                        <a:t>Historical Tracking</a:t>
                      </a:r>
                    </a:p>
                    <a:p>
                      <a:pPr marL="0" lvl="0" indent="0" fontAlgn="t">
                        <a:lnSpc>
                          <a:spcPct val="150000"/>
                        </a:lnSpc>
                        <a:buFont typeface="Arial" panose="020B0604020202020204" pitchFamily="34" charset="0"/>
                        <a:buNone/>
                      </a:pPr>
                      <a:r>
                        <a:rPr lang="en-MY" sz="1500" b="0" i="0" dirty="0">
                          <a:effectLst/>
                          <a:latin typeface="Arial" panose="020B0604020202020204" pitchFamily="34" charset="0"/>
                          <a:cs typeface="Arial" panose="020B0604020202020204" pitchFamily="34" charset="0"/>
                        </a:rPr>
                        <a:t>This allows for maturity tracking</a:t>
                      </a:r>
                    </a:p>
                    <a:p>
                      <a:pPr marL="0" lvl="0" indent="0" fontAlgn="t">
                        <a:lnSpc>
                          <a:spcPct val="150000"/>
                        </a:lnSpc>
                        <a:buFont typeface="Arial" panose="020B0604020202020204" pitchFamily="34" charset="0"/>
                        <a:buNone/>
                      </a:pPr>
                      <a:r>
                        <a:rPr lang="en-MY" sz="1500" b="0" i="0" dirty="0">
                          <a:effectLst/>
                          <a:latin typeface="Arial" panose="020B0604020202020204" pitchFamily="34" charset="0"/>
                          <a:cs typeface="Arial" panose="020B0604020202020204" pitchFamily="34" charset="0"/>
                        </a:rPr>
                        <a:t>Store:</a:t>
                      </a:r>
                    </a:p>
                    <a:p>
                      <a:pPr fontAlgn="t">
                        <a:lnSpc>
                          <a:spcPct val="150000"/>
                        </a:lnSpc>
                        <a:buNone/>
                      </a:pPr>
                      <a:endParaRPr lang="en-MY" sz="1500" b="0" i="0" dirty="0">
                        <a:effectLst/>
                        <a:latin typeface="Arial" panose="020B0604020202020204" pitchFamily="34" charset="0"/>
                        <a:cs typeface="Arial" panose="020B0604020202020204" pitchFamily="34" charset="0"/>
                      </a:endParaRPr>
                    </a:p>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graphicFrame>
        <p:nvGraphicFramePr>
          <p:cNvPr id="2" name="Table 1">
            <a:extLst>
              <a:ext uri="{FF2B5EF4-FFF2-40B4-BE49-F238E27FC236}">
                <a16:creationId xmlns:a16="http://schemas.microsoft.com/office/drawing/2014/main" id="{D387896A-CF4F-AB7E-1923-CDA3BA1C02AC}"/>
              </a:ext>
            </a:extLst>
          </p:cNvPr>
          <p:cNvGraphicFramePr>
            <a:graphicFrameLocks noGrp="1"/>
          </p:cNvGraphicFramePr>
          <p:nvPr>
            <p:extLst>
              <p:ext uri="{D42A27DB-BD31-4B8C-83A1-F6EECF244321}">
                <p14:modId xmlns:p14="http://schemas.microsoft.com/office/powerpoint/2010/main" val="3013586066"/>
              </p:ext>
            </p:extLst>
          </p:nvPr>
        </p:nvGraphicFramePr>
        <p:xfrm>
          <a:off x="6190529" y="5051212"/>
          <a:ext cx="5515611" cy="960120"/>
        </p:xfrm>
        <a:graphic>
          <a:graphicData uri="http://schemas.openxmlformats.org/drawingml/2006/table">
            <a:tbl>
              <a:tblPr firstRow="1" bandRow="1">
                <a:tableStyleId>{5940675A-B579-460E-94D1-54222C63F5DA}</a:tableStyleId>
              </a:tblPr>
              <a:tblGrid>
                <a:gridCol w="1838537">
                  <a:extLst>
                    <a:ext uri="{9D8B030D-6E8A-4147-A177-3AD203B41FA5}">
                      <a16:colId xmlns:a16="http://schemas.microsoft.com/office/drawing/2014/main" val="2248367735"/>
                    </a:ext>
                  </a:extLst>
                </a:gridCol>
                <a:gridCol w="1838537">
                  <a:extLst>
                    <a:ext uri="{9D8B030D-6E8A-4147-A177-3AD203B41FA5}">
                      <a16:colId xmlns:a16="http://schemas.microsoft.com/office/drawing/2014/main" val="3685407430"/>
                    </a:ext>
                  </a:extLst>
                </a:gridCol>
                <a:gridCol w="1838537">
                  <a:extLst>
                    <a:ext uri="{9D8B030D-6E8A-4147-A177-3AD203B41FA5}">
                      <a16:colId xmlns:a16="http://schemas.microsoft.com/office/drawing/2014/main" val="252752327"/>
                    </a:ext>
                  </a:extLst>
                </a:gridCol>
              </a:tblGrid>
              <a:tr h="252000">
                <a:tc>
                  <a:txBody>
                    <a:bodyPr/>
                    <a:lstStyle/>
                    <a:p>
                      <a:pPr algn="ctr"/>
                      <a:r>
                        <a:rPr lang="en-US" sz="1500" b="1" dirty="0">
                          <a:solidFill>
                            <a:schemeClr val="bg1"/>
                          </a:solidFill>
                          <a:latin typeface="Arial" panose="020B0604020202020204" pitchFamily="34" charset="0"/>
                          <a:cs typeface="Arial" panose="020B0604020202020204" pitchFamily="34" charset="0"/>
                        </a:rPr>
                        <a:t>SME</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tc>
                  <a:txBody>
                    <a:bodyPr/>
                    <a:lstStyle/>
                    <a:p>
                      <a:pPr algn="ctr"/>
                      <a:r>
                        <a:rPr lang="en-US" sz="1500" b="1" dirty="0">
                          <a:solidFill>
                            <a:schemeClr val="bg1"/>
                          </a:solidFill>
                          <a:latin typeface="Arial" panose="020B0604020202020204" pitchFamily="34" charset="0"/>
                          <a:cs typeface="Arial" panose="020B0604020202020204" pitchFamily="34" charset="0"/>
                        </a:rPr>
                        <a:t>Assessment Date</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tc>
                  <a:txBody>
                    <a:bodyPr/>
                    <a:lstStyle/>
                    <a:p>
                      <a:pPr algn="ctr"/>
                      <a:r>
                        <a:rPr lang="en-US" sz="1500" b="1" dirty="0">
                          <a:solidFill>
                            <a:schemeClr val="bg1"/>
                          </a:solidFill>
                          <a:latin typeface="Arial" panose="020B0604020202020204" pitchFamily="34" charset="0"/>
                          <a:cs typeface="Arial" panose="020B0604020202020204" pitchFamily="34" charset="0"/>
                        </a:rPr>
                        <a:t>Score</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extLst>
                  <a:ext uri="{0D108BD9-81ED-4DB2-BD59-A6C34878D82A}">
                    <a16:rowId xmlns:a16="http://schemas.microsoft.com/office/drawing/2014/main" val="1017002006"/>
                  </a:ext>
                </a:extLst>
              </a:tr>
              <a:tr h="252000">
                <a:tc>
                  <a:txBody>
                    <a:bodyPr/>
                    <a:lstStyle/>
                    <a:p>
                      <a:r>
                        <a:rPr lang="en-US" sz="1500" dirty="0">
                          <a:latin typeface="Arial" panose="020B0604020202020204" pitchFamily="34" charset="0"/>
                          <a:cs typeface="Arial" panose="020B0604020202020204" pitchFamily="34" charset="0"/>
                        </a:rPr>
                        <a:t>ABC </a:t>
                      </a:r>
                      <a:r>
                        <a:rPr lang="en-US" sz="1500" dirty="0" err="1">
                          <a:latin typeface="Arial" panose="020B0604020202020204" pitchFamily="34" charset="0"/>
                          <a:cs typeface="Arial" panose="020B0604020202020204" pitchFamily="34" charset="0"/>
                        </a:rPr>
                        <a:t>Sdn</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Bhd</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Jan 2025</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62</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53375732"/>
                  </a:ext>
                </a:extLst>
              </a:tr>
              <a:tr h="252000">
                <a:tc>
                  <a:txBody>
                    <a:bodyPr/>
                    <a:lstStyle/>
                    <a:p>
                      <a:r>
                        <a:rPr lang="en-US" sz="1500" dirty="0">
                          <a:latin typeface="Arial" panose="020B0604020202020204" pitchFamily="34" charset="0"/>
                          <a:cs typeface="Arial" panose="020B0604020202020204" pitchFamily="34" charset="0"/>
                        </a:rPr>
                        <a:t>ABC </a:t>
                      </a:r>
                      <a:r>
                        <a:rPr lang="en-US" sz="1500" dirty="0" err="1">
                          <a:latin typeface="Arial" panose="020B0604020202020204" pitchFamily="34" charset="0"/>
                          <a:cs typeface="Arial" panose="020B0604020202020204" pitchFamily="34" charset="0"/>
                        </a:rPr>
                        <a:t>Sdn</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Bhd</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Jan 2026</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75</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13856125"/>
                  </a:ext>
                </a:extLst>
              </a:tr>
            </a:tbl>
          </a:graphicData>
        </a:graphic>
      </p:graphicFrame>
    </p:spTree>
    <p:extLst>
      <p:ext uri="{BB962C8B-B14F-4D97-AF65-F5344CB8AC3E}">
        <p14:creationId xmlns:p14="http://schemas.microsoft.com/office/powerpoint/2010/main" val="398993633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6C2E-6DDA-9A12-D51D-75080F6159D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62410A6-DB8D-A780-FB2C-11A25E2BE926}"/>
              </a:ext>
            </a:extLst>
          </p:cNvPr>
          <p:cNvSpPr txBox="1">
            <a:spLocks/>
          </p:cNvSpPr>
          <p:nvPr/>
        </p:nvSpPr>
        <p:spPr>
          <a:xfrm>
            <a:off x="62402" y="152737"/>
            <a:ext cx="1017887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6: Digitalization Readiness</a:t>
            </a:r>
            <a:endParaRPr lang="en-MY" sz="2025" b="1" dirty="0"/>
          </a:p>
        </p:txBody>
      </p:sp>
      <p:graphicFrame>
        <p:nvGraphicFramePr>
          <p:cNvPr id="3" name="Table 2">
            <a:extLst>
              <a:ext uri="{FF2B5EF4-FFF2-40B4-BE49-F238E27FC236}">
                <a16:creationId xmlns:a16="http://schemas.microsoft.com/office/drawing/2014/main" id="{07898805-3152-7078-C922-18EAA357A076}"/>
              </a:ext>
            </a:extLst>
          </p:cNvPr>
          <p:cNvGraphicFramePr>
            <a:graphicFrameLocks noGrp="1"/>
          </p:cNvGraphicFramePr>
          <p:nvPr>
            <p:extLst>
              <p:ext uri="{D42A27DB-BD31-4B8C-83A1-F6EECF244321}">
                <p14:modId xmlns:p14="http://schemas.microsoft.com/office/powerpoint/2010/main" val="2512548415"/>
              </p:ext>
            </p:extLst>
          </p:nvPr>
        </p:nvGraphicFramePr>
        <p:xfrm>
          <a:off x="337271" y="730672"/>
          <a:ext cx="11517458" cy="4604551"/>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600" b="1" dirty="0"/>
                        <a:t>Layer 6: Digitalization Readiness</a:t>
                      </a:r>
                    </a:p>
                    <a:p>
                      <a:pPr fontAlgn="t">
                        <a:lnSpc>
                          <a:spcPct val="150000"/>
                        </a:lnSpc>
                        <a:buNone/>
                      </a:pPr>
                      <a:r>
                        <a:rPr lang="en-MY" sz="1500" b="0" i="0" dirty="0">
                          <a:effectLst/>
                          <a:latin typeface="Arial" panose="020B0604020202020204" pitchFamily="34" charset="0"/>
                          <a:cs typeface="Arial" panose="020B0604020202020204" pitchFamily="34" charset="0"/>
                        </a:rPr>
                        <a:t>Information for future endeavours</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Technology Adoption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ERP usage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Accounting software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CRM usage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E-commerce platform</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Cloud adoption</a:t>
                      </a:r>
                    </a:p>
                    <a:p>
                      <a:pPr fontAlgn="t">
                        <a:lnSpc>
                          <a:spcPct val="150000"/>
                        </a:lnSpc>
                        <a:buNone/>
                      </a:pPr>
                      <a:r>
                        <a:rPr lang="en-MY" sz="1500" b="1" i="0" dirty="0">
                          <a:effectLst/>
                          <a:latin typeface="Arial" panose="020B0604020202020204" pitchFamily="34" charset="0"/>
                          <a:cs typeface="Arial" panose="020B0604020202020204" pitchFamily="34" charset="0"/>
                        </a:rPr>
                        <a:t>Digital Transactions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Online sales %</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Digital payments %</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Social media activity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AI Readiness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Data collection practices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Automation usage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AI tools adoption</a:t>
                      </a:r>
                    </a:p>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28959867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91274-F0E2-33E2-ECA9-229DA27EB0C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911CE7-981C-3EDA-30CB-CE1CA197FEE1}"/>
              </a:ext>
            </a:extLst>
          </p:cNvPr>
          <p:cNvSpPr txBox="1">
            <a:spLocks/>
          </p:cNvSpPr>
          <p:nvPr/>
        </p:nvSpPr>
        <p:spPr>
          <a:xfrm>
            <a:off x="62402" y="152737"/>
            <a:ext cx="1017887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7: ESG &amp; Sustainability</a:t>
            </a:r>
            <a:endParaRPr lang="en-MY" sz="2025" b="1" dirty="0"/>
          </a:p>
        </p:txBody>
      </p:sp>
      <p:graphicFrame>
        <p:nvGraphicFramePr>
          <p:cNvPr id="3" name="Table 2">
            <a:extLst>
              <a:ext uri="{FF2B5EF4-FFF2-40B4-BE49-F238E27FC236}">
                <a16:creationId xmlns:a16="http://schemas.microsoft.com/office/drawing/2014/main" id="{0FD93E2F-DDCE-A615-72B6-F635EB38BCA4}"/>
              </a:ext>
            </a:extLst>
          </p:cNvPr>
          <p:cNvGraphicFramePr>
            <a:graphicFrameLocks noGrp="1"/>
          </p:cNvGraphicFramePr>
          <p:nvPr>
            <p:extLst>
              <p:ext uri="{D42A27DB-BD31-4B8C-83A1-F6EECF244321}">
                <p14:modId xmlns:p14="http://schemas.microsoft.com/office/powerpoint/2010/main" val="2954735648"/>
              </p:ext>
            </p:extLst>
          </p:nvPr>
        </p:nvGraphicFramePr>
        <p:xfrm>
          <a:off x="337271" y="730672"/>
          <a:ext cx="11517458" cy="4914900"/>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600" b="1" dirty="0"/>
                        <a:t>Layer 7: ESG &amp; Sustainability</a:t>
                      </a:r>
                    </a:p>
                    <a:p>
                      <a:pPr fontAlgn="t">
                        <a:lnSpc>
                          <a:spcPct val="150000"/>
                        </a:lnSpc>
                        <a:buNone/>
                      </a:pPr>
                      <a:r>
                        <a:rPr lang="en-MY" sz="1500" b="0" i="0" dirty="0">
                          <a:effectLst/>
                          <a:latin typeface="Arial" panose="020B0604020202020204" pitchFamily="34" charset="0"/>
                          <a:cs typeface="Arial" panose="020B0604020202020204" pitchFamily="34" charset="0"/>
                        </a:rPr>
                        <a:t>Metrics for future assessment.</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Environmental</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Energy consumption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Renewable energy adoption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Carbon reporting</a:t>
                      </a:r>
                    </a:p>
                    <a:p>
                      <a:pPr fontAlgn="t">
                        <a:lnSpc>
                          <a:spcPct val="150000"/>
                        </a:lnSpc>
                        <a:buNone/>
                      </a:pPr>
                      <a:r>
                        <a:rPr lang="en-MY" sz="1500" b="1" i="0" dirty="0">
                          <a:effectLst/>
                          <a:latin typeface="Arial" panose="020B0604020202020204" pitchFamily="34" charset="0"/>
                          <a:cs typeface="Arial" panose="020B0604020202020204" pitchFamily="34" charset="0"/>
                        </a:rPr>
                        <a:t>Social</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Gender diversity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Employee welfare programmes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Training hours</a:t>
                      </a:r>
                    </a:p>
                    <a:p>
                      <a:pPr fontAlgn="t">
                        <a:lnSpc>
                          <a:spcPct val="150000"/>
                        </a:lnSpc>
                        <a:buNone/>
                      </a:pPr>
                      <a:r>
                        <a:rPr lang="en-MY" sz="1500" b="1" i="0" dirty="0">
                          <a:effectLst/>
                          <a:latin typeface="Arial" panose="020B0604020202020204" pitchFamily="34" charset="0"/>
                          <a:cs typeface="Arial" panose="020B0604020202020204" pitchFamily="34" charset="0"/>
                        </a:rPr>
                        <a:t>Governance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Board structure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Internal controls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Risk management framework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155625958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612C-9EA3-187B-7DCB-56ED40D40D5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76A90A8-B6C4-3129-DF0C-2E5845B1FF17}"/>
              </a:ext>
            </a:extLst>
          </p:cNvPr>
          <p:cNvSpPr txBox="1">
            <a:spLocks/>
          </p:cNvSpPr>
          <p:nvPr/>
        </p:nvSpPr>
        <p:spPr>
          <a:xfrm>
            <a:off x="62402" y="152737"/>
            <a:ext cx="1044176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8: Economic &amp; Ecosystem Data</a:t>
            </a:r>
            <a:endParaRPr lang="en-MY" sz="2025" b="1" dirty="0"/>
          </a:p>
        </p:txBody>
      </p:sp>
      <p:graphicFrame>
        <p:nvGraphicFramePr>
          <p:cNvPr id="3" name="Table 2">
            <a:extLst>
              <a:ext uri="{FF2B5EF4-FFF2-40B4-BE49-F238E27FC236}">
                <a16:creationId xmlns:a16="http://schemas.microsoft.com/office/drawing/2014/main" id="{699837CB-E72E-0679-C22D-823403B011D9}"/>
              </a:ext>
            </a:extLst>
          </p:cNvPr>
          <p:cNvGraphicFramePr>
            <a:graphicFrameLocks noGrp="1"/>
          </p:cNvGraphicFramePr>
          <p:nvPr>
            <p:extLst>
              <p:ext uri="{D42A27DB-BD31-4B8C-83A1-F6EECF244321}">
                <p14:modId xmlns:p14="http://schemas.microsoft.com/office/powerpoint/2010/main" val="1618246166"/>
              </p:ext>
            </p:extLst>
          </p:nvPr>
        </p:nvGraphicFramePr>
        <p:xfrm>
          <a:off x="337271" y="730672"/>
          <a:ext cx="11517458" cy="5257800"/>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600" b="1" dirty="0"/>
                        <a:t>Layer 8: Economic &amp; Ecosystem Data</a:t>
                      </a:r>
                    </a:p>
                    <a:p>
                      <a:pPr fontAlgn="t">
                        <a:lnSpc>
                          <a:spcPct val="150000"/>
                        </a:lnSpc>
                        <a:buNone/>
                      </a:pPr>
                      <a:r>
                        <a:rPr lang="en-MY" sz="1500" b="0" i="0" dirty="0">
                          <a:effectLst/>
                          <a:latin typeface="Arial" panose="020B0604020202020204" pitchFamily="34" charset="0"/>
                          <a:cs typeface="Arial" panose="020B0604020202020204" pitchFamily="34" charset="0"/>
                        </a:rPr>
                        <a:t>Integrate external data source.</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Macroeconomic Variables</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GDP growth</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OPR</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Inflation</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Exchange rates</a:t>
                      </a:r>
                    </a:p>
                    <a:p>
                      <a:pPr fontAlgn="t">
                        <a:lnSpc>
                          <a:spcPct val="150000"/>
                        </a:lnSpc>
                        <a:buNone/>
                      </a:pPr>
                      <a:r>
                        <a:rPr lang="en-MY" sz="1500" b="1" i="0" dirty="0">
                          <a:effectLst/>
                          <a:latin typeface="Arial" panose="020B0604020202020204" pitchFamily="34" charset="0"/>
                          <a:cs typeface="Arial" panose="020B0604020202020204" pitchFamily="34" charset="0"/>
                        </a:rPr>
                        <a:t>Geographic Data</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Industrial area</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Logistics accessibility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Talent availability</a:t>
                      </a:r>
                    </a:p>
                    <a:p>
                      <a:pPr fontAlgn="t">
                        <a:lnSpc>
                          <a:spcPct val="150000"/>
                        </a:lnSpc>
                        <a:buNone/>
                      </a:pPr>
                      <a:r>
                        <a:rPr lang="en-MY" sz="1500" b="1" i="0" dirty="0">
                          <a:effectLst/>
                          <a:latin typeface="Arial" panose="020B0604020202020204" pitchFamily="34" charset="0"/>
                          <a:cs typeface="Arial" panose="020B0604020202020204" pitchFamily="34" charset="0"/>
                        </a:rPr>
                        <a:t>Industry Data</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Industry growth rate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Industry risk rating</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Export trends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222812900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E47E7-4102-757D-C731-EF4769F812C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4CB6E67-249F-EEFD-C74C-F2210851E949}"/>
              </a:ext>
            </a:extLst>
          </p:cNvPr>
          <p:cNvSpPr txBox="1">
            <a:spLocks/>
          </p:cNvSpPr>
          <p:nvPr/>
        </p:nvSpPr>
        <p:spPr>
          <a:xfrm>
            <a:off x="62402" y="152737"/>
            <a:ext cx="1044176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9: SME Lifecycle Stage</a:t>
            </a:r>
            <a:endParaRPr lang="en-MY" sz="2025" b="1" dirty="0"/>
          </a:p>
        </p:txBody>
      </p:sp>
      <p:graphicFrame>
        <p:nvGraphicFramePr>
          <p:cNvPr id="3" name="Table 2">
            <a:extLst>
              <a:ext uri="{FF2B5EF4-FFF2-40B4-BE49-F238E27FC236}">
                <a16:creationId xmlns:a16="http://schemas.microsoft.com/office/drawing/2014/main" id="{B8E1AC28-4E83-5C87-C6C3-0178FD33EB39}"/>
              </a:ext>
            </a:extLst>
          </p:cNvPr>
          <p:cNvGraphicFramePr>
            <a:graphicFrameLocks noGrp="1"/>
          </p:cNvGraphicFramePr>
          <p:nvPr>
            <p:extLst>
              <p:ext uri="{D42A27DB-BD31-4B8C-83A1-F6EECF244321}">
                <p14:modId xmlns:p14="http://schemas.microsoft.com/office/powerpoint/2010/main" val="2243667778"/>
              </p:ext>
            </p:extLst>
          </p:nvPr>
        </p:nvGraphicFramePr>
        <p:xfrm>
          <a:off x="337271" y="730672"/>
          <a:ext cx="11517458" cy="4604551"/>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600" b="1" dirty="0"/>
                        <a:t>Layer 9: SME Lifecycle</a:t>
                      </a:r>
                    </a:p>
                    <a:p>
                      <a:pPr fontAlgn="t">
                        <a:lnSpc>
                          <a:spcPct val="150000"/>
                        </a:lnSpc>
                        <a:buNone/>
                      </a:pPr>
                      <a:r>
                        <a:rPr lang="en-MY" sz="1500" b="0" i="0" dirty="0">
                          <a:effectLst/>
                          <a:latin typeface="Arial" panose="020B0604020202020204" pitchFamily="34" charset="0"/>
                          <a:cs typeface="Arial" panose="020B0604020202020204" pitchFamily="34" charset="0"/>
                        </a:rPr>
                        <a:t>Variables to be monitored.</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895891">
                <a:tc>
                  <a:txBody>
                    <a:bodyPr/>
                    <a:lstStyle/>
                    <a:p>
                      <a:pPr fontAlgn="t">
                        <a:lnSpc>
                          <a:spcPct val="150000"/>
                        </a:lnSpc>
                        <a:buNone/>
                      </a:pPr>
                      <a:endParaRPr lang="en-MY" sz="1500" b="0" i="0" dirty="0">
                        <a:effectLst/>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graphicFrame>
        <p:nvGraphicFramePr>
          <p:cNvPr id="5" name="Table 4">
            <a:extLst>
              <a:ext uri="{FF2B5EF4-FFF2-40B4-BE49-F238E27FC236}">
                <a16:creationId xmlns:a16="http://schemas.microsoft.com/office/drawing/2014/main" id="{7E9E3988-5CE3-7053-03A3-21E76BFFBE34}"/>
              </a:ext>
            </a:extLst>
          </p:cNvPr>
          <p:cNvGraphicFramePr>
            <a:graphicFrameLocks noGrp="1"/>
          </p:cNvGraphicFramePr>
          <p:nvPr>
            <p:extLst>
              <p:ext uri="{D42A27DB-BD31-4B8C-83A1-F6EECF244321}">
                <p14:modId xmlns:p14="http://schemas.microsoft.com/office/powerpoint/2010/main" val="561405123"/>
              </p:ext>
            </p:extLst>
          </p:nvPr>
        </p:nvGraphicFramePr>
        <p:xfrm>
          <a:off x="337271" y="1667932"/>
          <a:ext cx="3677074" cy="1920240"/>
        </p:xfrm>
        <a:graphic>
          <a:graphicData uri="http://schemas.openxmlformats.org/drawingml/2006/table">
            <a:tbl>
              <a:tblPr firstRow="1" bandRow="1">
                <a:tableStyleId>{5940675A-B579-460E-94D1-54222C63F5DA}</a:tableStyleId>
              </a:tblPr>
              <a:tblGrid>
                <a:gridCol w="1838537">
                  <a:extLst>
                    <a:ext uri="{9D8B030D-6E8A-4147-A177-3AD203B41FA5}">
                      <a16:colId xmlns:a16="http://schemas.microsoft.com/office/drawing/2014/main" val="2248367735"/>
                    </a:ext>
                  </a:extLst>
                </a:gridCol>
                <a:gridCol w="1838537">
                  <a:extLst>
                    <a:ext uri="{9D8B030D-6E8A-4147-A177-3AD203B41FA5}">
                      <a16:colId xmlns:a16="http://schemas.microsoft.com/office/drawing/2014/main" val="3685407430"/>
                    </a:ext>
                  </a:extLst>
                </a:gridCol>
              </a:tblGrid>
              <a:tr h="252000">
                <a:tc>
                  <a:txBody>
                    <a:bodyPr/>
                    <a:lstStyle/>
                    <a:p>
                      <a:pPr algn="ctr"/>
                      <a:r>
                        <a:rPr lang="en-US" sz="1500" b="1" dirty="0">
                          <a:solidFill>
                            <a:schemeClr val="bg1"/>
                          </a:solidFill>
                          <a:latin typeface="Arial" panose="020B0604020202020204" pitchFamily="34" charset="0"/>
                          <a:cs typeface="Arial" panose="020B0604020202020204" pitchFamily="34" charset="0"/>
                        </a:rPr>
                        <a:t>Stage</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tc>
                  <a:txBody>
                    <a:bodyPr/>
                    <a:lstStyle/>
                    <a:p>
                      <a:pPr algn="ctr"/>
                      <a:r>
                        <a:rPr lang="en-US" sz="1500" b="1" dirty="0">
                          <a:solidFill>
                            <a:schemeClr val="bg1"/>
                          </a:solidFill>
                          <a:latin typeface="Arial" panose="020B0604020202020204" pitchFamily="34" charset="0"/>
                          <a:cs typeface="Arial" panose="020B0604020202020204" pitchFamily="34" charset="0"/>
                        </a:rPr>
                        <a:t>Description</a:t>
                      </a:r>
                      <a:endParaRPr lang="en-MY" sz="1500" b="1" dirty="0">
                        <a:solidFill>
                          <a:schemeClr val="bg1"/>
                        </a:solidFill>
                        <a:latin typeface="Arial" panose="020B0604020202020204" pitchFamily="34" charset="0"/>
                        <a:cs typeface="Arial" panose="020B0604020202020204" pitchFamily="34" charset="0"/>
                      </a:endParaRPr>
                    </a:p>
                  </a:txBody>
                  <a:tcPr anchor="ctr">
                    <a:solidFill>
                      <a:srgbClr val="002060"/>
                    </a:solidFill>
                  </a:tcPr>
                </a:tc>
                <a:extLst>
                  <a:ext uri="{0D108BD9-81ED-4DB2-BD59-A6C34878D82A}">
                    <a16:rowId xmlns:a16="http://schemas.microsoft.com/office/drawing/2014/main" val="1017002006"/>
                  </a:ext>
                </a:extLst>
              </a:tr>
              <a:tr h="252000">
                <a:tc>
                  <a:txBody>
                    <a:bodyPr/>
                    <a:lstStyle/>
                    <a:p>
                      <a:r>
                        <a:rPr lang="en-US" sz="1500" dirty="0">
                          <a:latin typeface="Arial" panose="020B0604020202020204" pitchFamily="34" charset="0"/>
                          <a:cs typeface="Arial" panose="020B0604020202020204" pitchFamily="34" charset="0"/>
                        </a:rPr>
                        <a:t>Startup</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&lt;3 years</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53375732"/>
                  </a:ext>
                </a:extLst>
              </a:tr>
              <a:tr h="252000">
                <a:tc>
                  <a:txBody>
                    <a:bodyPr/>
                    <a:lstStyle/>
                    <a:p>
                      <a:r>
                        <a:rPr lang="en-US" sz="1500" dirty="0">
                          <a:latin typeface="Arial" panose="020B0604020202020204" pitchFamily="34" charset="0"/>
                          <a:cs typeface="Arial" panose="020B0604020202020204" pitchFamily="34" charset="0"/>
                        </a:rPr>
                        <a:t>Early Growth</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Growing revenue</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113856125"/>
                  </a:ext>
                </a:extLst>
              </a:tr>
              <a:tr h="252000">
                <a:tc>
                  <a:txBody>
                    <a:bodyPr/>
                    <a:lstStyle/>
                    <a:p>
                      <a:r>
                        <a:rPr lang="en-US" sz="1500" dirty="0">
                          <a:latin typeface="Arial" panose="020B0604020202020204" pitchFamily="34" charset="0"/>
                          <a:cs typeface="Arial" panose="020B0604020202020204" pitchFamily="34" charset="0"/>
                        </a:rPr>
                        <a:t>Expansion</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Scaling operations</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531586581"/>
                  </a:ext>
                </a:extLst>
              </a:tr>
              <a:tr h="252000">
                <a:tc>
                  <a:txBody>
                    <a:bodyPr/>
                    <a:lstStyle/>
                    <a:p>
                      <a:r>
                        <a:rPr lang="en-US" sz="1500" dirty="0">
                          <a:latin typeface="Arial" panose="020B0604020202020204" pitchFamily="34" charset="0"/>
                          <a:cs typeface="Arial" panose="020B0604020202020204" pitchFamily="34" charset="0"/>
                        </a:rPr>
                        <a:t>Mature</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Stable growth</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28853949"/>
                  </a:ext>
                </a:extLst>
              </a:tr>
              <a:tr h="252000">
                <a:tc>
                  <a:txBody>
                    <a:bodyPr/>
                    <a:lstStyle/>
                    <a:p>
                      <a:r>
                        <a:rPr lang="en-US" sz="1500" dirty="0">
                          <a:latin typeface="Arial" panose="020B0604020202020204" pitchFamily="34" charset="0"/>
                          <a:cs typeface="Arial" panose="020B0604020202020204" pitchFamily="34" charset="0"/>
                        </a:rPr>
                        <a:t>Turnaround</a:t>
                      </a:r>
                      <a:endParaRPr lang="en-MY" sz="1500" dirty="0">
                        <a:latin typeface="Arial" panose="020B0604020202020204" pitchFamily="34" charset="0"/>
                        <a:cs typeface="Arial" panose="020B0604020202020204" pitchFamily="34" charset="0"/>
                      </a:endParaRPr>
                    </a:p>
                  </a:txBody>
                  <a:tcPr anchor="ctr"/>
                </a:tc>
                <a:tc>
                  <a:txBody>
                    <a:bodyPr/>
                    <a:lstStyle/>
                    <a:p>
                      <a:pPr algn="ctr"/>
                      <a:r>
                        <a:rPr lang="en-US" sz="1500" dirty="0">
                          <a:latin typeface="Arial" panose="020B0604020202020204" pitchFamily="34" charset="0"/>
                          <a:cs typeface="Arial" panose="020B0604020202020204" pitchFamily="34" charset="0"/>
                        </a:rPr>
                        <a:t>Financial stress</a:t>
                      </a:r>
                      <a:endParaRPr lang="en-MY"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778049653"/>
                  </a:ext>
                </a:extLst>
              </a:tr>
            </a:tbl>
          </a:graphicData>
        </a:graphic>
      </p:graphicFrame>
    </p:spTree>
    <p:extLst>
      <p:ext uri="{BB962C8B-B14F-4D97-AF65-F5344CB8AC3E}">
        <p14:creationId xmlns:p14="http://schemas.microsoft.com/office/powerpoint/2010/main" val="61462626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2466-D06A-F69B-8A83-DD590AF740F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2F96AB-0042-C8BF-0EF4-180EA0888FA1}"/>
              </a:ext>
            </a:extLst>
          </p:cNvPr>
          <p:cNvSpPr txBox="1">
            <a:spLocks/>
          </p:cNvSpPr>
          <p:nvPr/>
        </p:nvSpPr>
        <p:spPr>
          <a:xfrm>
            <a:off x="62402" y="152737"/>
            <a:ext cx="1044176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Layer 10: Derived Analytics Variable</a:t>
            </a:r>
            <a:endParaRPr lang="en-MY" sz="2025" b="1" dirty="0"/>
          </a:p>
        </p:txBody>
      </p:sp>
      <p:graphicFrame>
        <p:nvGraphicFramePr>
          <p:cNvPr id="3" name="Table 2">
            <a:extLst>
              <a:ext uri="{FF2B5EF4-FFF2-40B4-BE49-F238E27FC236}">
                <a16:creationId xmlns:a16="http://schemas.microsoft.com/office/drawing/2014/main" id="{A024BCE2-4CD3-5AA3-2F0D-48AF4A452516}"/>
              </a:ext>
            </a:extLst>
          </p:cNvPr>
          <p:cNvGraphicFramePr>
            <a:graphicFrameLocks noGrp="1"/>
          </p:cNvGraphicFramePr>
          <p:nvPr>
            <p:extLst>
              <p:ext uri="{D42A27DB-BD31-4B8C-83A1-F6EECF244321}">
                <p14:modId xmlns:p14="http://schemas.microsoft.com/office/powerpoint/2010/main" val="4189736125"/>
              </p:ext>
            </p:extLst>
          </p:nvPr>
        </p:nvGraphicFramePr>
        <p:xfrm>
          <a:off x="337271" y="730672"/>
          <a:ext cx="11517458" cy="4572000"/>
        </p:xfrm>
        <a:graphic>
          <a:graphicData uri="http://schemas.openxmlformats.org/drawingml/2006/table">
            <a:tbl>
              <a:tblPr firstRow="1" bandRow="1">
                <a:tableStyleId>{5940675A-B579-460E-94D1-54222C63F5DA}</a:tableStyleId>
              </a:tblPr>
              <a:tblGrid>
                <a:gridCol w="5758729">
                  <a:extLst>
                    <a:ext uri="{9D8B030D-6E8A-4147-A177-3AD203B41FA5}">
                      <a16:colId xmlns:a16="http://schemas.microsoft.com/office/drawing/2014/main" val="1359647876"/>
                    </a:ext>
                  </a:extLst>
                </a:gridCol>
                <a:gridCol w="5758729">
                  <a:extLst>
                    <a:ext uri="{9D8B030D-6E8A-4147-A177-3AD203B41FA5}">
                      <a16:colId xmlns:a16="http://schemas.microsoft.com/office/drawing/2014/main" val="1177088218"/>
                    </a:ext>
                  </a:extLst>
                </a:gridCol>
              </a:tblGrid>
              <a:tr h="676957">
                <a:tc>
                  <a:txBody>
                    <a:bodyPr/>
                    <a:lstStyle/>
                    <a:p>
                      <a:pPr fontAlgn="t">
                        <a:lnSpc>
                          <a:spcPct val="150000"/>
                        </a:lnSpc>
                        <a:buNone/>
                      </a:pPr>
                      <a:r>
                        <a:rPr lang="en-US" sz="1600" b="1" dirty="0"/>
                        <a:t>Layer 10: Derived Analytics Variable</a:t>
                      </a:r>
                    </a:p>
                    <a:p>
                      <a:pPr fontAlgn="t">
                        <a:lnSpc>
                          <a:spcPct val="150000"/>
                        </a:lnSpc>
                        <a:buNone/>
                      </a:pPr>
                      <a:r>
                        <a:rPr lang="en-MY" sz="1500" b="0" i="0" dirty="0">
                          <a:effectLst/>
                          <a:latin typeface="Arial" panose="020B0604020202020204" pitchFamily="34" charset="0"/>
                          <a:cs typeface="Arial" panose="020B0604020202020204" pitchFamily="34" charset="0"/>
                        </a:rPr>
                        <a:t>To create data products, not just data storage</a:t>
                      </a: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fontAlgn="t">
                        <a:lnSpc>
                          <a:spcPct val="150000"/>
                        </a:lnSpc>
                        <a:buFont typeface="Arial" panose="020B0604020202020204" pitchFamily="34" charset="0"/>
                        <a:buChar char="•"/>
                      </a:pPr>
                      <a:endParaRPr lang="en-MY" sz="1500" b="0" i="0" dirty="0">
                        <a:effectLst/>
                        <a:latin typeface="Arial" panose="020B0604020202020204" pitchFamily="34" charset="0"/>
                        <a:cs typeface="Arial" panose="020B0604020202020204" pitchFamily="34" charset="0"/>
                      </a:endParaRPr>
                    </a:p>
                  </a:txBody>
                  <a:tcPr marL="108000" marR="108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033446"/>
                  </a:ext>
                </a:extLst>
              </a:tr>
              <a:tr h="3759579">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SME Health Index</a:t>
                      </a:r>
                    </a:p>
                    <a:p>
                      <a:pPr fontAlgn="t">
                        <a:lnSpc>
                          <a:spcPct val="150000"/>
                        </a:lnSpc>
                        <a:buNone/>
                      </a:pPr>
                      <a:r>
                        <a:rPr lang="en-MY" sz="1500" b="0" i="0" dirty="0">
                          <a:effectLst/>
                          <a:latin typeface="Arial" panose="020B0604020202020204" pitchFamily="34" charset="0"/>
                          <a:cs typeface="Arial" panose="020B0604020202020204" pitchFamily="34" charset="0"/>
                        </a:rPr>
                        <a:t>Combination of:</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Financing performance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ELSA score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Financial strength</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EPC participation</a:t>
                      </a:r>
                    </a:p>
                    <a:p>
                      <a:pPr fontAlgn="t">
                        <a:lnSpc>
                          <a:spcPct val="150000"/>
                        </a:lnSpc>
                        <a:buNone/>
                      </a:pPr>
                      <a:r>
                        <a:rPr lang="en-MY" sz="1500" b="1" i="0" dirty="0">
                          <a:effectLst/>
                          <a:latin typeface="Arial" panose="020B0604020202020204" pitchFamily="34" charset="0"/>
                          <a:cs typeface="Arial" panose="020B0604020202020204" pitchFamily="34" charset="0"/>
                        </a:rPr>
                        <a:t>Growth Potential Score</a:t>
                      </a:r>
                    </a:p>
                    <a:p>
                      <a:pPr fontAlgn="t">
                        <a:lnSpc>
                          <a:spcPct val="150000"/>
                        </a:lnSpc>
                        <a:buNone/>
                      </a:pPr>
                      <a:r>
                        <a:rPr lang="en-MY" sz="1500" b="0" i="0" dirty="0">
                          <a:effectLst/>
                          <a:latin typeface="Arial" panose="020B0604020202020204" pitchFamily="34" charset="0"/>
                          <a:cs typeface="Arial" panose="020B0604020202020204" pitchFamily="34" charset="0"/>
                        </a:rPr>
                        <a:t>Predict:</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Revenue growth</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Employment growth</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Export potential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lnSpc>
                          <a:spcPct val="150000"/>
                        </a:lnSpc>
                        <a:buNone/>
                      </a:pPr>
                      <a:r>
                        <a:rPr lang="en-MY" sz="1500" b="1" i="0" dirty="0">
                          <a:effectLst/>
                          <a:latin typeface="Arial" panose="020B0604020202020204" pitchFamily="34" charset="0"/>
                          <a:cs typeface="Arial" panose="020B0604020202020204" pitchFamily="34" charset="0"/>
                        </a:rPr>
                        <a:t>Distress Early Warning Score</a:t>
                      </a:r>
                    </a:p>
                    <a:p>
                      <a:pPr fontAlgn="t">
                        <a:lnSpc>
                          <a:spcPct val="150000"/>
                        </a:lnSpc>
                        <a:buNone/>
                      </a:pPr>
                      <a:r>
                        <a:rPr lang="en-MY" sz="1500" b="0" i="0" dirty="0">
                          <a:effectLst/>
                          <a:latin typeface="Arial" panose="020B0604020202020204" pitchFamily="34" charset="0"/>
                          <a:cs typeface="Arial" panose="020B0604020202020204" pitchFamily="34" charset="0"/>
                        </a:rPr>
                        <a:t>Predict:</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Delinquency</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Business closure</a:t>
                      </a:r>
                    </a:p>
                    <a:p>
                      <a:pPr marL="342900" lvl="0" indent="-342900" fontAlgn="t">
                        <a:lnSpc>
                          <a:spcPct val="150000"/>
                        </a:lnSpc>
                        <a:buFont typeface="Arial" panose="020B0604020202020204" pitchFamily="34" charset="0"/>
                        <a:buChar char="•"/>
                      </a:pPr>
                      <a:r>
                        <a:rPr lang="en-MY" sz="1500" b="0" i="0" dirty="0">
                          <a:effectLst/>
                          <a:latin typeface="Arial" panose="020B0604020202020204" pitchFamily="34" charset="0"/>
                          <a:cs typeface="Arial" panose="020B0604020202020204" pitchFamily="34" charset="0"/>
                        </a:rPr>
                        <a:t>Financing restructuring</a:t>
                      </a:r>
                    </a:p>
                    <a:p>
                      <a:pPr fontAlgn="t">
                        <a:lnSpc>
                          <a:spcPct val="150000"/>
                        </a:lnSpc>
                        <a:buNone/>
                      </a:pPr>
                      <a:r>
                        <a:rPr lang="en-MY" sz="1500" b="1" i="0" dirty="0">
                          <a:effectLst/>
                          <a:latin typeface="Arial" panose="020B0604020202020204" pitchFamily="34" charset="0"/>
                          <a:cs typeface="Arial" panose="020B0604020202020204" pitchFamily="34" charset="0"/>
                        </a:rPr>
                        <a:t>Development Impact Score</a:t>
                      </a:r>
                    </a:p>
                    <a:p>
                      <a:pPr fontAlgn="t">
                        <a:lnSpc>
                          <a:spcPct val="150000"/>
                        </a:lnSpc>
                        <a:buNone/>
                      </a:pPr>
                      <a:r>
                        <a:rPr lang="en-MY" sz="1500" b="0" i="0" dirty="0">
                          <a:effectLst/>
                          <a:latin typeface="Arial" panose="020B0604020202020204" pitchFamily="34" charset="0"/>
                          <a:cs typeface="Arial" panose="020B0604020202020204" pitchFamily="34" charset="0"/>
                        </a:rPr>
                        <a:t>Measure SDS programme effectiveness.</a:t>
                      </a:r>
                    </a:p>
                    <a:p>
                      <a:endParaRPr lang="en-MY" sz="15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149366206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2B683-FA63-D09C-8E96-B89A04B416B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1D1FA9-D0AD-33E4-4517-983A34A1845C}"/>
              </a:ext>
            </a:extLst>
          </p:cNvPr>
          <p:cNvSpPr txBox="1">
            <a:spLocks/>
          </p:cNvSpPr>
          <p:nvPr/>
        </p:nvSpPr>
        <p:spPr>
          <a:xfrm>
            <a:off x="62402" y="152737"/>
            <a:ext cx="10441768" cy="612649"/>
          </a:xfrm>
          <a:prstGeom prst="rect">
            <a:avLst/>
          </a:prstGeom>
        </p:spPr>
        <p:txBody>
          <a:bodyPr anchor="ctr"/>
          <a:lst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a:lstStyle>
          <a:p>
            <a:r>
              <a:rPr lang="en-US" sz="2025" b="1" dirty="0"/>
              <a:t>Recommended SME Database Framework – Overall Outcome</a:t>
            </a:r>
            <a:endParaRPr lang="en-MY" sz="2025" b="1" dirty="0"/>
          </a:p>
        </p:txBody>
      </p:sp>
      <p:graphicFrame>
        <p:nvGraphicFramePr>
          <p:cNvPr id="3" name="Table 2">
            <a:extLst>
              <a:ext uri="{FF2B5EF4-FFF2-40B4-BE49-F238E27FC236}">
                <a16:creationId xmlns:a16="http://schemas.microsoft.com/office/drawing/2014/main" id="{BCE809D3-B05A-51CB-F069-9E82736E0555}"/>
              </a:ext>
            </a:extLst>
          </p:cNvPr>
          <p:cNvGraphicFramePr>
            <a:graphicFrameLocks noGrp="1"/>
          </p:cNvGraphicFramePr>
          <p:nvPr>
            <p:extLst>
              <p:ext uri="{D42A27DB-BD31-4B8C-83A1-F6EECF244321}">
                <p14:modId xmlns:p14="http://schemas.microsoft.com/office/powerpoint/2010/main" val="2511532098"/>
              </p:ext>
            </p:extLst>
          </p:nvPr>
        </p:nvGraphicFramePr>
        <p:xfrm>
          <a:off x="337271" y="765386"/>
          <a:ext cx="11517458" cy="3623267"/>
        </p:xfrm>
        <a:graphic>
          <a:graphicData uri="http://schemas.openxmlformats.org/drawingml/2006/table">
            <a:tbl>
              <a:tblPr firstRow="1" bandRow="1">
                <a:tableStyleId>{5940675A-B579-460E-94D1-54222C63F5DA}</a:tableStyleId>
              </a:tblPr>
              <a:tblGrid>
                <a:gridCol w="11517458">
                  <a:extLst>
                    <a:ext uri="{9D8B030D-6E8A-4147-A177-3AD203B41FA5}">
                      <a16:colId xmlns:a16="http://schemas.microsoft.com/office/drawing/2014/main" val="1359647876"/>
                    </a:ext>
                  </a:extLst>
                </a:gridCol>
              </a:tblGrid>
              <a:tr h="3623267">
                <a:tc>
                  <a:txBody>
                    <a:bodyPr/>
                    <a:lstStyle/>
                    <a:p>
                      <a:pPr fontAlgn="t">
                        <a:lnSpc>
                          <a:spcPct val="150000"/>
                        </a:lnSpc>
                        <a:buNone/>
                      </a:pPr>
                      <a:r>
                        <a:rPr lang="en-MY" sz="1500" b="0" i="0" dirty="0">
                          <a:effectLst/>
                          <a:latin typeface="Arial" panose="020B0604020202020204" pitchFamily="34" charset="0"/>
                          <a:cs typeface="Arial" panose="020B0604020202020204" pitchFamily="34" charset="0"/>
                        </a:rPr>
                        <a:t>For every SME, DDAI would aim to maintain these 5 core scores:</a:t>
                      </a:r>
                    </a:p>
                    <a:p>
                      <a:pPr marL="342900" lvl="0" indent="-342900" fontAlgn="t">
                        <a:lnSpc>
                          <a:spcPct val="150000"/>
                        </a:lnSpc>
                        <a:buFont typeface="+mj-lt"/>
                        <a:buAutoNum type="arabicPeriod"/>
                      </a:pPr>
                      <a:r>
                        <a:rPr lang="en-MY" sz="1500" b="1" i="0" dirty="0">
                          <a:effectLst/>
                          <a:latin typeface="Arial" panose="020B0604020202020204" pitchFamily="34" charset="0"/>
                          <a:cs typeface="Arial" panose="020B0604020202020204" pitchFamily="34" charset="0"/>
                        </a:rPr>
                        <a:t>Financial Strength Score</a:t>
                      </a:r>
                      <a:endParaRPr lang="en-MY" sz="1500" b="0" i="0" dirty="0">
                        <a:effectLst/>
                        <a:latin typeface="Arial" panose="020B0604020202020204" pitchFamily="34" charset="0"/>
                        <a:cs typeface="Arial" panose="020B0604020202020204" pitchFamily="34" charset="0"/>
                      </a:endParaRPr>
                    </a:p>
                    <a:p>
                      <a:pPr marL="342900" lvl="0" indent="-342900" fontAlgn="t">
                        <a:lnSpc>
                          <a:spcPct val="150000"/>
                        </a:lnSpc>
                        <a:buFont typeface="+mj-lt"/>
                        <a:buAutoNum type="arabicPeriod"/>
                      </a:pPr>
                      <a:r>
                        <a:rPr lang="en-MY" sz="1500" b="1" i="0" dirty="0">
                          <a:effectLst/>
                          <a:latin typeface="Arial" panose="020B0604020202020204" pitchFamily="34" charset="0"/>
                          <a:cs typeface="Arial" panose="020B0604020202020204" pitchFamily="34" charset="0"/>
                        </a:rPr>
                        <a:t>Business Capability Score</a:t>
                      </a:r>
                      <a:endParaRPr lang="en-MY" sz="1500" b="0" i="0" dirty="0">
                        <a:effectLst/>
                        <a:latin typeface="Arial" panose="020B0604020202020204" pitchFamily="34" charset="0"/>
                        <a:cs typeface="Arial" panose="020B0604020202020204" pitchFamily="34" charset="0"/>
                      </a:endParaRPr>
                    </a:p>
                    <a:p>
                      <a:pPr marL="342900" lvl="0" indent="-342900" fontAlgn="t">
                        <a:lnSpc>
                          <a:spcPct val="150000"/>
                        </a:lnSpc>
                        <a:buFont typeface="+mj-lt"/>
                        <a:buAutoNum type="arabicPeriod"/>
                      </a:pPr>
                      <a:r>
                        <a:rPr lang="en-MY" sz="1500" b="1" i="0" dirty="0">
                          <a:effectLst/>
                          <a:latin typeface="Arial" panose="020B0604020202020204" pitchFamily="34" charset="0"/>
                          <a:cs typeface="Arial" panose="020B0604020202020204" pitchFamily="34" charset="0"/>
                        </a:rPr>
                        <a:t>Digital Maturity Score</a:t>
                      </a:r>
                      <a:endParaRPr lang="en-MY" sz="1500" b="0" i="0" dirty="0">
                        <a:effectLst/>
                        <a:latin typeface="Arial" panose="020B0604020202020204" pitchFamily="34" charset="0"/>
                        <a:cs typeface="Arial" panose="020B0604020202020204" pitchFamily="34" charset="0"/>
                      </a:endParaRPr>
                    </a:p>
                    <a:p>
                      <a:pPr marL="342900" lvl="0" indent="-342900" fontAlgn="t">
                        <a:lnSpc>
                          <a:spcPct val="150000"/>
                        </a:lnSpc>
                        <a:buFont typeface="+mj-lt"/>
                        <a:buAutoNum type="arabicPeriod"/>
                      </a:pPr>
                      <a:r>
                        <a:rPr lang="en-MY" sz="1500" b="1" i="0" dirty="0">
                          <a:effectLst/>
                          <a:latin typeface="Arial" panose="020B0604020202020204" pitchFamily="34" charset="0"/>
                          <a:cs typeface="Arial" panose="020B0604020202020204" pitchFamily="34" charset="0"/>
                        </a:rPr>
                        <a:t>ESG Readiness Score</a:t>
                      </a:r>
                      <a:endParaRPr lang="en-MY" sz="1500" b="0" i="0" dirty="0">
                        <a:effectLst/>
                        <a:latin typeface="Arial" panose="020B0604020202020204" pitchFamily="34" charset="0"/>
                        <a:cs typeface="Arial" panose="020B0604020202020204" pitchFamily="34" charset="0"/>
                      </a:endParaRPr>
                    </a:p>
                    <a:p>
                      <a:pPr marL="342900" lvl="0" indent="-342900" fontAlgn="t">
                        <a:lnSpc>
                          <a:spcPct val="150000"/>
                        </a:lnSpc>
                        <a:buFont typeface="+mj-lt"/>
                        <a:buAutoNum type="arabicPeriod"/>
                      </a:pPr>
                      <a:r>
                        <a:rPr lang="en-MY" sz="1500" b="1" i="0" dirty="0">
                          <a:effectLst/>
                          <a:latin typeface="Arial" panose="020B0604020202020204" pitchFamily="34" charset="0"/>
                          <a:cs typeface="Arial" panose="020B0604020202020204" pitchFamily="34" charset="0"/>
                        </a:rPr>
                        <a:t>SME Growth Potential Score</a:t>
                      </a:r>
                      <a:endParaRPr lang="en-MY" sz="1500" b="0" i="0" dirty="0">
                        <a:effectLst/>
                        <a:latin typeface="Arial" panose="020B0604020202020204" pitchFamily="34" charset="0"/>
                        <a:cs typeface="Arial" panose="020B0604020202020204" pitchFamily="34" charset="0"/>
                      </a:endParaRPr>
                    </a:p>
                    <a:p>
                      <a:pPr algn="just" fontAlgn="t">
                        <a:lnSpc>
                          <a:spcPct val="150000"/>
                        </a:lnSpc>
                        <a:buNone/>
                      </a:pPr>
                      <a:r>
                        <a:rPr lang="en-MY" sz="1500" b="0" i="0" dirty="0">
                          <a:effectLst/>
                          <a:latin typeface="Arial" panose="020B0604020202020204" pitchFamily="34" charset="0"/>
                          <a:cs typeface="Arial" panose="020B0604020202020204" pitchFamily="34" charset="0"/>
                        </a:rPr>
                        <a:t>These can then roll up into a single </a:t>
                      </a:r>
                      <a:r>
                        <a:rPr lang="en-MY" sz="1500" b="1" i="0" dirty="0">
                          <a:effectLst/>
                          <a:latin typeface="Arial" panose="020B0604020202020204" pitchFamily="34" charset="0"/>
                          <a:cs typeface="Arial" panose="020B0604020202020204" pitchFamily="34" charset="0"/>
                        </a:rPr>
                        <a:t>SME Development Index (SDI)</a:t>
                      </a:r>
                      <a:r>
                        <a:rPr lang="en-MY" sz="1500" b="0" i="0" dirty="0">
                          <a:effectLst/>
                          <a:latin typeface="Arial" panose="020B0604020202020204" pitchFamily="34" charset="0"/>
                          <a:cs typeface="Arial" panose="020B0604020202020204" pitchFamily="34" charset="0"/>
                        </a:rPr>
                        <a:t> unique to SME Bank. Over time, this could become a strategic national asset, allowing SDS to quantify which interventions, financing products, and entrepreneurial capabilities produce the highest SME growth and repayment outcomes. This is where analytics moves from reporting to predictive and prescriptive decision-making.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8192927"/>
                  </a:ext>
                </a:extLst>
              </a:tr>
            </a:tbl>
          </a:graphicData>
        </a:graphic>
      </p:graphicFrame>
    </p:spTree>
    <p:extLst>
      <p:ext uri="{BB962C8B-B14F-4D97-AF65-F5344CB8AC3E}">
        <p14:creationId xmlns:p14="http://schemas.microsoft.com/office/powerpoint/2010/main" val="3586006499"/>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1594</TotalTime>
  <Words>1303</Words>
  <Application>Microsoft Office PowerPoint</Application>
  <PresentationFormat>Widescreen</PresentationFormat>
  <Paragraphs>366</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Naim Muhd Firdaus</dc:creator>
  <cp:lastModifiedBy>Zunawanis Mustafa</cp:lastModifiedBy>
  <cp:revision>12</cp:revision>
  <dcterms:created xsi:type="dcterms:W3CDTF">2026-07-28T09:34:48Z</dcterms:created>
  <dcterms:modified xsi:type="dcterms:W3CDTF">2026-09-23T03:56:57Z</dcterms:modified>
</cp:coreProperties>
</file>